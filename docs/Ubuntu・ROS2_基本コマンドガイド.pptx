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CCCC"/>
    <a:srgbClr val="CB1C1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C1D247-16EB-E18B-C91A-8A8A84F6D4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6C8EF692-2EE0-D6DB-389A-4FAA9D4862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1D6C587-6DD3-05DA-A204-53DD8E8E7E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49"/>
            <a:ext cx="2743200" cy="365125"/>
          </a:xfrm>
        </p:spPr>
        <p:txBody>
          <a:bodyPr/>
          <a:lstStyle/>
          <a:p>
            <a:fld id="{CADD9765-A962-4B23-896F-5056B17951A2}" type="datetimeFigureOut">
              <a:rPr kumimoji="1" lang="ja-JP" altLang="en-US" smtClean="0"/>
              <a:t>2024/3/20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7B002EB-904F-4CEA-CADF-F5E0DBBF52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9ECFC0B-B0DD-4523-1EC9-F025D88B6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F4E-7394-43D6-B3DC-54EB52394C8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233713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5579AEF-4E7C-ED37-5EA9-1DC7E3D21A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56F3ABD-CDE6-6E00-BF9B-047B6ADF83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1A7254F-760E-45C2-78EE-E70E77248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D9765-A962-4B23-896F-5056B17951A2}" type="datetimeFigureOut">
              <a:rPr kumimoji="1" lang="ja-JP" altLang="en-US" smtClean="0"/>
              <a:t>2024/3/20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6AF2616-0E36-4F53-CD06-93FE088093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B18C036-B90B-0F85-89BA-54CE64AD3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F4E-7394-43D6-B3DC-54EB52394C8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42232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F4AA507-2FB7-546F-814C-4A1C74208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315DA0E-F142-2BBE-190D-5255C2C00C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3FF7DFE-2476-1E59-69D7-D1F19205C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D9765-A962-4B23-896F-5056B17951A2}" type="datetimeFigureOut">
              <a:rPr kumimoji="1" lang="ja-JP" altLang="en-US" smtClean="0"/>
              <a:t>2024/3/20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8BC7B36-421F-73C6-5463-76E9A6AE0B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AA2A7CA-E3EA-4404-081A-07B89424A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F4E-7394-43D6-B3DC-54EB52394C8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991837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C697F30-45AF-25E6-5A3E-A95AF98C5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09211B7-F7CF-5A06-F8F9-55E3DB08C4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456EB9B-828C-218C-A915-6A838FAAB1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245FEE2-C1CB-8EA0-9002-B1432AC24F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D9765-A962-4B23-896F-5056B17951A2}" type="datetimeFigureOut">
              <a:rPr kumimoji="1" lang="ja-JP" altLang="en-US" smtClean="0"/>
              <a:t>2024/3/20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6FEAD8C-6EE1-F9BF-F92B-098BD3D070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3AD94AE-954A-F497-265E-4C308A2A0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F4E-7394-43D6-B3DC-54EB52394C8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196892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767EE21-8A4D-D745-1D42-74EDFF8009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2CC70AB-A5A4-49B2-3BC9-787B8169D2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D97D4A6-122F-9D1B-69FA-F706C97FEA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01DE0982-B4F7-ECFA-591F-89FBF89F2E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51921522-38F1-F7FC-C0A3-F651903F6A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2A203241-B954-1126-5A3E-09DD27155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D9765-A962-4B23-896F-5056B17951A2}" type="datetimeFigureOut">
              <a:rPr kumimoji="1" lang="ja-JP" altLang="en-US" smtClean="0"/>
              <a:t>2024/3/20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186CD0B2-EAFE-2BF4-C497-5B6F2B5771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5DA945BC-759C-C4C1-4978-CBC8862E6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F4E-7394-43D6-B3DC-54EB52394C8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763432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2E4BB3F-9DED-D314-7704-823494893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4D956715-9D1B-B43F-6FBC-907C3E2153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D9765-A962-4B23-896F-5056B17951A2}" type="datetimeFigureOut">
              <a:rPr kumimoji="1" lang="ja-JP" altLang="en-US" smtClean="0"/>
              <a:t>2024/3/20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60FD98C2-7913-13BB-5ADF-0A00AB8ED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7AB633EA-620C-6DDB-54AC-5F1C605A3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F4E-7394-43D6-B3DC-54EB52394C8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649119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3C766E37-50FF-E806-6613-642EA7444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D9765-A962-4B23-896F-5056B17951A2}" type="datetimeFigureOut">
              <a:rPr kumimoji="1" lang="ja-JP" altLang="en-US" smtClean="0"/>
              <a:t>2024/3/20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98C42828-EA14-7DEC-6FA0-ACE7895DCD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6101C4B-73D8-99C1-DA02-F319131D2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F4E-7394-43D6-B3DC-54EB52394C8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014352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352B953-8868-5B19-2C35-E170A9A3B8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63B70D0-DD11-06D8-4E15-3A804C0EA7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F812A24-C52D-93A7-9016-A886424D9B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150BFA1-13D9-0A9E-3782-76ADE44FF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D9765-A962-4B23-896F-5056B17951A2}" type="datetimeFigureOut">
              <a:rPr kumimoji="1" lang="ja-JP" altLang="en-US" smtClean="0"/>
              <a:t>2024/3/20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D0D9597-7E26-83EC-AF24-DE5863E5B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74F15F0-074E-4473-6585-90FC09057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F4E-7394-43D6-B3DC-54EB52394C8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133491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373A893-FB27-B4F3-2D9E-E3B1BDBF8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F4EC2060-304A-FAC1-1875-E7246B58CD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kumimoji="1" lang="ja-JP" altLang="en-US"/>
              <a:t>アイコンをクリックして図を追加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DE32873-C8F0-0F20-9ED9-168FC1864F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A5B8F9E-0905-4D85-CE31-E6CB934FD2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D9765-A962-4B23-896F-5056B17951A2}" type="datetimeFigureOut">
              <a:rPr kumimoji="1" lang="ja-JP" altLang="en-US" smtClean="0"/>
              <a:t>2024/3/20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86A1FDE-71DE-89E8-B95B-94D894A3B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07CFA1B-DB81-8991-B1D7-6E4355B09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F4E-7394-43D6-B3DC-54EB52394C8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117081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0148A88-8E9A-49C0-3075-4B7A4DE1A1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AABDF43-9207-EAE8-45CF-032DCADF90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B040A2E-6D30-9407-937D-1DB8B873DC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D9765-A962-4B23-896F-5056B17951A2}" type="datetimeFigureOut">
              <a:rPr kumimoji="1" lang="ja-JP" altLang="en-US" smtClean="0"/>
              <a:t>2024/3/20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C139FB1-4A28-280A-EF0B-9DEC926D6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C960C17-2AEA-C4A0-E757-303AAA20C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F4E-7394-43D6-B3DC-54EB52394C8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123622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C024A0FD-2210-A691-13DA-677F881B06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04C7A7B-C4E0-DD68-3327-74DA3771AA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17944CB-241F-41DA-FB61-E7FDB65E7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D9765-A962-4B23-896F-5056B17951A2}" type="datetimeFigureOut">
              <a:rPr kumimoji="1" lang="ja-JP" altLang="en-US" smtClean="0"/>
              <a:t>2024/3/20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3A52921-D26E-F9F9-F0FC-9FD443FFE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688D856-F717-F6DC-E313-BC536B8ED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F4E-7394-43D6-B3DC-54EB52394C8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610775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17BB161A-6234-7C02-059C-D3AE676F6A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0C9F829-8192-70DC-85DA-8E1C49AEF3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BD9A6A1-72EC-FA32-C0A2-77E8F0AE27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DD9765-A962-4B23-896F-5056B17951A2}" type="datetimeFigureOut">
              <a:rPr kumimoji="1" lang="ja-JP" altLang="en-US" smtClean="0"/>
              <a:t>2024/3/20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47519F0-6940-8B04-61AE-FB7C31E711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B4CD484-8D28-77F7-F415-29C4934FF9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C8AF4E-7394-43D6-B3DC-54EB52394C8F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pic>
        <p:nvPicPr>
          <p:cNvPr id="8" name="図 7" descr="黒い背景に白い文字がある&#10;&#10;中程度の精度で自動的に生成された説明">
            <a:extLst>
              <a:ext uri="{FF2B5EF4-FFF2-40B4-BE49-F238E27FC236}">
                <a16:creationId xmlns:a16="http://schemas.microsoft.com/office/drawing/2014/main" id="{FF906BC4-088A-CAD4-0688-FDCCD3E37DB4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2783" y="136525"/>
            <a:ext cx="2659338" cy="744399"/>
          </a:xfrm>
          <a:prstGeom prst="rect">
            <a:avLst/>
          </a:prstGeom>
        </p:spPr>
      </p:pic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5FDC60E9-6C06-B33B-180C-F0204CBC0AA1}"/>
              </a:ext>
            </a:extLst>
          </p:cNvPr>
          <p:cNvSpPr/>
          <p:nvPr userDrawn="1"/>
        </p:nvSpPr>
        <p:spPr>
          <a:xfrm rot="16745820">
            <a:off x="5751924" y="5728795"/>
            <a:ext cx="12496267" cy="143648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F74BAA90-B259-5D7B-725A-60C1DC270EBE}"/>
              </a:ext>
            </a:extLst>
          </p:cNvPr>
          <p:cNvSpPr/>
          <p:nvPr userDrawn="1"/>
        </p:nvSpPr>
        <p:spPr>
          <a:xfrm rot="21324172">
            <a:off x="535422" y="6538809"/>
            <a:ext cx="12496267" cy="1053548"/>
          </a:xfrm>
          <a:prstGeom prst="rect">
            <a:avLst/>
          </a:prstGeom>
          <a:solidFill>
            <a:srgbClr val="CB1C14">
              <a:alpha val="8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平行四辺形 12">
            <a:extLst>
              <a:ext uri="{FF2B5EF4-FFF2-40B4-BE49-F238E27FC236}">
                <a16:creationId xmlns:a16="http://schemas.microsoft.com/office/drawing/2014/main" id="{B456FFD5-F931-135A-2222-1028B9A03666}"/>
              </a:ext>
            </a:extLst>
          </p:cNvPr>
          <p:cNvSpPr/>
          <p:nvPr userDrawn="1"/>
        </p:nvSpPr>
        <p:spPr>
          <a:xfrm rot="21289408">
            <a:off x="11089814" y="6116811"/>
            <a:ext cx="1757764" cy="1078055"/>
          </a:xfrm>
          <a:prstGeom prst="parallelogram">
            <a:avLst>
              <a:gd name="adj" fmla="val 2594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492634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1554480"/>
            <a:ext cx="9326880" cy="1737360"/>
          </a:xfrm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44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Ubuntu・ROS 2 基本コマンドガイド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2960" y="3429000"/>
            <a:ext cx="9326880" cy="1463040"/>
          </a:xfrm>
        </p:spPr>
        <p:txBody>
          <a:bodyPr wrap="square"/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ターミナル操作から ROS 2 のコマンドまで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立命館大学 ロボット技術研究会 RRST NHKプロジェクト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3310128"/>
            <a:ext cx="1097280" cy="64008"/>
          </a:xfrm>
          <a:prstGeom prst="rect">
            <a:avLst/>
          </a:prstGeom>
          <a:solidFill>
            <a:srgbClr val="CB1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0515600" cy="822960"/>
          </a:xfrm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本日の内容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400800"/>
            <a:ext cx="3657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8C8C8C"/>
                </a:solidFill>
                <a:latin typeface="MS PGothic"/>
                <a:ea typeface="MS PGothic"/>
                <a:cs typeface="MS PGothic"/>
              </a:rPr>
              <a:t>Ubuntu・ROS 2 コマンドガイド   2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554480"/>
            <a:ext cx="566928" cy="566928"/>
          </a:xfrm>
          <a:prstGeom prst="ellipse">
            <a:avLst/>
          </a:prstGeom>
          <a:solidFill>
            <a:srgbClr val="CB1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81328"/>
            <a:ext cx="51206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UbuntuとROS 2ってなに？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892807"/>
            <a:ext cx="51206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これから使うソフトと、よく出てくる言葉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2578608"/>
            <a:ext cx="566928" cy="566928"/>
          </a:xfrm>
          <a:prstGeom prst="ellipse">
            <a:avLst/>
          </a:prstGeom>
          <a:solidFill>
            <a:srgbClr val="CB1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505456"/>
            <a:ext cx="51206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ターミナルの基本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916936"/>
            <a:ext cx="51206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画面の見方・フォルダの移動・ファイルの操作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3602736"/>
            <a:ext cx="566928" cy="566928"/>
          </a:xfrm>
          <a:prstGeom prst="ellipse">
            <a:avLst/>
          </a:prstGeom>
          <a:solidFill>
            <a:srgbClr val="CB1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529584"/>
            <a:ext cx="51206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ソフトを入れる・使えるようにする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941064"/>
            <a:ext cx="51206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apt・マイコンをつなぐ準備・source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4626864"/>
            <a:ext cx="566928" cy="566928"/>
          </a:xfrm>
          <a:prstGeom prst="ellipse">
            <a:avLst/>
          </a:prstGeom>
          <a:solidFill>
            <a:srgbClr val="CB1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553712"/>
            <a:ext cx="51206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ROS 2を動かしてみる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4965192"/>
            <a:ext cx="51206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ビルド・亀を動かす・エラーの直し方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75120" y="1554480"/>
            <a:ext cx="4023360" cy="393192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9440" y="1737360"/>
            <a:ext cx="356616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CB1C14"/>
                </a:solidFill>
                <a:latin typeface="MS PGothic"/>
                <a:ea typeface="MS PGothic"/>
                <a:cs typeface="MS PGothic"/>
              </a:rPr>
              <a:t>講習後にできること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2331720"/>
            <a:ext cx="3566160" cy="3017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 marL="201168" indent="-201168">
              <a:spcAft>
                <a:spcPts val="1200"/>
              </a:spcAft>
              <a:buClr>
                <a:srgbClr val="CB1C14"/>
              </a:buClr>
              <a:buFont typeface="Arial"/>
              <a:buChar char="•"/>
            </a:pPr>
            <a:r>
              <a:rPr sz="1500" b="0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ターミナルを開いて、目的のフォルダに移動できる</a:t>
            </a:r>
          </a:p>
          <a:p>
            <a:pPr algn="l" marL="201168" indent="-201168">
              <a:spcAft>
                <a:spcPts val="1200"/>
              </a:spcAft>
              <a:buClr>
                <a:srgbClr val="CB1C14"/>
              </a:buClr>
              <a:buFont typeface="Arial"/>
              <a:buChar char="•"/>
            </a:pPr>
            <a:r>
              <a:rPr sz="1500" b="0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ROS 2 の言葉（ノード・トピックなど）の意味がわかる</a:t>
            </a:r>
          </a:p>
          <a:p>
            <a:pPr algn="l" marL="201168" indent="-201168">
              <a:spcAft>
                <a:spcPts val="1200"/>
              </a:spcAft>
              <a:buClr>
                <a:srgbClr val="CB1C14"/>
              </a:buClr>
              <a:buFont typeface="Arial"/>
              <a:buChar char="•"/>
            </a:pPr>
            <a:r>
              <a:rPr sz="1500" b="0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ROS 2 のサンプル（亀）を自分で動かせる</a:t>
            </a:r>
          </a:p>
          <a:p>
            <a:pPr algn="l" marL="201168" indent="-201168">
              <a:spcAft>
                <a:spcPts val="1200"/>
              </a:spcAft>
              <a:buClr>
                <a:srgbClr val="CB1C14"/>
              </a:buClr>
              <a:buFont typeface="Arial"/>
              <a:buChar char="•"/>
            </a:pPr>
            <a:r>
              <a:rPr sz="1500" b="0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よくあるエラーを見て、何をすればいいかわかる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377440"/>
            <a:ext cx="9144000" cy="1188720"/>
          </a:xfrm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40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UbuntuとROS 2ってなに？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3566160"/>
            <a:ext cx="9144000" cy="914400"/>
          </a:xfrm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これから使うソフトと、よく出てくる言葉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274320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200" b="1" i="0">
                <a:solidFill>
                  <a:srgbClr val="CB1C14"/>
                </a:solidFill>
                <a:latin typeface="MS PGothic"/>
                <a:ea typeface="MS PGothic"/>
                <a:cs typeface="MS PGothic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00800"/>
            <a:ext cx="3657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8C8C8C"/>
                </a:solidFill>
                <a:latin typeface="MS PGothic"/>
                <a:ea typeface="MS PGothic"/>
                <a:cs typeface="MS PGothic"/>
              </a:rPr>
              <a:t>Ubuntu・ROS 2 コマンドガイド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0515600" cy="822960"/>
          </a:xfrm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Ubuntu（ウブントゥ）とは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400800"/>
            <a:ext cx="3657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8C8C8C"/>
                </a:solidFill>
                <a:latin typeface="MS PGothic"/>
                <a:ea typeface="MS PGothic"/>
                <a:cs typeface="MS PGothic"/>
              </a:rPr>
              <a:t>Ubuntu・ROS 2 コマンドガイド  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14984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パソコンを動かすための基本ソフト（OS）の1つ。Windows や macOS の仲間です。ロボット開発では、このUbuntuを入れたパソコンを使います。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40280"/>
            <a:ext cx="3200400" cy="16002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2441448"/>
            <a:ext cx="384048" cy="384048"/>
          </a:xfrm>
          <a:prstGeom prst="ellipse">
            <a:avLst/>
          </a:prstGeom>
          <a:solidFill>
            <a:srgbClr val="CB1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404872"/>
            <a:ext cx="246888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無料で使える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71800"/>
            <a:ext cx="288036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誰でも無料でダウンロードして、パソコンに入れられる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977639" y="2240280"/>
            <a:ext cx="3200400" cy="16002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160520" y="2441448"/>
            <a:ext cx="384048" cy="384048"/>
          </a:xfrm>
          <a:prstGeom prst="ellipse">
            <a:avLst/>
          </a:prstGeom>
          <a:solidFill>
            <a:srgbClr val="CB1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404872"/>
            <a:ext cx="246888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ロボット開発の定番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60520" y="2971800"/>
            <a:ext cx="288036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世界中のロボット開発で使われていて、調べると情報がたくさん出てくる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023360"/>
            <a:ext cx="3200400" cy="16002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31520" y="4224528"/>
            <a:ext cx="384048" cy="384048"/>
          </a:xfrm>
          <a:prstGeom prst="ellipse">
            <a:avLst/>
          </a:prstGeom>
          <a:solidFill>
            <a:srgbClr val="CB1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4187952"/>
            <a:ext cx="246888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ROS 2 が動く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754880"/>
            <a:ext cx="288036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このあと説明する ROS 2 は、Ubuntu の上で動かすのが基本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977639" y="4023360"/>
            <a:ext cx="3200400" cy="16002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160520" y="4224528"/>
            <a:ext cx="384048" cy="384048"/>
          </a:xfrm>
          <a:prstGeom prst="ellipse">
            <a:avLst/>
          </a:prstGeom>
          <a:solidFill>
            <a:srgbClr val="CB1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4187952"/>
            <a:ext cx="246888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文字で操作する場面が多い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60520" y="4754880"/>
            <a:ext cx="288036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ターミナルという画面に、文字で命令（コマンド）を打って操作する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8079" y="2240280"/>
            <a:ext cx="3200400" cy="3383280"/>
          </a:xfrm>
          <a:prstGeom prst="roundRect">
            <a:avLst>
              <a:gd name="adj" fmla="val 6000"/>
            </a:avLst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80960" y="2423160"/>
            <a:ext cx="28346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この講習で使うバージョン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0" y="2834640"/>
            <a:ext cx="283464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5400" b="1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24.04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0" y="3703320"/>
            <a:ext cx="28346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Ubuntu 24.04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0" y="4114800"/>
            <a:ext cx="2834640" cy="1371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D9D9D9"/>
                </a:solidFill>
                <a:latin typeface="MS PGothic"/>
                <a:ea typeface="MS PGothic"/>
                <a:cs typeface="MS PGothic"/>
              </a:rPr>
              <a:t>「2024年4月」に出たバージョンという意味。長く使える安定版です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0515600" cy="822960"/>
          </a:xfrm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ROS 2（ロス ツー）とは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400800"/>
            <a:ext cx="3657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8C8C8C"/>
                </a:solidFill>
                <a:latin typeface="MS PGothic"/>
                <a:ea typeface="MS PGothic"/>
                <a:cs typeface="MS PGothic"/>
              </a:rPr>
              <a:t>Ubuntu・ROS 2 コマンドガイド  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14984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ロボットのプログラムを「係」に分けて作り、係どうしが連絡を取り合って動くようにする仕組み（ソフトの集まり）です。Ubuntu の上で動きます。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331720"/>
            <a:ext cx="2377440" cy="118872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12700">
            <a:solidFill>
              <a:srgbClr val="8C8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コントローラ係</a:t>
            </a:r>
          </a:p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ボタンの入力を読む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977639" y="2331720"/>
            <a:ext cx="2377440" cy="1188720"/>
          </a:xfrm>
          <a:prstGeom prst="roundRect">
            <a:avLst>
              <a:gd name="adj" fmla="val 6000"/>
            </a:avLst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考える係</a:t>
            </a:r>
          </a:p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どう動くか決める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06640" y="2331720"/>
            <a:ext cx="2377440" cy="1188720"/>
          </a:xfrm>
          <a:prstGeom prst="roundRect">
            <a:avLst>
              <a:gd name="adj" fmla="val 6000"/>
            </a:avLst>
          </a:prstGeom>
          <a:solidFill>
            <a:srgbClr val="CB1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モーター係</a:t>
            </a:r>
          </a:p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マイコンに指令を送る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26080" y="2926080"/>
            <a:ext cx="1051559" cy="0"/>
          </a:xfrm>
          <a:prstGeom prst="line">
            <a:avLst/>
          </a:prstGeom>
          <a:ln w="19050">
            <a:solidFill>
              <a:srgbClr val="1F1F1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743200" y="2514600"/>
            <a:ext cx="1417319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連絡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355080" y="2926080"/>
            <a:ext cx="1051560" cy="0"/>
          </a:xfrm>
          <a:prstGeom prst="line">
            <a:avLst/>
          </a:prstGeom>
          <a:ln w="19050">
            <a:solidFill>
              <a:srgbClr val="1F1F1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172200" y="2514600"/>
            <a:ext cx="1417319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連絡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29800" y="2697480"/>
            <a:ext cx="100584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→ ロボット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657600"/>
            <a:ext cx="101498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1つの係が壊れても他に影響しにくく、係ごとに分担して作れる。係の作り方は先輩の講習で学びます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251960"/>
            <a:ext cx="4846320" cy="123444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343400"/>
            <a:ext cx="4480560" cy="1371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CB1C14"/>
                </a:solidFill>
                <a:latin typeface="MS PGothic"/>
                <a:ea typeface="MS PGothic"/>
                <a:cs typeface="MS PGothic"/>
              </a:rPr>
              <a:t>名前に OS とあるけど…</a:t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Robot Operating System の略。でも Windows や Ubuntu のような OS ではなく、OS の上で使う道具です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60720" y="4251960"/>
            <a:ext cx="4983480" cy="1234440"/>
          </a:xfrm>
          <a:prstGeom prst="roundRect">
            <a:avLst>
              <a:gd name="adj" fmla="val 6000"/>
            </a:avLst>
          </a:prstGeom>
          <a:solidFill>
            <a:srgbClr val="F9E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89320" y="4343400"/>
            <a:ext cx="4572000" cy="1371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CB1C14"/>
                </a:solidFill>
                <a:latin typeface="MS PGothic"/>
                <a:ea typeface="MS PGothic"/>
                <a:cs typeface="MS PGothic"/>
              </a:rPr>
              <a:t>ROS 2 にもバージョンがある</a:t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この講習では Jazzy（ジャズィー）を使います。Jazzy は Ubuntu 24.04 とセット。ネットで調べるときは「ROS 2 Jazzy」で検索すると確実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0515600" cy="822960"/>
          </a:xfrm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ROS 2 の言葉：たとえで覚える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400800"/>
            <a:ext cx="3657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8C8C8C"/>
                </a:solidFill>
                <a:latin typeface="MS PGothic"/>
                <a:ea typeface="MS PGothic"/>
                <a:cs typeface="MS PGothic"/>
              </a:rPr>
              <a:t>Ubuntu・ROS 2 コマンドガイド  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014984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前のスライドの「係」と「連絡」に、それぞれ名前がついています。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4983480" cy="18288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65960"/>
            <a:ext cx="20116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CB1C14"/>
                </a:solidFill>
                <a:latin typeface="MS PGothic"/>
                <a:ea typeface="MS PGothic"/>
                <a:cs typeface="MS PGothic"/>
              </a:rPr>
              <a:t>ノード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88920" y="2011680"/>
            <a:ext cx="2560320" cy="41148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たとえ：係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560320"/>
            <a:ext cx="457200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1つの仕事をするプログラム。ROS 2 ではプログラムをこう呼ぶ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154680"/>
            <a:ext cx="45720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例：ros2can、コントローラを読むプログラム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15000" y="1828800"/>
            <a:ext cx="4983480" cy="18288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0" y="1965960"/>
            <a:ext cx="20116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CB1C14"/>
                </a:solidFill>
                <a:latin typeface="MS PGothic"/>
                <a:ea typeface="MS PGothic"/>
                <a:cs typeface="MS PGothic"/>
              </a:rPr>
              <a:t>トピック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79" y="2011680"/>
            <a:ext cx="2560320" cy="41148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たとえ：連絡用のチャンネル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2560320"/>
            <a:ext cx="457200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係どうしがデータを流す通り道。名前がついている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3154680"/>
            <a:ext cx="45720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例：/serial_tx_1、/cmd_vel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840480"/>
            <a:ext cx="4983480" cy="18288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977640"/>
            <a:ext cx="20116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CB1C14"/>
                </a:solidFill>
                <a:latin typeface="MS PGothic"/>
                <a:ea typeface="MS PGothic"/>
                <a:cs typeface="MS PGothic"/>
              </a:rPr>
              <a:t>メッセージ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88920" y="4023360"/>
            <a:ext cx="2560320" cy="41148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たとえ：チャンネルに流す手紙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572000"/>
            <a:ext cx="457200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トピックを流れるデータそのもの。決まった形式がある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166360"/>
            <a:ext cx="45720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例：数字の並び、速度の値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15000" y="3840480"/>
            <a:ext cx="4983480" cy="18288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0" y="3977640"/>
            <a:ext cx="20116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CB1C14"/>
                </a:solidFill>
                <a:latin typeface="MS PGothic"/>
                <a:ea typeface="MS PGothic"/>
                <a:cs typeface="MS PGothic"/>
              </a:rPr>
              <a:t>パッケージ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55279" y="4023360"/>
            <a:ext cx="2560320" cy="41148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たとえ：係をまとめた箱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4572000"/>
            <a:ext cx="457200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ノードや設定ファイルを1つにまとめたもの。配る・入れる単位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5166360"/>
            <a:ext cx="45720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例：ros2can、turtlesim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0515600" cy="822960"/>
          </a:xfrm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ROS 2 の言葉：作業で出てくるもの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400800"/>
            <a:ext cx="3657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8C8C8C"/>
                </a:solidFill>
                <a:latin typeface="MS PGothic"/>
                <a:ea typeface="MS PGothic"/>
                <a:cs typeface="MS PGothic"/>
              </a:rPr>
              <a:t>Ubuntu・ROS 2 コマンドガイド   7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10149840" cy="128016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08760"/>
            <a:ext cx="27432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CB1C14"/>
                </a:solidFill>
                <a:latin typeface="MS PGothic"/>
                <a:ea typeface="MS PGothic"/>
                <a:cs typeface="MS PGothic"/>
              </a:rPr>
              <a:t>ワークスペース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057400"/>
            <a:ext cx="27432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たとえ：自分の作業部屋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554480"/>
            <a:ext cx="6858000" cy="9601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自分のパッケージを置いておくフォルダ。この講習では </a:t>
            </a:r>
            <a:r>
              <a:rPr sz="1400" b="0" i="0" lang="en-US" altLang="en-US">
                <a:solidFill>
                  <a:srgbClr val="1F1F1F"/>
                </a:solidFill>
                <a:latin typeface="Consolas"/>
                <a:ea typeface="Consolas"/>
                <a:cs typeface="Consolas"/>
              </a:rPr>
              <a:t>~</a:t>
            </a:r>
            <a:r>
              <a:rPr sz="1400" b="0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/ros2_ws という名前にする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834640"/>
            <a:ext cx="10149840" cy="128016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27432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CB1C14"/>
                </a:solidFill>
                <a:latin typeface="MS PGothic"/>
                <a:ea typeface="MS PGothic"/>
                <a:cs typeface="MS PGothic"/>
              </a:rPr>
              <a:t>ビルド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520440"/>
            <a:ext cx="27432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たとえ：動かせる形に組み立てる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3017520"/>
            <a:ext cx="6858000" cy="9601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書いたプログラムを、パソコンが実行できる形に変換すること。colcon build というコマンドで行う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297680"/>
            <a:ext cx="10149840" cy="128016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434840"/>
            <a:ext cx="27432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CB1C14"/>
                </a:solidFill>
                <a:latin typeface="MS PGothic"/>
                <a:ea typeface="MS PGothic"/>
                <a:cs typeface="MS PGothic"/>
              </a:rPr>
              <a:t>source（ソース）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83480"/>
            <a:ext cx="27432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たとえ：「ROS 2 使うよ」の合図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4480560"/>
            <a:ext cx="6858000" cy="9601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ターミナルに ROS 2 の設定を読み込ませること。これをしないと ros2 コマンドが使えない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806440"/>
            <a:ext cx="101498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今は「そういう言葉がある」で十分。使いながら覚えていきましょう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377440"/>
            <a:ext cx="9144000" cy="1188720"/>
          </a:xfrm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40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ターミナルの基本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3566160"/>
            <a:ext cx="9144000" cy="914400"/>
          </a:xfrm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画面の見方・フォルダの移動・ファイルの操作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274320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200" b="1" i="0">
                <a:solidFill>
                  <a:srgbClr val="CB1C14"/>
                </a:solidFill>
                <a:latin typeface="MS PGothic"/>
                <a:ea typeface="MS PGothic"/>
                <a:cs typeface="MS PGothic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00800"/>
            <a:ext cx="3657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8C8C8C"/>
                </a:solidFill>
                <a:latin typeface="MS PGothic"/>
                <a:ea typeface="MS PGothic"/>
                <a:cs typeface="MS PGothic"/>
              </a:rPr>
              <a:t>Ubuntu・ROS 2 コマンドガイド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0515600" cy="822960"/>
          </a:xfrm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ターミナルで出てくる言葉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400800"/>
            <a:ext cx="3657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8C8C8C"/>
                </a:solidFill>
                <a:latin typeface="MS PGothic"/>
                <a:ea typeface="MS PGothic"/>
                <a:cs typeface="MS PGothic"/>
              </a:rPr>
              <a:t>Ubuntu・ROS 2 コマンドガイド   9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3200400" cy="201168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31520" y="1618488"/>
            <a:ext cx="384048" cy="384048"/>
          </a:xfrm>
          <a:prstGeom prst="ellipse">
            <a:avLst/>
          </a:prstGeom>
          <a:solidFill>
            <a:srgbClr val="CB1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581912"/>
            <a:ext cx="242316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ターミナル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283464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文字で命令を打ち込む画面。Ctrl + Alt + T で開く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880360"/>
            <a:ext cx="2834640" cy="38404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18288" bIns="18288" wrap="square"/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例：</a:t>
            </a:r>
            <a:r>
              <a:rPr sz="1150" b="0" i="0">
                <a:solidFill>
                  <a:srgbClr val="1F1F1F"/>
                </a:solidFill>
                <a:latin typeface="Consolas"/>
                <a:ea typeface="MS Gothic"/>
                <a:cs typeface="Consolas"/>
              </a:rPr>
              <a:t>黒い画面のアプリ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977639" y="1417320"/>
            <a:ext cx="3200400" cy="201168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160520" y="1618488"/>
            <a:ext cx="384048" cy="384048"/>
          </a:xfrm>
          <a:prstGeom prst="ellipse">
            <a:avLst/>
          </a:prstGeom>
          <a:solidFill>
            <a:srgbClr val="CB1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1581912"/>
            <a:ext cx="242316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コマンド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60520" y="2148840"/>
            <a:ext cx="283464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ターミナルに打つ命令の言葉。打って Enter で実行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60520" y="2880360"/>
            <a:ext cx="2834640" cy="38404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18288" bIns="18288" wrap="square"/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例：</a:t>
            </a:r>
            <a:r>
              <a:rPr sz="1150" b="0" i="0">
                <a:solidFill>
                  <a:srgbClr val="1F1F1F"/>
                </a:solidFill>
                <a:latin typeface="Consolas"/>
                <a:ea typeface="MS Gothic"/>
                <a:cs typeface="Consolas"/>
              </a:rPr>
              <a:t>ls、cd、mkdir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06640" y="1417320"/>
            <a:ext cx="3200400" cy="201168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589519" y="1618488"/>
            <a:ext cx="384048" cy="384048"/>
          </a:xfrm>
          <a:prstGeom prst="ellipse">
            <a:avLst/>
          </a:prstGeom>
          <a:solidFill>
            <a:srgbClr val="CB1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1581912"/>
            <a:ext cx="242316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ディレクトリ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19" y="2148840"/>
            <a:ext cx="283464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フォルダのこと。Ubuntu ではこう呼ぶことが多い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89519" y="2880360"/>
            <a:ext cx="2834640" cy="38404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18288" bIns="18288" wrap="square"/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例：</a:t>
            </a:r>
            <a:r>
              <a:rPr sz="1150" b="0" i="0">
                <a:solidFill>
                  <a:srgbClr val="1F1F1F"/>
                </a:solidFill>
                <a:latin typeface="Consolas"/>
                <a:ea typeface="MS Gothic"/>
                <a:cs typeface="Consolas"/>
              </a:rPr>
              <a:t>ダウンロード、ros2_ws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657600"/>
            <a:ext cx="3200400" cy="201168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1520" y="3858768"/>
            <a:ext cx="384048" cy="384048"/>
          </a:xfrm>
          <a:prstGeom prst="ellipse">
            <a:avLst/>
          </a:prstGeom>
          <a:solidFill>
            <a:srgbClr val="CB1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3822191"/>
            <a:ext cx="242316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パス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389120"/>
            <a:ext cx="283464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フォルダやファイルの住所。/ で区切って書く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120640"/>
            <a:ext cx="2834640" cy="38404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18288" bIns="18288" wrap="square"/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例：</a:t>
            </a:r>
            <a:r>
              <a:rPr sz="1150" b="0" i="0">
                <a:solidFill>
                  <a:srgbClr val="1F1F1F"/>
                </a:solidFill>
                <a:latin typeface="Consolas"/>
                <a:ea typeface="MS Gothic"/>
                <a:cs typeface="Consolas"/>
              </a:rPr>
              <a:t>/home/tashi/ros2_ws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977639" y="3657600"/>
            <a:ext cx="3200400" cy="201168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160520" y="3858768"/>
            <a:ext cx="384048" cy="384048"/>
          </a:xfrm>
          <a:prstGeom prst="ellipse">
            <a:avLst/>
          </a:prstGeom>
          <a:solidFill>
            <a:srgbClr val="CB1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40" y="3822191"/>
            <a:ext cx="242316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ホーム（</a:t>
            </a:r>
            <a:r>
              <a:rPr sz="1700" b="1" i="0" lang="en-US" altLang="en-US">
                <a:solidFill>
                  <a:srgbClr val="1F1F1F"/>
                </a:solidFill>
                <a:latin typeface="Consolas"/>
                <a:ea typeface="Consolas"/>
                <a:cs typeface="Consolas"/>
              </a:rPr>
              <a:t>~</a:t>
            </a:r>
            <a:r>
              <a:rPr sz="17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60520" y="4389120"/>
            <a:ext cx="283464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自分専用のフォルダ。ターミナルを開くとまずここにいる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160520" y="5120640"/>
            <a:ext cx="2834640" cy="38404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18288" bIns="18288" wrap="square"/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例：</a:t>
            </a:r>
            <a:r>
              <a:rPr sz="1150" b="0" i="0">
                <a:solidFill>
                  <a:srgbClr val="1F1F1F"/>
                </a:solidFill>
                <a:latin typeface="Consolas"/>
                <a:ea typeface="MS Gothic"/>
                <a:cs typeface="Consolas"/>
              </a:rPr>
              <a:t>~ ＝ /home/tashi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06640" y="3657600"/>
            <a:ext cx="3200400" cy="201168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589519" y="3858768"/>
            <a:ext cx="384048" cy="384048"/>
          </a:xfrm>
          <a:prstGeom prst="ellipse">
            <a:avLst/>
          </a:prstGeom>
          <a:solidFill>
            <a:srgbClr val="CB1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92440" y="3822191"/>
            <a:ext cx="242316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sudo（スードゥー）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89519" y="4389120"/>
            <a:ext cx="283464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「管理者として実行」の意味。パスワードを聞かれる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589519" y="5120640"/>
            <a:ext cx="2834640" cy="38404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18288" bIns="18288" wrap="square"/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例：</a:t>
            </a:r>
            <a:r>
              <a:rPr sz="1150" b="0" i="0">
                <a:solidFill>
                  <a:srgbClr val="1F1F1F"/>
                </a:solidFill>
                <a:latin typeface="Consolas"/>
                <a:ea typeface="MS Gothic"/>
                <a:cs typeface="Consolas"/>
              </a:rPr>
              <a:t>sudo apt install …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0515600" cy="822960"/>
          </a:xfrm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ターミナルの見方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400800"/>
            <a:ext cx="3657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8C8C8C"/>
                </a:solidFill>
                <a:latin typeface="MS PGothic"/>
                <a:ea typeface="MS PGothic"/>
                <a:cs typeface="MS PGothic"/>
              </a:rPr>
              <a:t>Ubuntu・ROS 2 コマンドガイド  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014984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左側の文字は「今の状態」を表していて、$ のあとに自分でコマンドを打ちます。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83080"/>
            <a:ext cx="5943600" cy="777240"/>
          </a:xfrm>
          <a:prstGeom prst="roundRect">
            <a:avLst>
              <a:gd name="adj" fmla="val 8000"/>
            </a:avLst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wrap="square"/>
          <a:lstStyle/>
          <a:p>
            <a:pPr algn="l">
              <a:spcAft>
                <a:spcPts val="0"/>
              </a:spcAft>
            </a:pPr>
            <a:r>
              <a:rPr sz="2200" b="0" i="0">
                <a:solidFill>
                  <a:srgbClr val="8AE234"/>
                </a:solidFill>
                <a:latin typeface="Consolas"/>
                <a:ea typeface="MS Gothic"/>
                <a:cs typeface="Consolas"/>
              </a:rPr>
              <a:t>tashi@robot-pc</a:t>
            </a:r>
            <a:r>
              <a:rPr sz="2200" b="0" i="0">
                <a:solidFill>
                  <a:srgbClr val="EDEDED"/>
                </a:solidFill>
                <a:latin typeface="Consolas"/>
                <a:ea typeface="MS Gothic"/>
                <a:cs typeface="Consolas"/>
              </a:rPr>
              <a:t>:</a:t>
            </a:r>
            <a:r>
              <a:rPr sz="2200" b="0" i="0">
                <a:solidFill>
                  <a:srgbClr val="729FCF"/>
                </a:solidFill>
                <a:latin typeface="Consolas"/>
                <a:ea typeface="MS Gothic"/>
                <a:cs typeface="Consolas"/>
              </a:rPr>
              <a:t>~/ros2_ws</a:t>
            </a:r>
            <a:r>
              <a:rPr sz="2200" b="0" i="0">
                <a:solidFill>
                  <a:srgbClr val="EDEDED"/>
                </a:solidFill>
                <a:latin typeface="Consolas"/>
                <a:ea typeface="MS Gothic"/>
                <a:cs typeface="Consolas"/>
              </a:rPr>
              <a:t>$ </a:t>
            </a:r>
            <a:r>
              <a:rPr sz="2200" b="0" i="0">
                <a:solidFill>
                  <a:srgbClr val="EDEDED"/>
                </a:solidFill>
                <a:latin typeface="Consolas"/>
                <a:ea typeface="MS Gothic"/>
                <a:cs typeface="Consolas"/>
              </a:rPr>
              <a:t>ls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852930" y="2560320"/>
            <a:ext cx="0" cy="320040"/>
          </a:xfrm>
          <a:prstGeom prst="line">
            <a:avLst/>
          </a:prstGeom>
          <a:ln w="12700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8530" y="2880360"/>
            <a:ext cx="1828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自分の名前@パソコン名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773805" y="2560320"/>
            <a:ext cx="0" cy="320040"/>
          </a:xfrm>
          <a:prstGeom prst="line">
            <a:avLst/>
          </a:prstGeom>
          <a:ln w="12700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859405" y="2880360"/>
            <a:ext cx="1828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今いるフォルダ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926330" y="2560320"/>
            <a:ext cx="0" cy="320040"/>
          </a:xfrm>
          <a:prstGeom prst="line">
            <a:avLst/>
          </a:prstGeom>
          <a:ln w="12700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011930" y="2880360"/>
            <a:ext cx="1828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CB1C14"/>
                </a:solidFill>
                <a:latin typeface="MS PGothic"/>
                <a:ea typeface="MS PGothic"/>
                <a:cs typeface="MS PGothic"/>
              </a:rPr>
              <a:t>ここに打つ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611880"/>
            <a:ext cx="5943600" cy="777240"/>
          </a:xfrm>
          <a:prstGeom prst="roundRect">
            <a:avLst>
              <a:gd name="adj" fmla="val 8000"/>
            </a:avLst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wrap="square"/>
          <a:lstStyle/>
          <a:p>
            <a:pPr algn="l">
              <a:spcAft>
                <a:spcPts val="0"/>
              </a:spcAft>
            </a:pPr>
            <a:r>
              <a:rPr sz="2200" b="0" i="0">
                <a:solidFill>
                  <a:srgbClr val="EDEDED"/>
                </a:solidFill>
                <a:latin typeface="Consolas"/>
                <a:ea typeface="MS Gothic"/>
                <a:cs typeface="Consolas"/>
              </a:rPr>
              <a:t>ls</a:t>
            </a:r>
            <a:r>
              <a:rPr sz="2200" b="0" i="0">
                <a:solidFill>
                  <a:srgbClr val="EDEDED"/>
                </a:solidFill>
                <a:latin typeface="Consolas"/>
                <a:ea typeface="MS Gothic"/>
                <a:cs typeface="Consolas"/>
              </a:rPr>
              <a:t> </a:t>
            </a:r>
            <a:r>
              <a:rPr sz="2200" b="0" i="0">
                <a:solidFill>
                  <a:srgbClr val="FCAF3E"/>
                </a:solidFill>
                <a:latin typeface="Consolas"/>
                <a:ea typeface="MS Gothic"/>
                <a:cs typeface="Consolas"/>
              </a:rPr>
              <a:t>-l</a:t>
            </a:r>
            <a:r>
              <a:rPr sz="2200" b="0" i="0">
                <a:solidFill>
                  <a:srgbClr val="EDEDED"/>
                </a:solidFill>
                <a:latin typeface="Consolas"/>
                <a:ea typeface="MS Gothic"/>
                <a:cs typeface="Consolas"/>
              </a:rPr>
              <a:t> </a:t>
            </a:r>
            <a:r>
              <a:rPr sz="2200" b="0" i="0">
                <a:solidFill>
                  <a:srgbClr val="729FCF"/>
                </a:solidFill>
                <a:latin typeface="Consolas"/>
                <a:ea typeface="MS Gothic"/>
                <a:cs typeface="Consolas"/>
              </a:rPr>
              <a:t>ros2_ws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30910" y="4389120"/>
            <a:ext cx="0" cy="320040"/>
          </a:xfrm>
          <a:prstGeom prst="line">
            <a:avLst/>
          </a:prstGeom>
          <a:ln w="12700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02919" y="4709160"/>
            <a:ext cx="14630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何をするか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391920" y="4389120"/>
            <a:ext cx="0" cy="685800"/>
          </a:xfrm>
          <a:prstGeom prst="line">
            <a:avLst/>
          </a:prstGeom>
          <a:ln w="12700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60400" y="5074920"/>
            <a:ext cx="14630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やり方の指定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237105" y="4389120"/>
            <a:ext cx="0" cy="320040"/>
          </a:xfrm>
          <a:prstGeom prst="line">
            <a:avLst/>
          </a:prstGeom>
          <a:ln w="12700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505585" y="4709160"/>
            <a:ext cx="14630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どこに対して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486400"/>
            <a:ext cx="59436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言葉と言葉の間はスペースで区切る。「-」で始まるものはオプション（やり方の指定）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75120" y="1783080"/>
            <a:ext cx="4023360" cy="3977639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03720" y="1920240"/>
            <a:ext cx="356616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CB1C14"/>
                </a:solidFill>
                <a:latin typeface="MS PGothic"/>
                <a:ea typeface="MS PGothic"/>
                <a:cs typeface="MS PGothic"/>
              </a:rPr>
              <a:t>まず覚える4つのキー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3720" y="2468880"/>
            <a:ext cx="146304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F1F1F"/>
                </a:solidFill>
                <a:latin typeface="Consolas"/>
                <a:ea typeface="MS Gothic"/>
                <a:cs typeface="Consolas"/>
              </a:rPr>
              <a:t>Tab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2487168"/>
            <a:ext cx="233172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途中まで打つと続きを自動で入力してくれる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3273552"/>
            <a:ext cx="146304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F1F1F"/>
                </a:solidFill>
                <a:latin typeface="Consolas"/>
                <a:ea typeface="MS Gothic"/>
                <a:cs typeface="Consolas"/>
              </a:rPr>
              <a:t>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3291840"/>
            <a:ext cx="233172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前に打ったコマンドがもう一度出る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03720" y="4078224"/>
            <a:ext cx="146304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F1F1F"/>
                </a:solidFill>
                <a:latin typeface="Consolas"/>
                <a:ea typeface="MS Gothic"/>
                <a:cs typeface="Consolas"/>
              </a:rPr>
              <a:t>Ctrl+C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4096511"/>
            <a:ext cx="233172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動いているものを止める（コピーではない！）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4882896"/>
            <a:ext cx="146304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F1F1F"/>
                </a:solidFill>
                <a:latin typeface="Consolas"/>
                <a:ea typeface="MS Gothic"/>
                <a:cs typeface="Consolas"/>
              </a:rPr>
              <a:t>Ctrl+Shift+C/V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4901183"/>
            <a:ext cx="233172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コピー / 貼り付け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0515600" cy="822960"/>
          </a:xfrm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フォルダの構造とパス（住所）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400800"/>
            <a:ext cx="3657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8C8C8C"/>
                </a:solidFill>
                <a:latin typeface="MS PGothic"/>
                <a:ea typeface="MS PGothic"/>
                <a:cs typeface="MS PGothic"/>
              </a:rPr>
              <a:t>Ubuntu・ROS 2 コマンドガイド   11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6126480" cy="438912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137160" bIns="137160" wrap="square"/>
          <a:lstStyle/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1F1F1F"/>
                </a:solidFill>
                <a:latin typeface="MS Gothic"/>
                <a:ea typeface="MS Gothic"/>
                <a:cs typeface="MS Gothic"/>
              </a:rPr>
              <a:t>/</a:t>
            </a:r>
            <a:r>
              <a:rPr sz="1700" b="0" i="0">
                <a:solidFill>
                  <a:srgbClr val="CB1C14"/>
                </a:solidFill>
                <a:latin typeface="MS Gothic"/>
                <a:ea typeface="MS Gothic"/>
                <a:cs typeface="MS Gothic"/>
              </a:rPr>
              <a:t>                           ← </a:t>
            </a:r>
            <a:r>
              <a:rPr sz="1400" b="1" i="0">
                <a:solidFill>
                  <a:srgbClr val="CB1C14"/>
                </a:solidFill>
                <a:latin typeface="MS PGothic"/>
                <a:ea typeface="MS PGothic"/>
                <a:cs typeface="MS PGothic"/>
              </a:rPr>
              <a:t>一番上（ルート）</a:t>
            </a:r>
          </a:p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1F1F1F"/>
                </a:solidFill>
                <a:latin typeface="MS Gothic"/>
                <a:ea typeface="MS Gothic"/>
                <a:cs typeface="MS Gothic"/>
              </a:rPr>
              <a:t>├─ home/</a:t>
            </a:r>
          </a:p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1F1F1F"/>
                </a:solidFill>
                <a:latin typeface="MS Gothic"/>
                <a:ea typeface="MS Gothic"/>
                <a:cs typeface="MS Gothic"/>
              </a:rPr>
              <a:t>│   └─ tashi/</a:t>
            </a:r>
            <a:r>
              <a:rPr sz="1700" b="0" i="0">
                <a:solidFill>
                  <a:srgbClr val="CB1C14"/>
                </a:solidFill>
                <a:latin typeface="MS Gothic"/>
                <a:ea typeface="MS Gothic"/>
                <a:cs typeface="MS Gothic"/>
              </a:rPr>
              <a:t>            ← </a:t>
            </a:r>
            <a:r>
              <a:rPr sz="1400" b="1" i="0">
                <a:solidFill>
                  <a:srgbClr val="CB1C14"/>
                </a:solidFill>
                <a:latin typeface="MS PGothic"/>
                <a:ea typeface="MS PGothic"/>
                <a:cs typeface="MS PGothic"/>
              </a:rPr>
              <a:t>自分のホーム（</a:t>
            </a:r>
            <a:r>
              <a:rPr sz="1400" b="1" i="0" lang="en-US" altLang="en-US">
                <a:solidFill>
                  <a:srgbClr val="CB1C14"/>
                </a:solidFill>
                <a:latin typeface="Consolas"/>
                <a:ea typeface="Consolas"/>
                <a:cs typeface="Consolas"/>
              </a:rPr>
              <a:t>~</a:t>
            </a:r>
            <a:r>
              <a:rPr sz="1400" b="1" i="0">
                <a:solidFill>
                  <a:srgbClr val="CB1C14"/>
                </a:solidFill>
                <a:latin typeface="MS PGothic"/>
                <a:ea typeface="MS PGothic"/>
                <a:cs typeface="MS PGothic"/>
              </a:rPr>
              <a:t>）</a:t>
            </a:r>
          </a:p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1F1F1F"/>
                </a:solidFill>
                <a:latin typeface="MS Gothic"/>
                <a:ea typeface="MS Gothic"/>
                <a:cs typeface="MS Gothic"/>
              </a:rPr>
              <a:t>│       ├─ ros2_ws/</a:t>
            </a:r>
            <a:r>
              <a:rPr sz="1700" b="0" i="0">
                <a:solidFill>
                  <a:srgbClr val="CB1C14"/>
                </a:solidFill>
                <a:latin typeface="MS Gothic"/>
                <a:ea typeface="MS Gothic"/>
                <a:cs typeface="MS Gothic"/>
              </a:rPr>
              <a:t>      ← </a:t>
            </a:r>
            <a:r>
              <a:rPr sz="1400" b="1" i="0">
                <a:solidFill>
                  <a:srgbClr val="CB1C14"/>
                </a:solidFill>
                <a:latin typeface="MS PGothic"/>
                <a:ea typeface="MS PGothic"/>
                <a:cs typeface="MS PGothic"/>
              </a:rPr>
              <a:t>作業部屋</a:t>
            </a:r>
          </a:p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1F1F1F"/>
                </a:solidFill>
                <a:latin typeface="MS Gothic"/>
                <a:ea typeface="MS Gothic"/>
                <a:cs typeface="MS Gothic"/>
              </a:rPr>
              <a:t>│       │   └─ src/</a:t>
            </a:r>
            <a:r>
              <a:rPr sz="1700" b="0" i="0">
                <a:solidFill>
                  <a:srgbClr val="CB1C14"/>
                </a:solidFill>
                <a:latin typeface="MS Gothic"/>
                <a:ea typeface="MS Gothic"/>
                <a:cs typeface="MS Gothic"/>
              </a:rPr>
              <a:t>     ← </a:t>
            </a:r>
            <a:r>
              <a:rPr sz="1400" b="1" i="0">
                <a:solidFill>
                  <a:srgbClr val="CB1C14"/>
                </a:solidFill>
                <a:latin typeface="MS PGothic"/>
                <a:ea typeface="MS PGothic"/>
                <a:cs typeface="MS PGothic"/>
              </a:rPr>
              <a:t>パッケージを置く</a:t>
            </a:r>
          </a:p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1F1F1F"/>
                </a:solidFill>
                <a:latin typeface="MS Gothic"/>
                <a:ea typeface="MS Gothic"/>
                <a:cs typeface="MS Gothic"/>
              </a:rPr>
              <a:t>│       └─ ダウンロード/</a:t>
            </a:r>
          </a:p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1F1F1F"/>
                </a:solidFill>
                <a:latin typeface="MS Gothic"/>
                <a:ea typeface="MS Gothic"/>
                <a:cs typeface="MS Gothic"/>
              </a:rPr>
              <a:t>└─ opt/ros/jazzy/</a:t>
            </a:r>
            <a:r>
              <a:rPr sz="1700" b="0" i="0">
                <a:solidFill>
                  <a:srgbClr val="CB1C14"/>
                </a:solidFill>
                <a:latin typeface="MS Gothic"/>
                <a:ea typeface="MS Gothic"/>
                <a:cs typeface="MS Gothic"/>
              </a:rPr>
              <a:t>         ← </a:t>
            </a:r>
            <a:r>
              <a:rPr sz="1400" b="1" i="0">
                <a:solidFill>
                  <a:srgbClr val="CB1C14"/>
                </a:solidFill>
                <a:latin typeface="MS PGothic"/>
                <a:ea typeface="MS PGothic"/>
                <a:cs typeface="MS PGothic"/>
              </a:rPr>
              <a:t>ROS 2 本体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0" y="1371600"/>
            <a:ext cx="36576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CB1C14"/>
                </a:solidFill>
                <a:latin typeface="MS PGothic"/>
                <a:ea typeface="MS PGothic"/>
                <a:cs typeface="MS PGothic"/>
              </a:rPr>
              <a:t>パスの書き方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0" y="1828800"/>
            <a:ext cx="365760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フォルダ名を / でつないで書きます。住所の「〇〇県/〇〇市/〇〇町」と同じ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040880" y="2743200"/>
          <a:ext cx="3657600" cy="18288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005840"/>
                <a:gridCol w="2651760"/>
              </a:tblGrid>
              <a:tr h="457200"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MS PGothic"/>
                          <a:ea typeface="MS PGothic"/>
                          <a:cs typeface="MS PGothic"/>
                        </a:rPr>
                        <a:t>記号</a:t>
                      </a:r>
                    </a:p>
                  </a:txBody>
                  <a:tcPr marL="73152" marR="73152" marT="27432" marB="27432" anchor="ctr">
                    <a:solidFill>
                      <a:srgbClr val="1F1F1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MS PGothic"/>
                          <a:ea typeface="MS PGothic"/>
                          <a:cs typeface="MS PGothic"/>
                        </a:rPr>
                        <a:t>意味</a:t>
                      </a:r>
                    </a:p>
                  </a:txBody>
                  <a:tcPr marL="73152" marR="73152" marT="27432" marB="27432" anchor="ctr">
                    <a:solidFill>
                      <a:srgbClr val="1F1F1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1F1F"/>
                          </a:solidFill>
                          <a:latin typeface="Consolas"/>
                          <a:ea typeface="MS Gothic"/>
                          <a:cs typeface="Consolas"/>
                        </a:rPr>
                        <a:t>~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1F1F"/>
                          </a:solidFill>
                          <a:latin typeface="MS PGothic"/>
                          <a:ea typeface="MS PGothic"/>
                          <a:cs typeface="MS PGothic"/>
                        </a:rPr>
                        <a:t>自分のホーム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1F1F"/>
                          </a:solidFill>
                          <a:latin typeface="Consolas"/>
                          <a:ea typeface="MS Gothic"/>
                          <a:cs typeface="Consolas"/>
                        </a:rPr>
                        <a:t>..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1F1F"/>
                          </a:solidFill>
                          <a:latin typeface="MS PGothic"/>
                          <a:ea typeface="MS PGothic"/>
                          <a:cs typeface="MS PGothic"/>
                        </a:rPr>
                        <a:t>1つ上のフォルダ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1F1F"/>
                          </a:solidFill>
                          <a:latin typeface="Consolas"/>
                          <a:ea typeface="MS Gothic"/>
                          <a:cs typeface="Consolas"/>
                        </a:rPr>
                        <a:t>/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1F1F"/>
                          </a:solidFill>
                          <a:latin typeface="MS PGothic"/>
                          <a:ea typeface="MS PGothic"/>
                          <a:cs typeface="MS PGothic"/>
                        </a:rPr>
                        <a:t>一番上（ルート）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040880" y="4709160"/>
            <a:ext cx="3657600" cy="10058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例 </a:t>
            </a:r>
            <a:r>
              <a:rPr sz="1300" b="0" i="0">
                <a:solidFill>
                  <a:srgbClr val="1F1F1F"/>
                </a:solidFill>
                <a:latin typeface="Consolas"/>
                <a:ea typeface="MS Gothic"/>
                <a:cs typeface="Consolas"/>
              </a:rPr>
              <a:t>~/ros2_ws/src</a:t>
            </a:r>
          </a:p>
          <a:p>
            <a:pPr algn="l">
              <a:spcAft>
                <a:spcPts val="300"/>
              </a:spcAft>
            </a:pPr>
            <a:r>
              <a:rPr sz="125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＝ ホームの中の ros2_ws の中の src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0515600" cy="822960"/>
          </a:xfrm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フォルダを移動する：pwd・ls・cd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400800"/>
            <a:ext cx="3657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8C8C8C"/>
                </a:solidFill>
                <a:latin typeface="MS PGothic"/>
                <a:ea typeface="MS PGothic"/>
                <a:cs typeface="MS PGothic"/>
              </a:rPr>
              <a:t>Ubuntu・ROS 2 コマンドガイド   12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4572000" cy="9144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97280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CB1C14"/>
                </a:solidFill>
                <a:latin typeface="Consolas"/>
                <a:ea typeface="MS Gothic"/>
                <a:cs typeface="Consolas"/>
              </a:rPr>
              <a:t>pwd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527048"/>
            <a:ext cx="32004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今どこにいる？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892808"/>
            <a:ext cx="32004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今いるフォルダの住所を表示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96312"/>
            <a:ext cx="4572000" cy="9144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587752"/>
            <a:ext cx="1097280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CB1C14"/>
                </a:solidFill>
                <a:latin typeface="Consolas"/>
                <a:ea typeface="MS Gothic"/>
                <a:cs typeface="Consolas"/>
              </a:rPr>
              <a:t>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606040"/>
            <a:ext cx="32004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中に何がある？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2971800"/>
            <a:ext cx="32004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今いるフォルダの中身を表示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575304"/>
            <a:ext cx="4572000" cy="9144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666744"/>
            <a:ext cx="1097280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CB1C14"/>
                </a:solidFill>
                <a:latin typeface="Consolas"/>
                <a:ea typeface="MS Gothic"/>
                <a:cs typeface="Consolas"/>
              </a:rPr>
              <a:t>cd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685032"/>
            <a:ext cx="32004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フォルダを移動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4050791"/>
            <a:ext cx="32004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cd フォルダ名 で移動。cd だけでホームに戻る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709160"/>
            <a:ext cx="4572000" cy="1051560"/>
          </a:xfrm>
          <a:prstGeom prst="roundRect">
            <a:avLst>
              <a:gd name="adj" fmla="val 6000"/>
            </a:avLst>
          </a:prstGeom>
          <a:solidFill>
            <a:srgbClr val="F9E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773168"/>
            <a:ext cx="4206240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CB1C14"/>
                </a:solidFill>
                <a:latin typeface="MS PGothic"/>
                <a:ea typeface="MS PGothic"/>
                <a:cs typeface="MS PGothic"/>
              </a:rPr>
              <a:t>迷子になったら</a:t>
            </a:r>
          </a:p>
          <a:p>
            <a:pPr algn="l">
              <a:spcAft>
                <a:spcPts val="300"/>
              </a:spcAft>
            </a:pPr>
            <a:r>
              <a:rPr sz="1250" b="0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pwd で今の場所を確認 → cd だけ打ってホームに戻ればやり直せる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0" y="1417320"/>
            <a:ext cx="5257800" cy="4343400"/>
          </a:xfrm>
          <a:prstGeom prst="roundRect">
            <a:avLst>
              <a:gd name="adj" fmla="val 4000"/>
            </a:avLst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82880" rIns="182880" tIns="128016" bIns="128016" wrap="square"/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EDEDED"/>
                </a:solidFill>
                <a:latin typeface="Consolas"/>
                <a:ea typeface="MS Gothic"/>
                <a:cs typeface="Consolas"/>
              </a:rPr>
              <a:t>$ pwd</a:t>
            </a:r>
          </a:p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A6A6A6"/>
                </a:solidFill>
                <a:latin typeface="Consolas"/>
                <a:ea typeface="MS Gothic"/>
                <a:cs typeface="Consolas"/>
              </a:rPr>
              <a:t>/home/tashi</a:t>
            </a:r>
          </a:p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EDEDED"/>
                </a:solidFill>
                <a:latin typeface="Consolas"/>
                <a:ea typeface="MS Gothic"/>
                <a:cs typeface="Consolas"/>
              </a:rPr>
              <a:t>$ ls</a:t>
            </a:r>
          </a:p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A6A6A6"/>
                </a:solidFill>
                <a:latin typeface="Consolas"/>
                <a:ea typeface="MS Gothic"/>
                <a:cs typeface="Consolas"/>
              </a:rPr>
              <a:t>ros2_ws  ダウンロード  デスクトップ</a:t>
            </a:r>
          </a:p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EDEDED"/>
                </a:solidFill>
                <a:latin typeface="Consolas"/>
                <a:ea typeface="MS Gothic"/>
                <a:cs typeface="Consolas"/>
              </a:rPr>
              <a:t>$ cd ros2_ws    </a:t>
            </a:r>
            <a:r>
              <a:rPr sz="1500" b="0" i="0">
                <a:solidFill>
                  <a:srgbClr val="8FBF7F"/>
                </a:solidFill>
                <a:latin typeface="Consolas"/>
                <a:ea typeface="MS Gothic"/>
                <a:cs typeface="Consolas"/>
              </a:rPr>
              <a:t># ros2_ws に入る</a:t>
            </a:r>
          </a:p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EDEDED"/>
                </a:solidFill>
                <a:latin typeface="Consolas"/>
                <a:ea typeface="MS Gothic"/>
                <a:cs typeface="Consolas"/>
              </a:rPr>
              <a:t>$ ls</a:t>
            </a:r>
          </a:p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A6A6A6"/>
                </a:solidFill>
                <a:latin typeface="Consolas"/>
                <a:ea typeface="MS Gothic"/>
                <a:cs typeface="Consolas"/>
              </a:rPr>
              <a:t>src</a:t>
            </a:r>
          </a:p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EDEDED"/>
                </a:solidFill>
                <a:latin typeface="Consolas"/>
                <a:ea typeface="MS Gothic"/>
                <a:cs typeface="Consolas"/>
              </a:rPr>
              <a:t>$ cd ..         </a:t>
            </a:r>
            <a:r>
              <a:rPr sz="1500" b="0" i="0">
                <a:solidFill>
                  <a:srgbClr val="8FBF7F"/>
                </a:solidFill>
                <a:latin typeface="Consolas"/>
                <a:ea typeface="MS Gothic"/>
                <a:cs typeface="Consolas"/>
              </a:rPr>
              <a:t># 1つ上に戻る</a:t>
            </a:r>
          </a:p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EDEDED"/>
                </a:solidFill>
                <a:latin typeface="Consolas"/>
                <a:ea typeface="MS Gothic"/>
                <a:cs typeface="Consolas"/>
              </a:rPr>
              <a:t>$ pwd</a:t>
            </a:r>
          </a:p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A6A6A6"/>
                </a:solidFill>
                <a:latin typeface="Consolas"/>
                <a:ea typeface="MS Gothic"/>
                <a:cs typeface="Consolas"/>
              </a:rPr>
              <a:t>/home/tashi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5806440"/>
            <a:ext cx="52578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$ のあとが自分で打つ部分（$ は打たない）。灰色は表示される結果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0515600" cy="822960"/>
          </a:xfrm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フォルダ・ファイルを操作する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400800"/>
            <a:ext cx="3657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8C8C8C"/>
                </a:solidFill>
                <a:latin typeface="MS PGothic"/>
                <a:ea typeface="MS PGothic"/>
                <a:cs typeface="MS PGothic"/>
              </a:rPr>
              <a:t>Ubuntu・ROS 2 コマンドガイド   13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71600"/>
          <a:ext cx="6675120" cy="3968496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005840"/>
                <a:gridCol w="2377440"/>
                <a:gridCol w="3291840"/>
              </a:tblGrid>
              <a:tr h="566928"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MS PGothic"/>
                          <a:ea typeface="MS PGothic"/>
                          <a:cs typeface="MS PGothic"/>
                        </a:rPr>
                        <a:t>コマンド</a:t>
                      </a:r>
                    </a:p>
                  </a:txBody>
                  <a:tcPr marL="73152" marR="73152" marT="27432" marB="27432" anchor="ctr">
                    <a:solidFill>
                      <a:srgbClr val="1F1F1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MS PGothic"/>
                          <a:ea typeface="MS PGothic"/>
                          <a:cs typeface="MS PGothic"/>
                        </a:rPr>
                        <a:t>やること</a:t>
                      </a:r>
                    </a:p>
                  </a:txBody>
                  <a:tcPr marL="73152" marR="73152" marT="27432" marB="27432" anchor="ctr">
                    <a:solidFill>
                      <a:srgbClr val="1F1F1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MS PGothic"/>
                          <a:ea typeface="MS PGothic"/>
                          <a:cs typeface="MS PGothic"/>
                        </a:rPr>
                        <a:t>例</a:t>
                      </a:r>
                    </a:p>
                  </a:txBody>
                  <a:tcPr marL="73152" marR="73152" marT="27432" marB="27432" anchor="ctr">
                    <a:solidFill>
                      <a:srgbClr val="1F1F1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1F1F"/>
                          </a:solidFill>
                          <a:latin typeface="Consolas"/>
                          <a:ea typeface="MS Gothic"/>
                          <a:cs typeface="Consolas"/>
                        </a:rPr>
                        <a:t>mkdir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1F1F"/>
                          </a:solidFill>
                          <a:latin typeface="MS PGothic"/>
                          <a:ea typeface="MS PGothic"/>
                          <a:cs typeface="MS PGothic"/>
                        </a:rPr>
                        <a:t>フォルダを作る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1F1F"/>
                          </a:solidFill>
                          <a:latin typeface="Consolas"/>
                          <a:ea typeface="MS Gothic"/>
                          <a:cs typeface="Consolas"/>
                        </a:rPr>
                        <a:t>mkdir test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1F1F"/>
                          </a:solidFill>
                          <a:latin typeface="Consolas"/>
                          <a:ea typeface="MS Gothic"/>
                          <a:cs typeface="Consolas"/>
                        </a:rPr>
                        <a:t>cp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1F1F"/>
                          </a:solidFill>
                          <a:latin typeface="MS PGothic"/>
                          <a:ea typeface="MS PGothic"/>
                          <a:cs typeface="MS PGothic"/>
                        </a:rPr>
                        <a:t>コピーする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1F1F"/>
                          </a:solidFill>
                          <a:latin typeface="Consolas"/>
                          <a:ea typeface="MS Gothic"/>
                          <a:cs typeface="Consolas"/>
                        </a:rPr>
                        <a:t>cp a.txt b.txt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1F1F"/>
                          </a:solidFill>
                          <a:latin typeface="Consolas"/>
                          <a:ea typeface="MS Gothic"/>
                          <a:cs typeface="Consolas"/>
                        </a:rPr>
                        <a:t>mv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1F1F"/>
                          </a:solidFill>
                          <a:latin typeface="MS PGothic"/>
                          <a:ea typeface="MS PGothic"/>
                          <a:cs typeface="MS PGothic"/>
                        </a:rPr>
                        <a:t>移動する・名前を変える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1F1F"/>
                          </a:solidFill>
                          <a:latin typeface="Consolas"/>
                          <a:ea typeface="MS Gothic"/>
                          <a:cs typeface="Consolas"/>
                        </a:rPr>
                        <a:t>mv a.txt c.txt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1F1F"/>
                          </a:solidFill>
                          <a:latin typeface="Consolas"/>
                          <a:ea typeface="MS Gothic"/>
                          <a:cs typeface="Consolas"/>
                        </a:rPr>
                        <a:t>rm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1F1F"/>
                          </a:solidFill>
                          <a:latin typeface="MS PGothic"/>
                          <a:ea typeface="MS PGothic"/>
                          <a:cs typeface="MS PGothic"/>
                        </a:rPr>
                        <a:t>削除する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1F1F"/>
                          </a:solidFill>
                          <a:latin typeface="Consolas"/>
                          <a:ea typeface="MS Gothic"/>
                          <a:cs typeface="Consolas"/>
                        </a:rPr>
                        <a:t>rm a.txt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1F1F"/>
                          </a:solidFill>
                          <a:latin typeface="Consolas"/>
                          <a:ea typeface="MS Gothic"/>
                          <a:cs typeface="Consolas"/>
                        </a:rPr>
                        <a:t>cat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1F1F"/>
                          </a:solidFill>
                          <a:latin typeface="MS PGothic"/>
                          <a:ea typeface="MS PGothic"/>
                          <a:cs typeface="MS PGothic"/>
                        </a:rPr>
                        <a:t>ファイルの中身を見る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1F1F"/>
                          </a:solidFill>
                          <a:latin typeface="Consolas"/>
                          <a:ea typeface="MS Gothic"/>
                          <a:cs typeface="Consolas"/>
                        </a:rPr>
                        <a:t>cat a.txt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1F1F"/>
                          </a:solidFill>
                          <a:latin typeface="Consolas"/>
                          <a:ea typeface="MS Gothic"/>
                          <a:cs typeface="Consolas"/>
                        </a:rPr>
                        <a:t>code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1F1F"/>
                          </a:solidFill>
                          <a:latin typeface="MS PGothic"/>
                          <a:ea typeface="MS PGothic"/>
                          <a:cs typeface="MS PGothic"/>
                        </a:rPr>
                        <a:t>VS Code で開く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1F1F"/>
                          </a:solidFill>
                          <a:latin typeface="Consolas"/>
                          <a:ea typeface="MS Gothic"/>
                          <a:cs typeface="Consolas"/>
                        </a:rPr>
                        <a:t>code ros2_ws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486400"/>
            <a:ext cx="66751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名前は英数字で。スペースや日本語を入れると、打つときに困ります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89520" y="1371600"/>
            <a:ext cx="3154680" cy="1828800"/>
          </a:xfrm>
          <a:prstGeom prst="roundRect">
            <a:avLst>
              <a:gd name="adj" fmla="val 6000"/>
            </a:avLst>
          </a:prstGeom>
          <a:solidFill>
            <a:srgbClr val="CB1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0" y="1481328"/>
            <a:ext cx="283464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注意：rm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1965960"/>
            <a:ext cx="2834640" cy="1554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1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ゴミ箱に入らず、すぐ消えます。元に戻せません。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消す前に名前をよく確認。不安なら先輩に聞く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89520" y="3474720"/>
            <a:ext cx="3154680" cy="2286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0" y="3639312"/>
            <a:ext cx="28346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CB1C14"/>
                </a:solidFill>
                <a:latin typeface="MS PGothic"/>
                <a:ea typeface="MS PGothic"/>
                <a:cs typeface="MS PGothic"/>
              </a:rPr>
              <a:t>ファイルの編集は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4114800"/>
            <a:ext cx="2834640" cy="1554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F1F1F"/>
                </a:solidFill>
                <a:latin typeface="Consolas"/>
                <a:ea typeface="MS Gothic"/>
                <a:cs typeface="Consolas"/>
              </a:rPr>
              <a:t>code .</a:t>
            </a:r>
            <a:r>
              <a:rPr sz="125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  で今のフォルダを</a:t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VS Code で開いて、ふだんのエディタと同じように編集できます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377440"/>
            <a:ext cx="9144000" cy="1188720"/>
          </a:xfrm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40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ソフトを入れる・使えるようにする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3566160"/>
            <a:ext cx="9144000" cy="914400"/>
          </a:xfrm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apt・マイコンをつなぐ準備・source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274320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200" b="1" i="0">
                <a:solidFill>
                  <a:srgbClr val="CB1C14"/>
                </a:solidFill>
                <a:latin typeface="MS PGothic"/>
                <a:ea typeface="MS PGothic"/>
                <a:cs typeface="MS PGothic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00800"/>
            <a:ext cx="3657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8C8C8C"/>
                </a:solidFill>
                <a:latin typeface="MS PGothic"/>
                <a:ea typeface="MS PGothic"/>
                <a:cs typeface="MS PGothic"/>
              </a:rPr>
              <a:t>Ubuntu・ROS 2 コマンドガイド 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0515600" cy="822960"/>
          </a:xfrm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ソフトを入れる：apt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400800"/>
            <a:ext cx="3657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8C8C8C"/>
                </a:solidFill>
                <a:latin typeface="MS PGothic"/>
                <a:ea typeface="MS PGothic"/>
                <a:cs typeface="MS PGothic"/>
              </a:rPr>
              <a:t>Ubuntu・ROS 2 コマンドガイド  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14984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apt（アプト）は、ソフトを入れるためのコマンド。スマホのアプリストアのようなものです。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20240"/>
            <a:ext cx="5852160" cy="932688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29968"/>
            <a:ext cx="27432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CB1C14"/>
                </a:solidFill>
                <a:latin typeface="Consolas"/>
                <a:ea typeface="MS Gothic"/>
                <a:cs typeface="Consolas"/>
              </a:rPr>
              <a:t>sudo apt update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23160"/>
            <a:ext cx="27432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ソフトの一覧を最新にする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20440" y="2011680"/>
            <a:ext cx="2788920" cy="7772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install の前にやっておく。ソフト自体はまだ入らない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999232"/>
            <a:ext cx="5852160" cy="932688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108960"/>
            <a:ext cx="27432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CB1C14"/>
                </a:solidFill>
                <a:latin typeface="Consolas"/>
                <a:ea typeface="MS Gothic"/>
                <a:cs typeface="Consolas"/>
              </a:rPr>
              <a:t>sudo apt install 名前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502152"/>
            <a:ext cx="27432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ソフトを入れる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3090672"/>
            <a:ext cx="2788920" cy="7772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ROS 2 のパッケージは ros-jazzy-〇〇 という名前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078224"/>
            <a:ext cx="5852160" cy="932688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187952"/>
            <a:ext cx="27432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CB1C14"/>
                </a:solidFill>
                <a:latin typeface="Consolas"/>
                <a:ea typeface="MS Gothic"/>
                <a:cs typeface="Consolas"/>
              </a:rPr>
              <a:t>sudo apt upgrade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581144"/>
            <a:ext cx="27432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入っているソフトを更新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4169663"/>
            <a:ext cx="2788920" cy="7772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時間がかかるので、大会や講習の直前は避ける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212080"/>
            <a:ext cx="5852160" cy="594360"/>
          </a:xfrm>
          <a:prstGeom prst="roundRect">
            <a:avLst>
              <a:gd name="adj" fmla="val 6000"/>
            </a:avLst>
          </a:prstGeom>
          <a:solidFill>
            <a:srgbClr val="F9E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230368"/>
            <a:ext cx="548640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CB1C14"/>
                </a:solidFill>
                <a:latin typeface="Consolas"/>
                <a:ea typeface="MS Gothic"/>
                <a:cs typeface="Consolas"/>
              </a:rPr>
              <a:t>sudo</a:t>
            </a:r>
            <a:r>
              <a:rPr sz="1250" b="0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：パスワードを聞かれる。打っても画面に何も出ないが、ちゃんと入力されている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66560" y="1920240"/>
            <a:ext cx="3977639" cy="3886200"/>
          </a:xfrm>
          <a:prstGeom prst="roundRect">
            <a:avLst>
              <a:gd name="adj" fmla="val 4000"/>
            </a:avLst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82880" rIns="182880" tIns="128016" bIns="128016" wrap="square"/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8FBF7F"/>
                </a:solidFill>
                <a:latin typeface="Consolas"/>
                <a:ea typeface="MS Gothic"/>
                <a:cs typeface="Consolas"/>
              </a:rPr>
              <a:t># やってみよう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8FBF7F"/>
                </a:solidFill>
                <a:latin typeface="Consolas"/>
                <a:ea typeface="MS Gothic"/>
                <a:cs typeface="Consolas"/>
              </a:rPr>
              <a:t># 亀のサンプルを入れる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EDEDED"/>
                </a:solidFill>
                <a:latin typeface="Consolas"/>
                <a:ea typeface="MS Gothic"/>
                <a:cs typeface="Consolas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EDEDED"/>
                </a:solidFill>
                <a:latin typeface="Consolas"/>
                <a:ea typeface="MS Gothic"/>
                <a:cs typeface="Consolas"/>
              </a:rPr>
              <a:t>sudo apt update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EDEDED"/>
                </a:solidFill>
                <a:latin typeface="Consolas"/>
                <a:ea typeface="MS Gothic"/>
                <a:cs typeface="Consolas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EDEDED"/>
                </a:solidFill>
                <a:latin typeface="Consolas"/>
                <a:ea typeface="MS Gothic"/>
                <a:cs typeface="Consolas"/>
              </a:rPr>
              <a:t>sudo apt install ros-jazzy-turtlesim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0515600" cy="822960"/>
          </a:xfrm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マイコンをつなぐ準備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400800"/>
            <a:ext cx="3657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8C8C8C"/>
                </a:solidFill>
                <a:latin typeface="MS PGothic"/>
                <a:ea typeface="MS PGothic"/>
                <a:cs typeface="MS PGothic"/>
              </a:rPr>
              <a:t>Ubuntu・ROS 2 コマンドガイド  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14984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USBでマイコンを挿すと、/dev/ttyUSB0 のような名前で見えるようになります。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2057400"/>
            <a:ext cx="502920" cy="502920"/>
          </a:xfrm>
          <a:prstGeom prst="ellipse">
            <a:avLst/>
          </a:prstGeom>
          <a:solidFill>
            <a:srgbClr val="CB1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993392"/>
            <a:ext cx="51206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挿したマイコンが見えるか確認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423160"/>
            <a:ext cx="512064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ls /dev/ttyUSB* で名前が出ればOK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246120"/>
            <a:ext cx="502920" cy="502920"/>
          </a:xfrm>
          <a:prstGeom prst="ellipse">
            <a:avLst/>
          </a:prstGeom>
          <a:solidFill>
            <a:srgbClr val="CB1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3182112"/>
            <a:ext cx="51206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初回だけ：使ってよい設定をする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3611880"/>
            <a:ext cx="512064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dialout（シリアル通信を使えるグループ）に自分を入れる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434840"/>
            <a:ext cx="502920" cy="502920"/>
          </a:xfrm>
          <a:prstGeom prst="ellipse">
            <a:avLst/>
          </a:prstGeom>
          <a:solidFill>
            <a:srgbClr val="CB1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4370832"/>
            <a:ext cx="51206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ログアウトして入り直す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4800600"/>
            <a:ext cx="512064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設定はログインし直すまで反映されない（再起動でもOK）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66560" y="1920240"/>
            <a:ext cx="3977639" cy="3840480"/>
          </a:xfrm>
          <a:prstGeom prst="roundRect">
            <a:avLst>
              <a:gd name="adj" fmla="val 4000"/>
            </a:avLst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82880" rIns="182880" tIns="128016" bIns="128016" wrap="square"/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8FBF7F"/>
                </a:solidFill>
                <a:latin typeface="Consolas"/>
                <a:ea typeface="MS Gothic"/>
                <a:cs typeface="Consolas"/>
              </a:rPr>
              <a:t># 1. 見えるか確認</a:t>
            </a:r>
          </a:p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EDEDED"/>
                </a:solidFill>
                <a:latin typeface="Consolas"/>
                <a:ea typeface="MS Gothic"/>
                <a:cs typeface="Consolas"/>
              </a:rPr>
              <a:t>ls /dev/ttyUSB*</a:t>
            </a:r>
          </a:p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A6A6A6"/>
                </a:solidFill>
                <a:latin typeface="Consolas"/>
                <a:ea typeface="MS Gothic"/>
                <a:cs typeface="Consolas"/>
              </a:rPr>
              <a:t>/dev/ttyUSB0</a:t>
            </a:r>
          </a:p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EDEDED"/>
                </a:solidFill>
                <a:latin typeface="Consolas"/>
                <a:ea typeface="MS Gothic"/>
                <a:cs typeface="Consolas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8FBF7F"/>
                </a:solidFill>
                <a:latin typeface="Consolas"/>
                <a:ea typeface="MS Gothic"/>
                <a:cs typeface="Consolas"/>
              </a:rPr>
              <a:t># 2. 使ってよい設定（初回だけ）</a:t>
            </a:r>
          </a:p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EDEDED"/>
                </a:solidFill>
                <a:latin typeface="Consolas"/>
                <a:ea typeface="MS Gothic"/>
                <a:cs typeface="Consolas"/>
              </a:rPr>
              <a:t>sudo usermod -aG dialout $USER</a:t>
            </a:r>
          </a:p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EDEDED"/>
                </a:solidFill>
                <a:latin typeface="Consolas"/>
                <a:ea typeface="MS Gothic"/>
                <a:cs typeface="Consolas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8FBF7F"/>
                </a:solidFill>
                <a:latin typeface="Consolas"/>
                <a:ea typeface="MS Gothic"/>
                <a:cs typeface="Consolas"/>
              </a:rPr>
              <a:t># 3. ログアウト → ログイン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486400"/>
            <a:ext cx="5943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これをしないと「Permission denied（許可がない）」と言われます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0515600" cy="822960"/>
          </a:xfrm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ROS 2 を使えるようにする：source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400800"/>
            <a:ext cx="3657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8C8C8C"/>
                </a:solidFill>
                <a:latin typeface="MS PGothic"/>
                <a:ea typeface="MS PGothic"/>
                <a:cs typeface="MS PGothic"/>
              </a:rPr>
              <a:t>Ubuntu・ROS 2 コマンドガイド  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14984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ROS 2 は入れただけでは使えません。ターミナルに「ROS 2 使うよ」と教える（source する）必要があります。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49834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① ターミナルを開くたびに打つ方法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4983480" cy="1188720"/>
          </a:xfrm>
          <a:prstGeom prst="roundRect">
            <a:avLst>
              <a:gd name="adj" fmla="val 4000"/>
            </a:avLst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28016" bIns="128016" wrap="square"/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EDEDED"/>
                </a:solidFill>
                <a:latin typeface="Consolas"/>
                <a:ea typeface="MS Gothic"/>
                <a:cs typeface="Consolas"/>
              </a:rPr>
              <a:t>source /opt/ros/jazzy/setup.bash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566160"/>
            <a:ext cx="498348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新しいターミナルを開いたら、毎回これを打つ。忘れると ros2 コマンドが「見つからない」と言われる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0" y="1874519"/>
            <a:ext cx="49834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② 自動でやってもらう方法（おすすめ）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720" y="2286000"/>
            <a:ext cx="4983480" cy="1188720"/>
          </a:xfrm>
          <a:prstGeom prst="roundRect">
            <a:avLst>
              <a:gd name="adj" fmla="val 4000"/>
            </a:avLst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28016" bIns="128016" wrap="square"/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8FBF7F"/>
                </a:solidFill>
                <a:latin typeface="Consolas"/>
                <a:ea typeface="MS Gothic"/>
                <a:cs typeface="Consolas"/>
              </a:rPr>
              <a:t># 1回だけ打つ（1行で入力）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DEDED"/>
                </a:solidFill>
                <a:latin typeface="Consolas"/>
                <a:ea typeface="MS Gothic"/>
                <a:cs typeface="Consolas"/>
              </a:rPr>
              <a:t>echo "source /opt/ros/jazzy/setup.bash" &gt;&gt; ~/.bashrc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0" y="3566160"/>
            <a:ext cx="498348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.bashrc は「ターミナルを開くたびに自動で実行されるメモ」。ここに書いておけば毎回打たなくてよい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572000"/>
            <a:ext cx="10149840" cy="1005840"/>
          </a:xfrm>
          <a:prstGeom prst="roundRect">
            <a:avLst>
              <a:gd name="adj" fmla="val 6000"/>
            </a:avLst>
          </a:prstGeom>
          <a:solidFill>
            <a:srgbClr val="CB1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645152"/>
            <a:ext cx="9692640" cy="1051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注意：&gt;&gt; を &gt; にしない</a:t>
            </a:r>
          </a:p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onsolas"/>
                <a:ea typeface="MS Gothic"/>
                <a:cs typeface="Consolas"/>
              </a:rPr>
              <a:t>&gt;&gt;</a:t>
            </a:r>
            <a:r>
              <a:rPr sz="1300" b="0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 は「書き足す」、</a:t>
            </a:r>
            <a:r>
              <a:rPr sz="1300" b="1" i="0">
                <a:solidFill>
                  <a:srgbClr val="FFFFFF"/>
                </a:solidFill>
                <a:latin typeface="Consolas"/>
                <a:ea typeface="MS Gothic"/>
                <a:cs typeface="Consolas"/>
              </a:rPr>
              <a:t>&gt;</a:t>
            </a:r>
            <a:r>
              <a:rPr sz="1300" b="0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 は「上書きする」。&gt; にすると .bashrc の中身が全部消えます。上の行をそのままコピーして使いましょう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377440"/>
            <a:ext cx="9144000" cy="1188720"/>
          </a:xfrm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40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ROS 2を動かしてみる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3566160"/>
            <a:ext cx="9144000" cy="914400"/>
          </a:xfrm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ビルド・亀を動かす・エラーの直し方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274320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200" b="1" i="0">
                <a:solidFill>
                  <a:srgbClr val="CB1C14"/>
                </a:solidFill>
                <a:latin typeface="MS PGothic"/>
                <a:ea typeface="MS PGothic"/>
                <a:cs typeface="MS PGothic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00800"/>
            <a:ext cx="3657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8C8C8C"/>
                </a:solidFill>
                <a:latin typeface="MS PGothic"/>
                <a:ea typeface="MS PGothic"/>
                <a:cs typeface="MS PGothic"/>
              </a:rPr>
              <a:t>Ubuntu・ROS 2 コマンドガイド  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0515600" cy="822960"/>
          </a:xfrm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やってみよう：亀を動かす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400800"/>
            <a:ext cx="3657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8C8C8C"/>
                </a:solidFill>
                <a:latin typeface="MS PGothic"/>
                <a:ea typeface="MS PGothic"/>
                <a:cs typeface="MS PGothic"/>
              </a:rPr>
              <a:t>Ubuntu・ROS 2 コマンドガイド  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14984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ROS 2 のサンプル turtlesim（タートルシム）で、ノードを起動してみます。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74519"/>
            <a:ext cx="4754880" cy="9144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4480560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F1F1F"/>
                </a:solidFill>
                <a:latin typeface="Consolas"/>
                <a:ea typeface="MS Gothic"/>
                <a:cs typeface="Consolas"/>
              </a:rPr>
              <a:t>ros2 run </a:t>
            </a:r>
            <a:r>
              <a:rPr sz="1400" b="1" i="0">
                <a:solidFill>
                  <a:srgbClr val="CB1C14"/>
                </a:solidFill>
                <a:latin typeface="MS PGothic"/>
                <a:ea typeface="MS PGothic"/>
                <a:cs typeface="MS PGothic"/>
              </a:rPr>
              <a:t>パッケージ名 プログラム名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ノード（係）を1つ起動するコマンド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3108960"/>
            <a:ext cx="457200" cy="457200"/>
          </a:xfrm>
          <a:prstGeom prst="ellipse">
            <a:avLst/>
          </a:prstGeom>
          <a:solidFill>
            <a:srgbClr val="CB1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044952"/>
            <a:ext cx="41148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ターミナル1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410712"/>
            <a:ext cx="41148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亀の画面を出す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977639"/>
            <a:ext cx="457200" cy="457200"/>
          </a:xfrm>
          <a:prstGeom prst="ellipse">
            <a:avLst/>
          </a:prstGeom>
          <a:solidFill>
            <a:srgbClr val="CB1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913632"/>
            <a:ext cx="41148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ターミナル2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4279392"/>
            <a:ext cx="41148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キーボードで操作する（このターミナルを選んで矢印キー）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846320"/>
            <a:ext cx="457200" cy="457200"/>
          </a:xfrm>
          <a:prstGeom prst="ellipse">
            <a:avLst/>
          </a:prstGeom>
          <a:solidFill>
            <a:srgbClr val="CB1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782312"/>
            <a:ext cx="41148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止めるとき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5148072"/>
            <a:ext cx="41148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それぞれのターミナルで Ctrl + 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0" y="1874519"/>
            <a:ext cx="5074920" cy="3886200"/>
          </a:xfrm>
          <a:prstGeom prst="roundRect">
            <a:avLst>
              <a:gd name="adj" fmla="val 4000"/>
            </a:avLst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82880" rIns="182880" tIns="128016" bIns="128016" wrap="square"/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8FBF7F"/>
                </a:solidFill>
                <a:latin typeface="Consolas"/>
                <a:ea typeface="MS Gothic"/>
                <a:cs typeface="Consolas"/>
              </a:rPr>
              <a:t># ターミナル1：亀の画面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EDEDED"/>
                </a:solidFill>
                <a:latin typeface="Consolas"/>
                <a:ea typeface="MS Gothic"/>
                <a:cs typeface="Consolas"/>
              </a:rPr>
              <a:t>ros2 run turtlesim turtlesim_node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EDEDED"/>
                </a:solidFill>
                <a:latin typeface="Consolas"/>
                <a:ea typeface="MS Gothic"/>
                <a:cs typeface="Consolas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8FBF7F"/>
                </a:solidFill>
                <a:latin typeface="Consolas"/>
                <a:ea typeface="MS Gothic"/>
                <a:cs typeface="Consolas"/>
              </a:rPr>
              <a:t># ターミナル2：矢印キーで操作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EDEDED"/>
                </a:solidFill>
                <a:latin typeface="Consolas"/>
                <a:ea typeface="MS Gothic"/>
                <a:cs typeface="Consolas"/>
              </a:rPr>
              <a:t>ros2 run turtlesim turtle_teleop_key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EDEDED"/>
                </a:solidFill>
                <a:latin typeface="Consolas"/>
                <a:ea typeface="MS Gothic"/>
                <a:cs typeface="Consolas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8FBF7F"/>
                </a:solidFill>
                <a:latin typeface="Consolas"/>
                <a:ea typeface="MS Gothic"/>
                <a:cs typeface="Consolas"/>
              </a:rPr>
              <a:t># 新しいターミナルは Ctrl+Shift+T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8FBF7F"/>
                </a:solidFill>
                <a:latin typeface="Consolas"/>
                <a:ea typeface="MS Gothic"/>
                <a:cs typeface="Consolas"/>
              </a:rPr>
              <a:t># （それぞれ source 済みであること）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0515600" cy="822960"/>
          </a:xfrm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動いているノード・トピックを見る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400800"/>
            <a:ext cx="3657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8C8C8C"/>
                </a:solidFill>
                <a:latin typeface="MS PGothic"/>
                <a:ea typeface="MS PGothic"/>
                <a:cs typeface="MS PGothic"/>
              </a:rPr>
              <a:t>Ubuntu・ROS 2 コマンドガイド  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14984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亀を動かしたまま、3つ目のターミナルで「今どんな係と連絡が動いているか」を見てみます。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74519"/>
            <a:ext cx="5120640" cy="86868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47672"/>
            <a:ext cx="48463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CB1C14"/>
                </a:solidFill>
                <a:latin typeface="Consolas"/>
                <a:ea typeface="MS Gothic"/>
                <a:cs typeface="Consolas"/>
              </a:rPr>
              <a:t>ros2 node list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31720"/>
            <a:ext cx="48463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動いているノード（係）の一覧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898648"/>
            <a:ext cx="5120640" cy="86868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971800"/>
            <a:ext cx="48463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CB1C14"/>
                </a:solidFill>
                <a:latin typeface="Consolas"/>
                <a:ea typeface="MS Gothic"/>
                <a:cs typeface="Consolas"/>
              </a:rPr>
              <a:t>ros2 topic list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355848"/>
            <a:ext cx="48463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トピック（連絡のチャンネル）の一覧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922776"/>
            <a:ext cx="5120640" cy="86868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995928"/>
            <a:ext cx="48463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CB1C14"/>
                </a:solidFill>
                <a:latin typeface="Consolas"/>
                <a:ea typeface="MS Gothic"/>
                <a:cs typeface="Consolas"/>
              </a:rPr>
              <a:t>ros2 topic echo 名前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379976"/>
            <a:ext cx="48463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そのチャンネルを流れている中身を表示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5029200"/>
            <a:ext cx="5120640" cy="731520"/>
          </a:xfrm>
          <a:prstGeom prst="roundRect">
            <a:avLst>
              <a:gd name="adj" fmla="val 6000"/>
            </a:avLst>
          </a:prstGeom>
          <a:solidFill>
            <a:srgbClr val="F9E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5074920"/>
            <a:ext cx="475488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ros2can を使うときも、マイコンの値は ros2 topic echo /serial_rx_1 で見られます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35040" y="1874519"/>
            <a:ext cx="4709160" cy="3886200"/>
          </a:xfrm>
          <a:prstGeom prst="roundRect">
            <a:avLst>
              <a:gd name="adj" fmla="val 4000"/>
            </a:avLst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82880" rIns="182880" tIns="128016" bIns="128016" wrap="square"/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EDEDED"/>
                </a:solidFill>
                <a:latin typeface="Consolas"/>
                <a:ea typeface="MS Gothic"/>
                <a:cs typeface="Consolas"/>
              </a:rPr>
              <a:t>$ ros2 node list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A6A6A6"/>
                </a:solidFill>
                <a:latin typeface="Consolas"/>
                <a:ea typeface="MS Gothic"/>
                <a:cs typeface="Consolas"/>
              </a:rPr>
              <a:t>/teleop_turtle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A6A6A6"/>
                </a:solidFill>
                <a:latin typeface="Consolas"/>
                <a:ea typeface="MS Gothic"/>
                <a:cs typeface="Consolas"/>
              </a:rPr>
              <a:t>/turtlesim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EDEDED"/>
                </a:solidFill>
                <a:latin typeface="Consolas"/>
                <a:ea typeface="MS Gothic"/>
                <a:cs typeface="Consolas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EDEDED"/>
                </a:solidFill>
                <a:latin typeface="Consolas"/>
                <a:ea typeface="MS Gothic"/>
                <a:cs typeface="Consolas"/>
              </a:rPr>
              <a:t>$ ros2 topic list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A6A6A6"/>
                </a:solidFill>
                <a:latin typeface="Consolas"/>
                <a:ea typeface="MS Gothic"/>
                <a:cs typeface="Consolas"/>
              </a:rPr>
              <a:t>/turtle1/cmd_vel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A6A6A6"/>
                </a:solidFill>
                <a:latin typeface="Consolas"/>
                <a:ea typeface="MS Gothic"/>
                <a:cs typeface="Consolas"/>
              </a:rPr>
              <a:t>/turtle1/pose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A6A6A6"/>
                </a:solidFill>
                <a:latin typeface="Consolas"/>
                <a:ea typeface="MS Gothic"/>
                <a:cs typeface="Consolas"/>
              </a:rPr>
              <a:t>...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EDEDED"/>
                </a:solidFill>
                <a:latin typeface="Consolas"/>
                <a:ea typeface="MS Gothic"/>
                <a:cs typeface="Consolas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EDEDED"/>
                </a:solidFill>
                <a:latin typeface="Consolas"/>
                <a:ea typeface="MS Gothic"/>
                <a:cs typeface="Consolas"/>
              </a:rPr>
              <a:t>$ ros2 topic echo /turtle1/pose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A6A6A6"/>
                </a:solidFill>
                <a:latin typeface="Consolas"/>
                <a:ea typeface="MS Gothic"/>
                <a:cs typeface="Consolas"/>
              </a:rPr>
              <a:t>x: 5.54  y: 5.54 ...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EDEDED"/>
                </a:solidFill>
                <a:latin typeface="Consolas"/>
                <a:ea typeface="MS Gothic"/>
                <a:cs typeface="Consolas"/>
              </a:rPr>
              <a:t>  </a:t>
            </a:r>
            <a:r>
              <a:rPr sz="1300" b="0" i="0">
                <a:solidFill>
                  <a:srgbClr val="8FBF7F"/>
                </a:solidFill>
                <a:latin typeface="Consolas"/>
                <a:ea typeface="MS Gothic"/>
                <a:cs typeface="Consolas"/>
              </a:rPr>
              <a:t># Ctrl+C で止める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0515600" cy="822960"/>
          </a:xfrm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自分の作業部屋を作ってビルドする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400800"/>
            <a:ext cx="3657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8C8C8C"/>
                </a:solidFill>
                <a:latin typeface="MS PGothic"/>
                <a:ea typeface="MS PGothic"/>
                <a:cs typeface="MS PGothic"/>
              </a:rPr>
              <a:t>Ubuntu・ROS 2 コマンドガイド  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14984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ros2can などのパッケージを使うときの流れです。最初は先輩と一緒にやりましょう。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920239"/>
            <a:ext cx="457200" cy="457200"/>
          </a:xfrm>
          <a:prstGeom prst="ellipse">
            <a:avLst/>
          </a:prstGeom>
          <a:solidFill>
            <a:srgbClr val="CB1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856231"/>
            <a:ext cx="402336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作業部屋（ワークスペース）を作る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221991"/>
            <a:ext cx="402336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ros2_ws と、その中に src を作る（初回だけ）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880359"/>
            <a:ext cx="457200" cy="457200"/>
          </a:xfrm>
          <a:prstGeom prst="ellipse">
            <a:avLst/>
          </a:prstGeom>
          <a:solidFill>
            <a:srgbClr val="CB1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816351"/>
            <a:ext cx="402336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src にパッケージを持ってくる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182111"/>
            <a:ext cx="402336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git clone でインターネットからコピー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840480"/>
            <a:ext cx="457200" cy="457200"/>
          </a:xfrm>
          <a:prstGeom prst="ellipse">
            <a:avLst/>
          </a:prstGeom>
          <a:solidFill>
            <a:srgbClr val="CB1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776472"/>
            <a:ext cx="402336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ros2_ws に戻ってビルド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4142232"/>
            <a:ext cx="402336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colcon build。src の中ではなく ros2_ws でやる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4800600"/>
            <a:ext cx="457200" cy="457200"/>
          </a:xfrm>
          <a:prstGeom prst="ellipse">
            <a:avLst/>
          </a:prstGeom>
          <a:solidFill>
            <a:srgbClr val="CB1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4736592"/>
            <a:ext cx="402336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できたものを読み込む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5102352"/>
            <a:ext cx="402336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source install/setup.bash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49240" y="1874519"/>
            <a:ext cx="5394960" cy="3886200"/>
          </a:xfrm>
          <a:prstGeom prst="roundRect">
            <a:avLst>
              <a:gd name="adj" fmla="val 4000"/>
            </a:avLst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82880" rIns="182880" tIns="128016" bIns="128016" wrap="square"/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8FBF7F"/>
                </a:solidFill>
                <a:latin typeface="Consolas"/>
                <a:ea typeface="MS Gothic"/>
                <a:cs typeface="Consolas"/>
              </a:rPr>
              <a:t># 1. 作業部屋を作る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DEDED"/>
                </a:solidFill>
                <a:latin typeface="Consolas"/>
                <a:ea typeface="MS Gothic"/>
                <a:cs typeface="Consolas"/>
              </a:rPr>
              <a:t>mkdir -p ~/ros2_ws/src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DEDED"/>
                </a:solidFill>
                <a:latin typeface="Consolas"/>
                <a:ea typeface="MS Gothic"/>
                <a:cs typeface="Consolas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8FBF7F"/>
                </a:solidFill>
                <a:latin typeface="Consolas"/>
                <a:ea typeface="MS Gothic"/>
                <a:cs typeface="Consolas"/>
              </a:rPr>
              <a:t># 2. パッケージを持ってくる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DEDED"/>
                </a:solidFill>
                <a:latin typeface="Consolas"/>
                <a:ea typeface="MS Gothic"/>
                <a:cs typeface="Consolas"/>
              </a:rPr>
              <a:t>cd ~/ros2_ws/src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DEDED"/>
                </a:solidFill>
                <a:latin typeface="Consolas"/>
                <a:ea typeface="MS Gothic"/>
                <a:cs typeface="Consolas"/>
              </a:rPr>
              <a:t>git clone https://github.com/RRST-NHK-Project/ros2can.git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DEDED"/>
                </a:solidFill>
                <a:latin typeface="Consolas"/>
                <a:ea typeface="MS Gothic"/>
                <a:cs typeface="Consolas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8FBF7F"/>
                </a:solidFill>
                <a:latin typeface="Consolas"/>
                <a:ea typeface="MS Gothic"/>
                <a:cs typeface="Consolas"/>
              </a:rPr>
              <a:t># 3. ビルド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DEDED"/>
                </a:solidFill>
                <a:latin typeface="Consolas"/>
                <a:ea typeface="MS Gothic"/>
                <a:cs typeface="Consolas"/>
              </a:rPr>
              <a:t>cd ~/ros2_ws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DEDED"/>
                </a:solidFill>
                <a:latin typeface="Consolas"/>
                <a:ea typeface="MS Gothic"/>
                <a:cs typeface="Consolas"/>
              </a:rPr>
              <a:t>colcon build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DEDED"/>
                </a:solidFill>
                <a:latin typeface="Consolas"/>
                <a:ea typeface="MS Gothic"/>
                <a:cs typeface="Consolas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8FBF7F"/>
                </a:solidFill>
                <a:latin typeface="Consolas"/>
                <a:ea typeface="MS Gothic"/>
                <a:cs typeface="Consolas"/>
              </a:rPr>
              <a:t># 4. 読み込む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DEDED"/>
                </a:solidFill>
                <a:latin typeface="Consolas"/>
                <a:ea typeface="MS Gothic"/>
                <a:cs typeface="Consolas"/>
              </a:rPr>
              <a:t>source install/setup.bash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0515600" cy="822960"/>
          </a:xfrm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よくあるエラーと直し方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400800"/>
            <a:ext cx="3657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8C8C8C"/>
                </a:solidFill>
                <a:latin typeface="MS PGothic"/>
                <a:ea typeface="MS PGothic"/>
                <a:cs typeface="MS PGothic"/>
              </a:rPr>
              <a:t>Ubuntu・ROS 2 コマンドガイド   22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71600"/>
          <a:ext cx="10149840" cy="34290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200400"/>
                <a:gridCol w="2926080"/>
                <a:gridCol w="4023360"/>
              </a:tblGrid>
              <a:tr h="685800"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MS PGothic"/>
                          <a:ea typeface="MS PGothic"/>
                          <a:cs typeface="MS PGothic"/>
                        </a:rPr>
                        <a:t>こんな表示が出たら</a:t>
                      </a:r>
                    </a:p>
                  </a:txBody>
                  <a:tcPr marL="73152" marR="73152" marT="27432" marB="27432" anchor="ctr">
                    <a:solidFill>
                      <a:srgbClr val="1F1F1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MS PGothic"/>
                          <a:ea typeface="MS PGothic"/>
                          <a:cs typeface="MS PGothic"/>
                        </a:rPr>
                        <a:t>意味・原因</a:t>
                      </a:r>
                    </a:p>
                  </a:txBody>
                  <a:tcPr marL="73152" marR="73152" marT="27432" marB="27432" anchor="ctr">
                    <a:solidFill>
                      <a:srgbClr val="1F1F1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MS PGothic"/>
                          <a:ea typeface="MS PGothic"/>
                          <a:cs typeface="MS PGothic"/>
                        </a:rPr>
                        <a:t>こうする</a:t>
                      </a:r>
                    </a:p>
                  </a:txBody>
                  <a:tcPr marL="73152" marR="73152" marT="27432" marB="27432" anchor="ctr">
                    <a:solidFill>
                      <a:srgbClr val="1F1F1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F1F1F"/>
                          </a:solidFill>
                          <a:latin typeface="Consolas"/>
                          <a:ea typeface="MS Gothic"/>
                          <a:cs typeface="Consolas"/>
                        </a:rPr>
                        <a:t>ros2: command not found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F1F1F"/>
                          </a:solidFill>
                          <a:latin typeface="MS PGothic"/>
                          <a:ea typeface="MS PGothic"/>
                          <a:cs typeface="MS PGothic"/>
                        </a:rPr>
                        <a:t>ros2 が見つからない（source 忘れ）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F1F1F"/>
                          </a:solidFill>
                          <a:latin typeface="MS PGothic"/>
                          <a:ea typeface="MS PGothic"/>
                          <a:cs typeface="MS PGothic"/>
                        </a:rPr>
                        <a:t>source /opt/ros/jazzy/setup.bash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F1F1F"/>
                          </a:solidFill>
                          <a:latin typeface="Consolas"/>
                          <a:ea typeface="MS Gothic"/>
                          <a:cs typeface="Consolas"/>
                        </a:rPr>
                        <a:t>Package '〇〇' not found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F1F1F"/>
                          </a:solidFill>
                          <a:latin typeface="MS PGothic"/>
                          <a:ea typeface="MS PGothic"/>
                          <a:cs typeface="MS PGothic"/>
                        </a:rPr>
                        <a:t>パッケージが見つからない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F1F1F"/>
                          </a:solidFill>
                          <a:latin typeface="MS PGothic"/>
                          <a:ea typeface="MS PGothic"/>
                          <a:cs typeface="MS PGothic"/>
                        </a:rPr>
                        <a:t>ビルドしたか確認 → source install/setup.bash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F1F1F"/>
                          </a:solidFill>
                          <a:latin typeface="Consolas"/>
                          <a:ea typeface="MS Gothic"/>
                          <a:cs typeface="Consolas"/>
                        </a:rPr>
                        <a:t>Permission denied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F1F1F"/>
                          </a:solidFill>
                          <a:latin typeface="MS PGothic"/>
                          <a:ea typeface="MS PGothic"/>
                          <a:cs typeface="MS PGothic"/>
                        </a:rPr>
                        <a:t>許可がない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F1F1F"/>
                          </a:solidFill>
                          <a:latin typeface="MS PGothic"/>
                          <a:ea typeface="MS PGothic"/>
                          <a:cs typeface="MS PGothic"/>
                        </a:rPr>
                        <a:t>sudo を付ける / マイコンなら dialout の設定（16枚目）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F1F1F"/>
                          </a:solidFill>
                          <a:latin typeface="Consolas"/>
                          <a:ea typeface="MS Gothic"/>
                          <a:cs typeface="Consolas"/>
                        </a:rPr>
                        <a:t>No such file or directory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F1F1F"/>
                          </a:solidFill>
                          <a:latin typeface="MS PGothic"/>
                          <a:ea typeface="MS PGothic"/>
                          <a:cs typeface="MS PGothic"/>
                        </a:rPr>
                        <a:t>そのファイル・フォルダがない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F1F1F"/>
                          </a:solidFill>
                          <a:latin typeface="MS PGothic"/>
                          <a:ea typeface="MS PGothic"/>
                          <a:cs typeface="MS PGothic"/>
                        </a:rPr>
                        <a:t>pwd と ls で今の場所を確認。Tab で入力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48640" y="4983480"/>
            <a:ext cx="10149840" cy="77724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5029200"/>
            <a:ext cx="9784080" cy="685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困ったら：エラーの文章をそのままコピーして検索するか、ターミナルの画面ごと先輩に見せましょう。英語でも、最初の数行に原因が書いてあることが多いです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0515600" cy="822960"/>
          </a:xfrm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まとめ：今日のコマンド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400800"/>
            <a:ext cx="3657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8C8C8C"/>
                </a:solidFill>
                <a:latin typeface="MS PGothic"/>
                <a:ea typeface="MS PGothic"/>
                <a:cs typeface="MS PGothic"/>
              </a:rPr>
              <a:t>Ubuntu・ROS 2 コマンドガイド   23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6035040" cy="621792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08176"/>
            <a:ext cx="118872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CB1C14"/>
                </a:solidFill>
                <a:latin typeface="MS PGothic"/>
                <a:ea typeface="MS PGothic"/>
                <a:cs typeface="MS PGothic"/>
              </a:rPr>
              <a:t>移動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1408176"/>
            <a:ext cx="457200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1F1F1F"/>
                </a:solidFill>
                <a:latin typeface="Consolas"/>
                <a:ea typeface="MS Gothic"/>
                <a:cs typeface="Consolas"/>
              </a:rPr>
              <a:t>pwd（どこ？） ls（何がある？） cd（移動）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03120"/>
            <a:ext cx="6035040" cy="621792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39696"/>
            <a:ext cx="118872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CB1C14"/>
                </a:solidFill>
                <a:latin typeface="MS PGothic"/>
                <a:ea typeface="MS PGothic"/>
                <a:cs typeface="MS PGothic"/>
              </a:rPr>
              <a:t>ファイル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2139696"/>
            <a:ext cx="457200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1F1F1F"/>
                </a:solidFill>
                <a:latin typeface="Consolas"/>
                <a:ea typeface="MS Gothic"/>
                <a:cs typeface="Consolas"/>
              </a:rPr>
              <a:t>mkdir cp mv rm cat code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834640"/>
            <a:ext cx="6035040" cy="621792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871216"/>
            <a:ext cx="118872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CB1C14"/>
                </a:solidFill>
                <a:latin typeface="MS PGothic"/>
                <a:ea typeface="MS PGothic"/>
                <a:cs typeface="MS PGothic"/>
              </a:rPr>
              <a:t>ソフト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2871216"/>
            <a:ext cx="457200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1F1F1F"/>
                </a:solidFill>
                <a:latin typeface="Consolas"/>
                <a:ea typeface="MS Gothic"/>
                <a:cs typeface="Consolas"/>
              </a:rPr>
              <a:t>sudo apt update → sudo apt install 名前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566160"/>
            <a:ext cx="6035040" cy="621792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602736"/>
            <a:ext cx="118872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CB1C14"/>
                </a:solidFill>
                <a:latin typeface="MS PGothic"/>
                <a:ea typeface="MS PGothic"/>
                <a:cs typeface="MS PGothic"/>
              </a:rPr>
              <a:t>準備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3602736"/>
            <a:ext cx="457200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1F1F1F"/>
                </a:solidFill>
                <a:latin typeface="Consolas"/>
                <a:ea typeface="MS Gothic"/>
                <a:cs typeface="Consolas"/>
              </a:rPr>
              <a:t>source /opt/ros/jazzy/setup.bash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297680"/>
            <a:ext cx="6035040" cy="621792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334256"/>
            <a:ext cx="118872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CB1C14"/>
                </a:solidFill>
                <a:latin typeface="MS PGothic"/>
                <a:ea typeface="MS PGothic"/>
                <a:cs typeface="MS PGothic"/>
              </a:rPr>
              <a:t>ROS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4334256"/>
            <a:ext cx="457200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1F1F1F"/>
                </a:solidFill>
                <a:latin typeface="Consolas"/>
                <a:ea typeface="MS Gothic"/>
                <a:cs typeface="Consolas"/>
              </a:rPr>
              <a:t>ros2 run / ros2 node list / ros2 topic list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029200"/>
            <a:ext cx="6035040" cy="621792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5065776"/>
            <a:ext cx="118872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CB1C14"/>
                </a:solidFill>
                <a:latin typeface="MS PGothic"/>
                <a:ea typeface="MS PGothic"/>
                <a:cs typeface="MS PGothic"/>
              </a:rPr>
              <a:t>止める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0240" y="5065776"/>
            <a:ext cx="457200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1F1F1F"/>
                </a:solidFill>
                <a:latin typeface="Consolas"/>
                <a:ea typeface="MS Gothic"/>
                <a:cs typeface="Consolas"/>
              </a:rPr>
              <a:t>Ctrl + 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1371600"/>
            <a:ext cx="3749039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次のステップ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0" y="1874519"/>
            <a:ext cx="3749039" cy="3840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ROS 2 公式チュートリアル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docs.ros.org/en/jazzy/Tutorials/</a:t>
            </a:r>
          </a:p>
          <a:p>
            <a:pPr algn="l">
              <a:spcAft>
                <a:spcPts val="1200"/>
              </a:spcAft>
            </a:pPr>
            <a:r>
              <a:rPr sz="115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（亀を使った練習がたくさんある）</a:t>
            </a:r>
          </a:p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ros2can 講習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rrst-nhk-project.github.io/ros2can/</a:t>
            </a:r>
          </a:p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（マイコンを ROS 2 から動かす）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949440" y="4434840"/>
            <a:ext cx="3749039" cy="1325880"/>
          </a:xfrm>
          <a:prstGeom prst="roundRect">
            <a:avLst>
              <a:gd name="adj" fmla="val 6000"/>
            </a:avLst>
          </a:prstGeom>
          <a:solidFill>
            <a:srgbClr val="F9E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0" y="4526280"/>
            <a:ext cx="3383280" cy="11887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CB1C14"/>
                </a:solidFill>
                <a:latin typeface="MS PGothic"/>
                <a:ea typeface="MS PGothic"/>
                <a:cs typeface="MS PGothic"/>
              </a:rPr>
              <a:t>わからなくなったら</a:t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ひとりで悩まず先輩に聞こう。エラー画面を見せると早く解決します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MS PGothic"/>
        <a:ea typeface="MS PGothic"/>
        <a:cs typeface=""/>
        <a:font script="Jpan" typeface="MS PGothic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S PGothic"/>
        <a:ea typeface="MS PGothic"/>
        <a:cs typeface=""/>
        <a:font script="Jpan" typeface="MS P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プレゼンテーション1" id="{7531F1DA-E5ED-4977-9D2C-CB9870891181}" vid="{35052030-CB63-452C-8C6E-2B56BD0C9A5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0</Words>
  <Application>Microsoft Office PowerPoint</Application>
  <PresentationFormat>ワイド画面</PresentationFormat>
  <Paragraphs>0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松枝 勇樹(rr0163fx)</dc:creator>
  <cp:lastModifiedBy>松枝 勇樹(rr0163fx)</cp:lastModifiedBy>
  <cp:revision>1</cp:revision>
  <dcterms:created xsi:type="dcterms:W3CDTF">2024-03-20T13:06:38Z</dcterms:created>
  <dcterms:modified xsi:type="dcterms:W3CDTF">2024-03-20T13:08:05Z</dcterms:modified>
</cp:coreProperties>
</file>
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CB1C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C1D247-16EB-E18B-C91A-8A8A84F6D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8EF692-2EE0-D6DB-389A-4FAA9D486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D6C587-6DD3-05DA-A204-53DD8E8E7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365125"/>
          </a:xfrm>
        </p:spPr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B002EB-904F-4CEA-CADF-F5E0DBBF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ECFC0B-B0DD-4523-1EC9-F025D88B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371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579AEF-4E7C-ED37-5EA9-1DC7E3D21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6F3ABD-CDE6-6E00-BF9B-047B6ADF8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A7254F-760E-45C2-78EE-E70E77248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AF2616-0E36-4F53-CD06-93FE0880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18C036-B90B-0F85-89BA-54CE64AD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23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4AA507-2FB7-546F-814C-4A1C7420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15DA0E-F142-2BBE-190D-5255C2C00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F7DFE-2476-1E59-69D7-D1F19205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BC7B36-421F-73C6-5463-76E9A6AE0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A2A7CA-E3EA-4404-081A-07B89424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918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697F30-45AF-25E6-5A3E-A95AF98C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9211B7-F7CF-5A06-F8F9-55E3DB08C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56EB9B-828C-218C-A915-6A838FAAB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45FEE2-C1CB-8EA0-9002-B1432AC24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FEAD8C-6EE1-F9BF-F92B-098BD3D07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AD94AE-954A-F497-265E-4C308A2A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968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67EE21-8A4D-D745-1D42-74EDFF800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CC70AB-A5A4-49B2-3BC9-787B8169D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97D4A6-122F-9D1B-69FA-F706C97FE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DE0982-B4F7-ECFA-591F-89FBF89F2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1921522-38F1-F7FC-C0A3-F651903F6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A203241-B954-1126-5A3E-09DD2715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6CD0B2-EAFE-2BF4-C497-5B6F2B57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DA945BC-759C-C4C1-4978-CBC8862E6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34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E4BB3F-9DED-D314-7704-82349489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956715-9D1B-B43F-6FBC-907C3E215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FD98C2-7913-13BB-5ADF-0A00AB8E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B633EA-620C-6DDB-54AC-5F1C605A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491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766E37-50FF-E806-6613-642EA744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C42828-EA14-7DEC-6FA0-ACE7895D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101C4B-73D8-99C1-DA02-F319131D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435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52B953-8868-5B19-2C35-E170A9A3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B70D0-DD11-06D8-4E15-3A804C0EA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812A24-C52D-93A7-9016-A886424D9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50BFA1-13D9-0A9E-3782-76ADE44FF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0D9597-7E26-83EC-AF24-DE5863E5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4F15F0-074E-4473-6585-90FC0905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34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73A893-FB27-B4F3-2D9E-E3B1BDBF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4EC2060-304A-FAC1-1875-E7246B58C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E32873-C8F0-0F20-9ED9-168FC1864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5B8F9E-0905-4D85-CE31-E6CB934F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6A1FDE-71DE-89E8-B95B-94D894A3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7CFA1B-DB81-8991-B1D7-6E4355B0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708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148A88-8E9A-49C0-3075-4B7A4DE1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AABDF43-9207-EAE8-45CF-032DCADF9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40A2E-6D30-9407-937D-1DB8B873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139FB1-4A28-280A-EF0B-9DEC926D6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960C17-2AEA-C4A0-E757-303AAA20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36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024A0FD-2210-A691-13DA-677F881B0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4C7A7B-C4E0-DD68-3327-74DA3771A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7944CB-241F-41DA-FB61-E7FDB65E7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A52921-D26E-F9F9-F0FC-9FD443FFE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88D856-F717-F6DC-E313-BC536B8E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6107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7BB161A-6234-7C02-059C-D3AE676F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C9F829-8192-70DC-85DA-8E1C49AEF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D9A6A1-72EC-FA32-C0A2-77E8F0AE2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7519F0-6940-8B04-61AE-FB7C31E71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4CD484-8D28-77F7-F415-29C4934FF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8" name="図 7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FF906BC4-088A-CAD4-0688-FDCCD3E37DB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783" y="136525"/>
            <a:ext cx="2659338" cy="744399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FDC60E9-6C06-B33B-180C-F0204CBC0AA1}"/>
              </a:ext>
            </a:extLst>
          </p:cNvPr>
          <p:cNvSpPr/>
          <p:nvPr userDrawn="1"/>
        </p:nvSpPr>
        <p:spPr>
          <a:xfrm rot="16745820">
            <a:off x="5751924" y="5728795"/>
            <a:ext cx="12496267" cy="1436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74BAA90-B259-5D7B-725A-60C1DC270EBE}"/>
              </a:ext>
            </a:extLst>
          </p:cNvPr>
          <p:cNvSpPr/>
          <p:nvPr userDrawn="1"/>
        </p:nvSpPr>
        <p:spPr>
          <a:xfrm rot="21324172">
            <a:off x="535422" y="6538809"/>
            <a:ext cx="12496267" cy="1053548"/>
          </a:xfrm>
          <a:prstGeom prst="rect">
            <a:avLst/>
          </a:prstGeom>
          <a:solidFill>
            <a:srgbClr val="CB1C14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平行四辺形 12">
            <a:extLst>
              <a:ext uri="{FF2B5EF4-FFF2-40B4-BE49-F238E27FC236}">
                <a16:creationId xmlns:a16="http://schemas.microsoft.com/office/drawing/2014/main" id="{B456FFD5-F931-135A-2222-1028B9A03666}"/>
              </a:ext>
            </a:extLst>
          </p:cNvPr>
          <p:cNvSpPr/>
          <p:nvPr userDrawn="1"/>
        </p:nvSpPr>
        <p:spPr>
          <a:xfrm rot="21289408">
            <a:off x="11089814" y="6116811"/>
            <a:ext cx="1757764" cy="1078055"/>
          </a:xfrm>
          <a:prstGeom prst="parallelogram">
            <a:avLst>
              <a:gd name="adj" fmla="val 2594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26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54480"/>
            <a:ext cx="9418320" cy="1463040"/>
          </a:xfrm>
        </p:spPr>
        <p:txBody>
          <a:bodyPr/>
          <a:lstStyle/>
          <a:p>
            <a:pPr algn="ctr"/>
            <a:r>
              <a:rPr sz="2400" b="1">
                <a:solidFill>
                  <a:srgbClr val="CB1C14"/>
                </a:solidFill>
              </a:rPr>
              <a:t>ROS 2 Jazzy 入門 02</a:t>
            </a:r>
          </a:p>
          <a:p>
            <a:pPr algn="ctr"/>
            <a:r>
              <a:rPr sz="4000" b="1">
                <a:solidFill>
                  <a:srgbClr val="1F1F1F"/>
                </a:solidFill>
              </a:rPr>
              <a:t>ワークスペースと colcon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291840"/>
            <a:ext cx="9418320" cy="1280160"/>
          </a:xfrm>
        </p:spPr>
        <p:txBody>
          <a:bodyPr/>
          <a:lstStyle/>
          <a:p>
            <a:pPr algn="ctr"/>
            <a:r>
              <a:rPr sz="1800">
                <a:solidFill>
                  <a:srgbClr val="1F1F1F"/>
                </a:solidFill>
              </a:rPr>
              <a:t>公式チュートリアル準拠：Creating a workspace / Using colcon to build packages</a:t>
            </a:r>
          </a:p>
          <a:p>
            <a:pPr algn="ctr"/>
            <a:r>
              <a:rPr sz="1800">
                <a:solidFill>
                  <a:srgbClr val="1F1F1F"/>
                </a:solidFill>
              </a:rPr>
              <a:t>立命館大学 ロボット技術研究会 RRST NHKプロジェクト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この講習の流れ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02 ワークスペース   2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概要と用語</a:t>
            </a:r>
          </a:p>
        </p:txBody>
      </p:sp>
      <p:sp>
        <p:nvSpPr>
          <p:cNvPr id="7" name="Card"/>
          <p:cNvSpPr/>
          <p:nvPr/>
        </p:nvSpPr>
        <p:spPr>
          <a:xfrm>
            <a:off x="2596896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25496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5496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ワーク</a:t>
            </a:r>
          </a:p>
          <a:p>
            <a:pPr algn="l"/>
            <a:r>
              <a:rPr sz="1800" b="1">
                <a:solidFill>
                  <a:srgbClr val="FFFFFF"/>
                </a:solidFill>
              </a:rPr>
              <a:t>スペース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5496" y="32918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B1C14"/>
                </a:solidFill>
              </a:rPr>
              <a:t>← 今回</a:t>
            </a:r>
          </a:p>
        </p:txBody>
      </p:sp>
      <p:sp>
        <p:nvSpPr>
          <p:cNvPr id="11" name="Card"/>
          <p:cNvSpPr/>
          <p:nvPr/>
        </p:nvSpPr>
        <p:spPr>
          <a:xfrm>
            <a:off x="4645152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2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パッケージ</a:t>
            </a:r>
          </a:p>
        </p:txBody>
      </p:sp>
      <p:sp>
        <p:nvSpPr>
          <p:cNvPr id="14" name="Card"/>
          <p:cNvSpPr/>
          <p:nvPr/>
        </p:nvSpPr>
        <p:spPr>
          <a:xfrm>
            <a:off x="6693408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22008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Pub / Sub</a:t>
            </a:r>
          </a:p>
          <a:p>
            <a:pPr algn="l"/>
            <a:r>
              <a:rPr sz="1800" b="1">
                <a:solidFill>
                  <a:srgbClr val="1F1F1F"/>
                </a:solidFill>
              </a:rPr>
              <a:t>Python</a:t>
            </a:r>
          </a:p>
        </p:txBody>
      </p:sp>
      <p:sp>
        <p:nvSpPr>
          <p:cNvPr id="17" name="Card"/>
          <p:cNvSpPr/>
          <p:nvPr/>
        </p:nvSpPr>
        <p:spPr>
          <a:xfrm>
            <a:off x="8741664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0264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Pub / Sub</a:t>
            </a:r>
          </a:p>
          <a:p>
            <a:pPr algn="l"/>
            <a:r>
              <a:rPr sz="1800" b="1">
                <a:solidFill>
                  <a:srgbClr val="1F1F1F"/>
                </a:solidFill>
              </a:rPr>
              <a:t>C++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</a:rPr>
              <a:t>内容は公式ドキュメント </a:t>
            </a:r>
            <a:r>
              <a:rPr sz="1800" b="1">
                <a:solidFill>
                  <a:srgbClr val="1F1F1F"/>
                </a:solidFill>
              </a:rPr>
              <a:t>ROS 2 Documentation: Jazzy</a:t>
            </a:r>
            <a:r>
              <a:rPr sz="1800" b="0">
                <a:solidFill>
                  <a:srgbClr val="1F1F1F"/>
                </a:solidFill>
              </a:rPr>
              <a:t>（docs.ros.org/en/jazzy/）に準拠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ワークスペースとは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02 ワークスペース   3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Creating a workspace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25880"/>
            <a:ext cx="60350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ROS 2 のパッケージを置くフォルダ</a:t>
            </a:r>
          </a:p>
          <a:p>
            <a:r>
              <a:rPr sz="1700">
                <a:solidFill>
                  <a:srgbClr val="404040"/>
                </a:solidFill>
              </a:rPr>
              <a:t>　→ </a:t>
            </a:r>
            <a:r>
              <a:rPr sz="1700" b="0">
                <a:solidFill>
                  <a:srgbClr val="404040"/>
                </a:solidFill>
              </a:rPr>
              <a:t>中に src フォルダを作り、パッケージのソースコードを置く</a:t>
            </a:r>
          </a:p>
          <a:p>
            <a:pPr>
              <a:spcBef>
                <a:spcPts val="10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使う前に、ROS 2 本体をターミナルに読み込む（source）</a:t>
            </a:r>
          </a:p>
          <a:p>
            <a:pPr>
              <a:spcBef>
                <a:spcPts val="10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アンダーレイ（underlay）</a:t>
            </a:r>
          </a:p>
          <a:p>
            <a:r>
              <a:rPr sz="1700">
                <a:solidFill>
                  <a:srgbClr val="404040"/>
                </a:solidFill>
              </a:rPr>
              <a:t>　→ </a:t>
            </a:r>
            <a:r>
              <a:rPr sz="1700" b="0">
                <a:solidFill>
                  <a:srgbClr val="404040"/>
                </a:solidFill>
              </a:rPr>
              <a:t>土台となる環境。今回は ROS 2 本体</a:t>
            </a:r>
          </a:p>
          <a:p>
            <a:pPr>
              <a:spcBef>
                <a:spcPts val="10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オーバーレイ（overlay）</a:t>
            </a:r>
          </a:p>
          <a:p>
            <a:r>
              <a:rPr sz="1700">
                <a:solidFill>
                  <a:srgbClr val="404040"/>
                </a:solidFill>
              </a:rPr>
              <a:t>　→ </a:t>
            </a:r>
            <a:r>
              <a:rPr sz="1700" b="0">
                <a:solidFill>
                  <a:srgbClr val="404040"/>
                </a:solidFill>
              </a:rPr>
              <a:t>土台の上に重ねる作業用のワークスペース</a:t>
            </a:r>
          </a:p>
          <a:p>
            <a:r>
              <a:rPr sz="1700">
                <a:solidFill>
                  <a:srgbClr val="404040"/>
                </a:solidFill>
              </a:rPr>
              <a:t>　→ </a:t>
            </a:r>
            <a:r>
              <a:rPr sz="1700" b="0">
                <a:solidFill>
                  <a:srgbClr val="404040"/>
                </a:solidFill>
              </a:rPr>
              <a:t>ROS 2 本体を変えずにパッケージを追加できる</a:t>
            </a:r>
          </a:p>
        </p:txBody>
      </p:sp>
      <p:sp>
        <p:nvSpPr>
          <p:cNvPr id="6" name="Overlay"/>
          <p:cNvSpPr/>
          <p:nvPr/>
        </p:nvSpPr>
        <p:spPr>
          <a:xfrm>
            <a:off x="7040880" y="1554480"/>
            <a:ext cx="3749039" cy="128016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F1F1F"/>
                </a:solidFill>
              </a:rPr>
              <a:t>オーバーレイ</a:t>
            </a:r>
          </a:p>
          <a:p>
            <a:pPr algn="ctr"/>
            <a:r>
              <a:rPr sz="1800" b="0">
                <a:solidFill>
                  <a:srgbClr val="1F1F1F"/>
                </a:solidFill>
                <a:latin typeface="Consolas"/>
              </a:rPr>
              <a:t>~/ros2_ws</a:t>
            </a:r>
          </a:p>
        </p:txBody>
      </p:sp>
      <p:sp>
        <p:nvSpPr>
          <p:cNvPr id="8" name="Underlay"/>
          <p:cNvSpPr/>
          <p:nvPr/>
        </p:nvSpPr>
        <p:spPr>
          <a:xfrm>
            <a:off x="7040880" y="3063240"/>
            <a:ext cx="3749039" cy="128016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3063240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アンダーレイ</a:t>
            </a:r>
          </a:p>
          <a:p>
            <a:pPr algn="ctr"/>
            <a:r>
              <a:rPr sz="1800" b="0">
                <a:solidFill>
                  <a:srgbClr val="B5B5B5"/>
                </a:solidFill>
                <a:latin typeface="Consolas"/>
              </a:rPr>
              <a:t>/opt/ros/jazzy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443484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595959"/>
                </a:solidFill>
              </a:rPr>
              <a:t>同じパッケージがあればオーバーレイが優先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colcon とは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02 ワークスペース   4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Using colcon to build packages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25880"/>
            <a:ext cx="10058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>
                <a:solidFill>
                  <a:srgbClr val="1F1F1F"/>
                </a:solidFill>
              </a:rPr>
              <a:t>・</a:t>
            </a:r>
            <a:r>
              <a:rPr sz="2300" b="0">
                <a:solidFill>
                  <a:srgbClr val="1F1F1F"/>
                </a:solidFill>
              </a:rPr>
              <a:t>ROS 2 のワークスペースをビルドするツール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800" b="0">
                <a:solidFill>
                  <a:srgbClr val="404040"/>
                </a:solidFill>
              </a:rPr>
              <a:t>ROS のビルドツール catkin_make・catkin_make_isolated・catkin_tools・ament_tools の後継</a:t>
            </a:r>
          </a:p>
          <a:p>
            <a:pPr>
              <a:spcBef>
                <a:spcPts val="1200"/>
              </a:spcBef>
            </a:pPr>
            <a:r>
              <a:rPr sz="2300">
                <a:solidFill>
                  <a:srgbClr val="1F1F1F"/>
                </a:solidFill>
              </a:rPr>
              <a:t>・</a:t>
            </a:r>
            <a:r>
              <a:rPr sz="2300" b="0">
                <a:solidFill>
                  <a:srgbClr val="1F1F1F"/>
                </a:solidFill>
              </a:rPr>
              <a:t>ソースとは別の場所にビルドする（out-of-source build）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800" b="0">
                <a:solidFill>
                  <a:srgbClr val="404040"/>
                </a:solidFill>
              </a:rPr>
              <a:t>src と同じ階層に build・install・log フォルダを作る</a:t>
            </a:r>
          </a:p>
          <a:p>
            <a:pPr>
              <a:spcBef>
                <a:spcPts val="1200"/>
              </a:spcBef>
            </a:pPr>
            <a:r>
              <a:rPr sz="2300">
                <a:solidFill>
                  <a:srgbClr val="1F1F1F"/>
                </a:solidFill>
              </a:rPr>
              <a:t>・</a:t>
            </a:r>
            <a:r>
              <a:rPr sz="2300" b="0">
                <a:solidFill>
                  <a:srgbClr val="1F1F1F"/>
                </a:solidFill>
              </a:rPr>
              <a:t>対応するビルドタイプ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800" b="0">
                <a:solidFill>
                  <a:srgbClr val="404040"/>
                </a:solidFill>
              </a:rPr>
              <a:t>推奨は ament_cmake と ament_python。素の cmake パッケージも扱える</a:t>
            </a:r>
          </a:p>
          <a:p>
            <a:pPr>
              <a:spcBef>
                <a:spcPts val="1200"/>
              </a:spcBef>
            </a:pPr>
            <a:r>
              <a:rPr sz="2300">
                <a:solidFill>
                  <a:srgbClr val="1F1F1F"/>
                </a:solidFill>
              </a:rPr>
              <a:t>・</a:t>
            </a:r>
            <a:r>
              <a:rPr sz="2300" b="0">
                <a:solidFill>
                  <a:srgbClr val="1F1F1F"/>
                </a:solidFill>
              </a:rPr>
              <a:t>パッケージの情報は package.xml から読む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準備しておくもの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02 ワークスペース   5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Using colcon to build packages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71600"/>
            <a:ext cx="10058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>
                <a:solidFill>
                  <a:srgbClr val="1F1F1F"/>
                </a:solidFill>
              </a:rPr>
              <a:t>・</a:t>
            </a:r>
            <a:r>
              <a:rPr sz="2600" b="0">
                <a:solidFill>
                  <a:srgbClr val="1F1F1F"/>
                </a:solidFill>
              </a:rPr>
              <a:t>ROS 2（Jazzy）</a:t>
            </a:r>
          </a:p>
          <a:p>
            <a:pPr>
              <a:spcBef>
                <a:spcPts val="1800"/>
              </a:spcBef>
            </a:pPr>
            <a:r>
              <a:rPr sz="2600">
                <a:solidFill>
                  <a:srgbClr val="1F1F1F"/>
                </a:solidFill>
              </a:rPr>
              <a:t>・</a:t>
            </a:r>
            <a:r>
              <a:rPr sz="2600" b="0">
                <a:solidFill>
                  <a:srgbClr val="1F1F1F"/>
                </a:solidFill>
              </a:rPr>
              <a:t>colcon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800" b="0">
                <a:solidFill>
                  <a:srgbClr val="404040"/>
                </a:solidFill>
                <a:latin typeface="Consolas"/>
              </a:rPr>
              <a:t>sudo apt install python3-colcon-common-extensions</a:t>
            </a:r>
          </a:p>
          <a:p>
            <a:pPr>
              <a:spcBef>
                <a:spcPts val="1800"/>
              </a:spcBef>
            </a:pPr>
            <a:r>
              <a:rPr sz="2600">
                <a:solidFill>
                  <a:srgbClr val="1F1F1F"/>
                </a:solidFill>
              </a:rPr>
              <a:t>・</a:t>
            </a:r>
            <a:r>
              <a:rPr sz="2600" b="0">
                <a:solidFill>
                  <a:srgbClr val="1F1F1F"/>
                </a:solidFill>
              </a:rPr>
              <a:t>ターミナルの基本操作と、テキストエディタ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ワークスペース作成の流れ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02 ワークスペース   6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Creating a workspace</a:t>
            </a:r>
          </a:p>
        </p:txBody>
      </p:sp>
      <p:sp>
        <p:nvSpPr>
          <p:cNvPr id="5" name="Number"/>
          <p:cNvSpPr/>
          <p:nvPr/>
        </p:nvSpPr>
        <p:spPr>
          <a:xfrm>
            <a:off x="548640" y="1499616"/>
            <a:ext cx="438912" cy="438912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996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1463040"/>
            <a:ext cx="9418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solidFill>
                  <a:srgbClr val="1F1F1F"/>
                </a:solidFill>
              </a:rPr>
              <a:t>ROS 2 本体を読み込む（アンダーレイ）</a:t>
            </a:r>
          </a:p>
        </p:txBody>
      </p:sp>
      <p:sp>
        <p:nvSpPr>
          <p:cNvPr id="8" name="Number"/>
          <p:cNvSpPr/>
          <p:nvPr/>
        </p:nvSpPr>
        <p:spPr>
          <a:xfrm>
            <a:off x="548640" y="2276856"/>
            <a:ext cx="438912" cy="438912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7685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240280"/>
            <a:ext cx="9418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solidFill>
                  <a:srgbClr val="1F1F1F"/>
                </a:solidFill>
              </a:rPr>
              <a:t>ワークスペースのフォルダを作る</a:t>
            </a:r>
          </a:p>
        </p:txBody>
      </p:sp>
      <p:sp>
        <p:nvSpPr>
          <p:cNvPr id="11" name="Number"/>
          <p:cNvSpPr/>
          <p:nvPr/>
        </p:nvSpPr>
        <p:spPr>
          <a:xfrm>
            <a:off x="548640" y="3054096"/>
            <a:ext cx="438912" cy="438912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5409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3017520"/>
            <a:ext cx="9418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solidFill>
                  <a:srgbClr val="1F1F1F"/>
                </a:solidFill>
              </a:rPr>
              <a:t>colcon でビルドする</a:t>
            </a:r>
          </a:p>
        </p:txBody>
      </p:sp>
      <p:sp>
        <p:nvSpPr>
          <p:cNvPr id="14" name="Number"/>
          <p:cNvSpPr/>
          <p:nvPr/>
        </p:nvSpPr>
        <p:spPr>
          <a:xfrm>
            <a:off x="548640" y="3831336"/>
            <a:ext cx="438912" cy="438912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3133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3794760"/>
            <a:ext cx="9418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solidFill>
                  <a:srgbClr val="1F1F1F"/>
                </a:solidFill>
              </a:rPr>
              <a:t>ビルドしたワークスペースを読み込む（オーバーレイ）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手順1・2　読み込みとフォルダ作成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02 ワークスペース   7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Creating a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</a:rPr>
              <a:t>1　ROS 2 本体を読み込む（これがアンダーレイになる）</a:t>
            </a:r>
          </a:p>
        </p:txBody>
      </p:sp>
      <p:sp>
        <p:nvSpPr>
          <p:cNvPr id="6" name="Console"/>
          <p:cNvSpPr/>
          <p:nvPr/>
        </p:nvSpPr>
        <p:spPr>
          <a:xfrm>
            <a:off x="548640" y="178308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sole text"/>
          <p:cNvSpPr txBox="1"/>
          <p:nvPr/>
        </p:nvSpPr>
        <p:spPr>
          <a:xfrm>
            <a:off x="822959" y="196596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FD17F"/>
                </a:solidFill>
                <a:latin typeface="Consolas"/>
              </a:rPr>
              <a:t>$ </a:t>
            </a:r>
            <a:r>
              <a:rPr sz="2000" b="0">
                <a:solidFill>
                  <a:srgbClr val="FFFFFF"/>
                </a:solidFill>
                <a:latin typeface="Consolas"/>
              </a:rPr>
              <a:t>source /opt/ros/jazzy/setup.bash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</a:rPr>
              <a:t>2　ワークスペースのフォルダを作る</a:t>
            </a:r>
          </a:p>
        </p:txBody>
      </p:sp>
      <p:sp>
        <p:nvSpPr>
          <p:cNvPr id="9" name="Console"/>
          <p:cNvSpPr/>
          <p:nvPr/>
        </p:nvSpPr>
        <p:spPr>
          <a:xfrm>
            <a:off x="548640" y="3246120"/>
            <a:ext cx="10058400" cy="10058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sole text"/>
          <p:cNvSpPr txBox="1"/>
          <p:nvPr/>
        </p:nvSpPr>
        <p:spPr>
          <a:xfrm>
            <a:off x="822959" y="342900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FD17F"/>
                </a:solidFill>
                <a:latin typeface="Consolas"/>
              </a:rPr>
              <a:t>$ </a:t>
            </a:r>
            <a:r>
              <a:rPr sz="2000" b="0">
                <a:solidFill>
                  <a:srgbClr val="FFFFFF"/>
                </a:solidFill>
                <a:latin typeface="Consolas"/>
              </a:rPr>
              <a:t>mkdir -p ~/ros2_ws/src</a:t>
            </a:r>
          </a:p>
          <a:p>
            <a:pPr algn="l"/>
            <a:r>
              <a:rPr sz="2000" b="0">
                <a:solidFill>
                  <a:srgbClr val="8FD17F"/>
                </a:solidFill>
                <a:latin typeface="Consolas"/>
              </a:rPr>
              <a:t>$ </a:t>
            </a:r>
            <a:r>
              <a:rPr sz="2000" b="0">
                <a:solidFill>
                  <a:srgbClr val="FFFFFF"/>
                </a:solidFill>
                <a:latin typeface="Consolas"/>
              </a:rPr>
              <a:t>cd ~/ros2_ws</a:t>
            </a:r>
          </a:p>
        </p:txBody>
      </p:sp>
      <p:sp>
        <p:nvSpPr>
          <p:cNvPr id="11" name="Bullets"/>
          <p:cNvSpPr txBox="1"/>
          <p:nvPr/>
        </p:nvSpPr>
        <p:spPr>
          <a:xfrm>
            <a:off x="548640" y="448056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>
                <a:solidFill>
                  <a:srgbClr val="1F1F1F"/>
                </a:solidFill>
              </a:rPr>
              <a:t>・</a:t>
            </a:r>
            <a:r>
              <a:rPr sz="2000" b="0">
                <a:solidFill>
                  <a:srgbClr val="1F1F1F"/>
                </a:solidFill>
              </a:rPr>
              <a:t>ワークスペースごとに新しいフォルダを作る（名前は自由。ここでは ros2_ws）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F1F1F"/>
                </a:solidFill>
              </a:rPr>
              <a:t>・</a:t>
            </a:r>
            <a:r>
              <a:rPr sz="2000" b="0">
                <a:solidFill>
                  <a:srgbClr val="1F1F1F"/>
                </a:solidFill>
              </a:rPr>
              <a:t>パッケージは src フォルダに置く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手順3　colcon でビルドする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02 ワークスペース   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Using colcon to build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</a:rPr>
              <a:t>ワークスペースの直下（ros2_ws）で実行</a:t>
            </a:r>
          </a:p>
        </p:txBody>
      </p:sp>
      <p:sp>
        <p:nvSpPr>
          <p:cNvPr id="6" name="Console"/>
          <p:cNvSpPr/>
          <p:nvPr/>
        </p:nvSpPr>
        <p:spPr>
          <a:xfrm>
            <a:off x="548640" y="182880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sole text"/>
          <p:cNvSpPr txBox="1"/>
          <p:nvPr/>
        </p:nvSpPr>
        <p:spPr>
          <a:xfrm>
            <a:off x="822959" y="201168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8FD17F"/>
                </a:solidFill>
                <a:latin typeface="Consolas"/>
              </a:rPr>
              <a:t>$ </a:t>
            </a:r>
            <a:r>
              <a:rPr sz="2200" b="0">
                <a:solidFill>
                  <a:srgbClr val="FFFFFF"/>
                </a:solidFill>
                <a:latin typeface="Consolas"/>
              </a:rPr>
              <a:t>colcon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Consolas"/>
              </a:rPr>
              <a:t>--symlink-install</a:t>
            </a:r>
            <a:r>
              <a:rPr sz="2000" b="0">
                <a:solidFill>
                  <a:srgbClr val="1F1F1F"/>
                </a:solidFill>
              </a:rPr>
              <a:t> を付けた場合</a:t>
            </a:r>
          </a:p>
        </p:txBody>
      </p:sp>
      <p:sp>
        <p:nvSpPr>
          <p:cNvPr id="9" name="Console"/>
          <p:cNvSpPr/>
          <p:nvPr/>
        </p:nvSpPr>
        <p:spPr>
          <a:xfrm>
            <a:off x="548640" y="338328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sole text"/>
          <p:cNvSpPr txBox="1"/>
          <p:nvPr/>
        </p:nvSpPr>
        <p:spPr>
          <a:xfrm>
            <a:off x="822959" y="356616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8FD17F"/>
                </a:solidFill>
                <a:latin typeface="Consolas"/>
              </a:rPr>
              <a:t>$ </a:t>
            </a:r>
            <a:r>
              <a:rPr sz="2200" b="0">
                <a:solidFill>
                  <a:srgbClr val="FFFFFF"/>
                </a:solidFill>
                <a:latin typeface="Consolas"/>
              </a:rPr>
              <a:t>colcon build --symlink-install</a:t>
            </a:r>
          </a:p>
        </p:txBody>
      </p:sp>
      <p:sp>
        <p:nvSpPr>
          <p:cNvPr id="11" name="Bullets"/>
          <p:cNvSpPr txBox="1"/>
          <p:nvPr/>
        </p:nvSpPr>
        <p:spPr>
          <a:xfrm>
            <a:off x="548640" y="43434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1F1F1F"/>
                </a:solidFill>
              </a:rPr>
              <a:t>・</a:t>
            </a:r>
            <a:r>
              <a:rPr sz="1800" b="0">
                <a:solidFill>
                  <a:srgbClr val="1F1F1F"/>
                </a:solidFill>
              </a:rPr>
              <a:t>ソース側のファイル（Python ファイルなど）を変えると、インストール先にもそのまま反映される</a:t>
            </a:r>
          </a:p>
          <a:p>
            <a:r>
              <a:rPr sz="1600">
                <a:solidFill>
                  <a:srgbClr val="404040"/>
                </a:solidFill>
              </a:rPr>
              <a:t>　→ </a:t>
            </a:r>
            <a:r>
              <a:rPr sz="1600" b="0">
                <a:solidFill>
                  <a:srgbClr val="404040"/>
                </a:solidFill>
              </a:rPr>
              <a:t>ビルドし直さずに試せる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ビルド後のフォルダ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02 ワークスペース   9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Using colcon to build packages</a:t>
            </a:r>
          </a:p>
        </p:txBody>
      </p:sp>
      <p:sp>
        <p:nvSpPr>
          <p:cNvPr id="5" name="Console"/>
          <p:cNvSpPr/>
          <p:nvPr/>
        </p:nvSpPr>
        <p:spPr>
          <a:xfrm>
            <a:off x="548640" y="1325880"/>
            <a:ext cx="5486400" cy="10058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sole text"/>
          <p:cNvSpPr txBox="1"/>
          <p:nvPr/>
        </p:nvSpPr>
        <p:spPr>
          <a:xfrm>
            <a:off x="822959" y="150876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8FD17F"/>
                </a:solidFill>
                <a:latin typeface="Consolas"/>
              </a:rPr>
              <a:t>$ </a:t>
            </a:r>
            <a:r>
              <a:rPr sz="2200" b="0">
                <a:solidFill>
                  <a:srgbClr val="FFFFFF"/>
                </a:solidFill>
                <a:latin typeface="Consolas"/>
              </a:rPr>
              <a:t>ls</a:t>
            </a:r>
          </a:p>
          <a:p>
            <a:pPr algn="l"/>
            <a:r>
              <a:rPr sz="2200" b="0">
                <a:solidFill>
                  <a:srgbClr val="B5B5B5"/>
                </a:solidFill>
                <a:latin typeface="Consolas"/>
              </a:rPr>
              <a:t>build  install  log  src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606040"/>
          <a:ext cx="10058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863840"/>
              </a:tblGrid>
              <a:tr h="585216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フォルダ</a:t>
                      </a:r>
                    </a:p>
                  </a:txBody>
                  <a:tcPr marL="109728" marR="109728" anchor="ctr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中身</a:t>
                      </a:r>
                    </a:p>
                  </a:txBody>
                  <a:tcPr marL="109728" marR="109728" anchor="ctr">
                    <a:solidFill>
                      <a:srgbClr val="26262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1F1F"/>
                          </a:solidFill>
                        </a:rPr>
                        <a:t>src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1F1F"/>
                          </a:solidFill>
                        </a:rPr>
                        <a:t>パッケージのソースコード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1F1F"/>
                          </a:solidFill>
                        </a:rPr>
                        <a:t>build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1F1F"/>
                          </a:solidFill>
                        </a:rPr>
                        <a:t>ビルド途中のファイル。パッケージごとにフォルダができる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1F1F"/>
                          </a:solidFill>
                        </a:rPr>
                        <a:t>install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1F1F"/>
                          </a:solidFill>
                        </a:rPr>
                        <a:t>各パッケージのインストール先（パッケージごとに分かれる）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1F1F"/>
                          </a:solidFill>
                        </a:rPr>
                        <a:t>log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1F1F"/>
                          </a:solidFill>
                        </a:rPr>
                        <a:t>colcon を実行するたびのログ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colcon build のよく使うオプション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02 ワークスペース   10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Creating a workspace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05840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5212080"/>
              </a:tblGrid>
              <a:tr h="62179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オプション</a:t>
                      </a:r>
                    </a:p>
                  </a:txBody>
                  <a:tcPr marL="109728" marR="109728" anchor="ctr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 marL="109728" marR="109728" anchor="ctr">
                    <a:solidFill>
                      <a:srgbClr val="26262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1F1F"/>
                          </a:solidFill>
                        </a:rPr>
                        <a:t>--packages-select &lt;名前&gt;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1F1F"/>
                          </a:solidFill>
                        </a:rPr>
                        <a:t>指定したパッケージだけビルド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1F1F"/>
                          </a:solidFill>
                        </a:rPr>
                        <a:t>--packages-up-to &lt;名前&gt;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1F1F"/>
                          </a:solidFill>
                        </a:rPr>
                        <a:t>指定したパッケージと依存先だけビルド（時間短縮）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1F1F"/>
                          </a:solidFill>
                          <a:latin typeface="Consolas"/>
                        </a:rPr>
                        <a:t>--symlink-install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1F1F"/>
                          </a:solidFill>
                        </a:rPr>
                        <a:t>Python スクリプトを直しても再ビルド不要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1F1F"/>
                          </a:solidFill>
                          <a:latin typeface="Consolas"/>
                        </a:rPr>
                        <a:t>--event-handlers console_direct+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1F1F"/>
                          </a:solidFill>
                        </a:rPr>
                        <a:t>ビルド中のログを画面に表示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1F1F"/>
                          </a:solidFill>
                          <a:latin typeface="Consolas"/>
                        </a:rPr>
                        <a:t>--executor sequential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1F1F"/>
                          </a:solidFill>
                        </a:rPr>
                        <a:t>パッケージを1つずつ順番にビルド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57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--packages-select は「Creating a package」、それ以外は「Creating a workspace」より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手順4　ワークスペースを読み込む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02 ワークスペース   11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Creating a workspace / Using colcon to build packages</a:t>
            </a:r>
          </a:p>
        </p:txBody>
      </p:sp>
      <p:sp>
        <p:nvSpPr>
          <p:cNvPr id="5" name="Warning"/>
          <p:cNvSpPr/>
          <p:nvPr/>
        </p:nvSpPr>
        <p:spPr>
          <a:xfrm>
            <a:off x="548640" y="128016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CB1C14"/>
                </a:solidFill>
              </a:rPr>
              <a:t>ビルドしたターミナルではなく、新しいターミナルで行う</a:t>
            </a:r>
          </a:p>
        </p:txBody>
      </p:sp>
      <p:sp>
        <p:nvSpPr>
          <p:cNvPr id="7" name="Console"/>
          <p:cNvSpPr/>
          <p:nvPr/>
        </p:nvSpPr>
        <p:spPr>
          <a:xfrm>
            <a:off x="548640" y="2194560"/>
            <a:ext cx="10058400" cy="173736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sole text"/>
          <p:cNvSpPr txBox="1"/>
          <p:nvPr/>
        </p:nvSpPr>
        <p:spPr>
          <a:xfrm>
            <a:off x="822959" y="2377440"/>
            <a:ext cx="9509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8FD17F"/>
                </a:solidFill>
                <a:latin typeface="Consolas"/>
              </a:rPr>
              <a:t># アンダーレイ（ROS 2 本体）</a:t>
            </a:r>
          </a:p>
          <a:p>
            <a:pPr algn="l"/>
            <a:r>
              <a:rPr sz="1900" b="0">
                <a:solidFill>
                  <a:srgbClr val="8FD17F"/>
                </a:solidFill>
                <a:latin typeface="Consolas"/>
              </a:rPr>
              <a:t>$ </a:t>
            </a:r>
            <a:r>
              <a:rPr sz="1900" b="0">
                <a:solidFill>
                  <a:srgbClr val="FFFFFF"/>
                </a:solidFill>
                <a:latin typeface="Consolas"/>
              </a:rPr>
              <a:t>source /opt/ros/jazzy/setup.bash</a:t>
            </a:r>
          </a:p>
          <a:p>
            <a:pPr algn="l"/>
            <a:r>
              <a:rPr sz="1900" b="0">
                <a:solidFill>
                  <a:srgbClr val="8FD17F"/>
                </a:solidFill>
                <a:latin typeface="Consolas"/>
              </a:rPr>
              <a:t>$ </a:t>
            </a:r>
            <a:r>
              <a:rPr sz="1900" b="0">
                <a:solidFill>
                  <a:srgbClr val="FFFFFF"/>
                </a:solidFill>
                <a:latin typeface="Consolas"/>
              </a:rPr>
              <a:t>cd ~/ros2_ws</a:t>
            </a:r>
          </a:p>
          <a:p>
            <a:pPr algn="l"/>
            <a:r>
              <a:rPr sz="1900" b="0">
                <a:solidFill>
                  <a:srgbClr val="8FD17F"/>
                </a:solidFill>
                <a:latin typeface="Consolas"/>
              </a:rPr>
              <a:t># オーバーレイ</a:t>
            </a:r>
          </a:p>
          <a:p>
            <a:pPr algn="l"/>
            <a:r>
              <a:rPr sz="1900" b="0">
                <a:solidFill>
                  <a:srgbClr val="8FD17F"/>
                </a:solidFill>
                <a:latin typeface="Consolas"/>
              </a:rPr>
              <a:t>$ </a:t>
            </a:r>
            <a:r>
              <a:rPr sz="1900" b="0">
                <a:solidFill>
                  <a:srgbClr val="FFFFFF"/>
                </a:solidFill>
                <a:latin typeface="Consolas"/>
              </a:rPr>
              <a:t>source install/local_setup.bash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548640" y="416052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1F1F1F"/>
                </a:solidFill>
              </a:rPr>
              <a:t>・</a:t>
            </a:r>
            <a:r>
              <a:rPr sz="1800" b="0">
                <a:solidFill>
                  <a:srgbClr val="1F1F1F"/>
                </a:solidFill>
              </a:rPr>
              <a:t>install に作られる setup ファイルが、パスなどの環境を設定する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F1F1F"/>
                </a:solidFill>
              </a:rPr>
              <a:t>・</a:t>
            </a:r>
            <a:r>
              <a:rPr sz="1800" b="0">
                <a:solidFill>
                  <a:srgbClr val="1F1F1F"/>
                </a:solidFill>
                <a:latin typeface="Consolas"/>
              </a:rPr>
              <a:t>local_setup</a:t>
            </a:r>
            <a:r>
              <a:rPr sz="1800" b="0">
                <a:solidFill>
                  <a:srgbClr val="1F1F1F"/>
                </a:solidFill>
              </a:rPr>
              <a:t>：オーバーレイのパッケージだけを読み込む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F1F1F"/>
                </a:solidFill>
              </a:rPr>
              <a:t>・</a:t>
            </a:r>
            <a:r>
              <a:rPr sz="1800" b="0">
                <a:solidFill>
                  <a:srgbClr val="1F1F1F"/>
                </a:solidFill>
                <a:latin typeface="Consolas"/>
              </a:rPr>
              <a:t>setup</a:t>
            </a:r>
            <a:r>
              <a:rPr sz="1800" b="0">
                <a:solidFill>
                  <a:srgbClr val="1F1F1F"/>
                </a:solidFill>
              </a:rPr>
              <a:t>：オーバーレイと、土台のアンダーレイをまとめて読み込む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colcon の便利な使い方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02 ワークスペース   12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Using colcon to build packages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25880"/>
            <a:ext cx="10058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ビルドしたくないパッケージには、空の </a:t>
            </a:r>
            <a:r>
              <a:rPr sz="2100" b="0">
                <a:solidFill>
                  <a:srgbClr val="1F1F1F"/>
                </a:solidFill>
                <a:latin typeface="Consolas"/>
              </a:rPr>
              <a:t>COLCON_IGNORE</a:t>
            </a:r>
            <a:r>
              <a:rPr sz="2100" b="0">
                <a:solidFill>
                  <a:srgbClr val="1F1F1F"/>
                </a:solidFill>
              </a:rPr>
              <a:t> ファイルを置く</a:t>
            </a:r>
          </a:p>
          <a:p>
            <a:pPr>
              <a:spcBef>
                <a:spcPts val="10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CMake パッケージのテストをビルドしない</a:t>
            </a:r>
          </a:p>
          <a:p>
            <a:r>
              <a:rPr sz="1700">
                <a:solidFill>
                  <a:srgbClr val="404040"/>
                </a:solidFill>
              </a:rPr>
              <a:t>　→ </a:t>
            </a:r>
            <a:r>
              <a:rPr sz="1700" b="0">
                <a:solidFill>
                  <a:srgbClr val="404040"/>
                </a:solidFill>
                <a:latin typeface="Consolas"/>
              </a:rPr>
              <a:t>colcon build --cmake-args -DBUILD_TESTING=0</a:t>
            </a:r>
          </a:p>
          <a:p>
            <a:pPr>
              <a:spcBef>
                <a:spcPts val="10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  <a:latin typeface="Consolas"/>
              </a:rPr>
              <a:t>colcon_cd</a:t>
            </a:r>
            <a:r>
              <a:rPr sz="2100" b="0">
                <a:solidFill>
                  <a:srgbClr val="1F1F1F"/>
                </a:solidFill>
              </a:rPr>
              <a:t>：パッケージのフォルダへすぐ移動できる</a:t>
            </a:r>
          </a:p>
          <a:p>
            <a:r>
              <a:rPr sz="1700">
                <a:solidFill>
                  <a:srgbClr val="404040"/>
                </a:solidFill>
              </a:rPr>
              <a:t>　→ </a:t>
            </a:r>
            <a:r>
              <a:rPr sz="1700" b="0">
                <a:solidFill>
                  <a:srgbClr val="404040"/>
                </a:solidFill>
              </a:rPr>
              <a:t>例：colcon_cd some_ros_package → ~/ros2_ws/src/some_ros_package</a:t>
            </a:r>
          </a:p>
          <a:p>
            <a:r>
              <a:rPr sz="1700">
                <a:solidFill>
                  <a:srgbClr val="404040"/>
                </a:solidFill>
              </a:rPr>
              <a:t>　→ </a:t>
            </a:r>
            <a:r>
              <a:rPr sz="1700" b="0">
                <a:solidFill>
                  <a:srgbClr val="404040"/>
                </a:solidFill>
              </a:rPr>
              <a:t>使うには、次の2行を ~/.bashrc に追加</a:t>
            </a:r>
          </a:p>
        </p:txBody>
      </p:sp>
      <p:sp>
        <p:nvSpPr>
          <p:cNvPr id="6" name="Console"/>
          <p:cNvSpPr/>
          <p:nvPr/>
        </p:nvSpPr>
        <p:spPr>
          <a:xfrm>
            <a:off x="548640" y="3840480"/>
            <a:ext cx="10058400" cy="10058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sole text"/>
          <p:cNvSpPr txBox="1"/>
          <p:nvPr/>
        </p:nvSpPr>
        <p:spPr>
          <a:xfrm>
            <a:off x="822959" y="402336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FD17F"/>
                </a:solidFill>
                <a:latin typeface="Consolas"/>
              </a:rPr>
              <a:t>$ </a:t>
            </a:r>
            <a:r>
              <a:rPr sz="1500" b="0">
                <a:solidFill>
                  <a:srgbClr val="FFFFFF"/>
                </a:solidFill>
                <a:latin typeface="Consolas"/>
              </a:rPr>
              <a:t>echo "source /usr/share/colcon_cd/function/colcon_cd.sh" &gt;&gt; ~/.bashrc</a:t>
            </a:r>
          </a:p>
          <a:p>
            <a:pPr algn="l"/>
            <a:r>
              <a:rPr sz="1500" b="0">
                <a:solidFill>
                  <a:srgbClr val="8FD17F"/>
                </a:solidFill>
                <a:latin typeface="Consolas"/>
              </a:rPr>
              <a:t>$ </a:t>
            </a:r>
            <a:r>
              <a:rPr sz="1500" b="0">
                <a:solidFill>
                  <a:srgbClr val="FFFFFF"/>
                </a:solidFill>
                <a:latin typeface="Consolas"/>
              </a:rPr>
              <a:t>echo "export _colcon_cd_root=/opt/ros/jazzy/" &gt;&gt; ~/.bashrc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参考：公式ドキュメント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02 ワークスペース   13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548640" y="1325880"/>
            <a:ext cx="10058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Creating a workspace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400" b="0">
                <a:solidFill>
                  <a:srgbClr val="404040"/>
                </a:solidFill>
                <a:latin typeface="Consolas"/>
              </a:rPr>
              <a:t>docs.ros.org/en/jazzy/Tutorials/Beginner-Client-Libraries/Creating-A-Workspace/Creating-A-Workspace.html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Using colcon to build packages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400" b="0">
                <a:solidFill>
                  <a:srgbClr val="404040"/>
                </a:solidFill>
                <a:latin typeface="Consolas"/>
              </a:rPr>
              <a:t>docs.ros.org/en/jazzy/Tutorials/Beginner-Client-Libraries/Colcon-Tutorial.html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次の資料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800" b="0">
                <a:solidFill>
                  <a:srgbClr val="404040"/>
                </a:solidFill>
              </a:rPr>
              <a:t>03 パッケージの作成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</a:rPr>
              <a:t>図・コードの出典：ROS 2 Documentation（CC BY 4.0）、ros2/examples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S PGothic"/>
        <a:ea typeface="MS PGothic"/>
        <a:cs typeface=""/>
        <a:font script="Jpan" typeface="MS P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S PGothic"/>
        <a:ea typeface="MS PGothic"/>
        <a:cs typeface=""/>
        <a:font script="Jpan" typeface="MS P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1" id="{7531F1DA-E5ED-4977-9D2C-CB9870891181}" vid="{35052030-CB63-452C-8C6E-2B56BD0C9A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松枝 勇樹(rr0163fx)</dc:creator>
  <cp:lastModifiedBy>松枝 勇樹(rr0163fx)</cp:lastModifiedBy>
  <cp:revision>1</cp:revision>
  <dcterms:created xsi:type="dcterms:W3CDTF">2024-03-20T13:06:38Z</dcterms:created>
  <dcterms:modified xsi:type="dcterms:W3CDTF">2024-03-20T13:08:05Z</dcterms:modified>
</cp:coreProperties>
</file>
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CB1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1D247-16EB-E18B-C91A-8A8A84F6D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8EF692-2EE0-D6DB-389A-4FAA9D486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D6C587-6DD3-05DA-A204-53DD8E8E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365125"/>
          </a:xfrm>
        </p:spPr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002EB-904F-4CEA-CADF-F5E0DBBF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ECFC0B-B0DD-4523-1EC9-F025D88B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37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79AEF-4E7C-ED37-5EA9-1DC7E3D2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6F3ABD-CDE6-6E00-BF9B-047B6ADF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7254F-760E-45C2-78EE-E70E7724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F2616-0E36-4F53-CD06-93FE0880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18C036-B90B-0F85-89BA-54CE64AD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2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AA507-2FB7-546F-814C-4A1C7420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15DA0E-F142-2BBE-190D-5255C2C00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F7DFE-2476-1E59-69D7-D1F19205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C7B36-421F-73C6-5463-76E9A6AE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2A7CA-E3EA-4404-081A-07B89424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18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697F30-45AF-25E6-5A3E-A95AF98C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9211B7-F7CF-5A06-F8F9-55E3DB08C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56EB9B-828C-218C-A915-6A838FAAB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45FEE2-C1CB-8EA0-9002-B1432AC2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FEAD8C-6EE1-F9BF-F92B-098BD3D0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AD94AE-954A-F497-265E-4C308A2A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968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7EE21-8A4D-D745-1D42-74EDFF80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CC70AB-A5A4-49B2-3BC9-787B8169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97D4A6-122F-9D1B-69FA-F706C97FE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DE0982-B4F7-ECFA-591F-89FBF89F2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1921522-38F1-F7FC-C0A3-F651903F6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203241-B954-1126-5A3E-09DD2715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6CD0B2-EAFE-2BF4-C497-5B6F2B57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A945BC-759C-C4C1-4978-CBC8862E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34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4BB3F-9DED-D314-7704-82349489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956715-9D1B-B43F-6FBC-907C3E21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FD98C2-7913-13BB-5ADF-0A00AB8E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B633EA-620C-6DDB-54AC-5F1C605A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91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766E37-50FF-E806-6613-642EA744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42828-EA14-7DEC-6FA0-ACE7895D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101C4B-73D8-99C1-DA02-F319131D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43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52B953-8868-5B19-2C35-E170A9A3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B70D0-DD11-06D8-4E15-3A804C0EA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812A24-C52D-93A7-9016-A886424D9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50BFA1-13D9-0A9E-3782-76ADE44F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0D9597-7E26-83EC-AF24-DE5863E5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4F15F0-074E-4473-6585-90FC0905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34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3A893-FB27-B4F3-2D9E-E3B1BDBF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EC2060-304A-FAC1-1875-E7246B58C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E32873-C8F0-0F20-9ED9-168FC1864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5B8F9E-0905-4D85-CE31-E6CB934F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6A1FDE-71DE-89E8-B95B-94D894A3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7CFA1B-DB81-8991-B1D7-6E4355B0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70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48A88-8E9A-49C0-3075-4B7A4DE1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ABDF43-9207-EAE8-45CF-032DCADF9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40A2E-6D30-9407-937D-1DB8B873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139FB1-4A28-280A-EF0B-9DEC926D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60C17-2AEA-C4A0-E757-303AAA20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36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24A0FD-2210-A691-13DA-677F881B0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4C7A7B-C4E0-DD68-3327-74DA3771A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7944CB-241F-41DA-FB61-E7FDB65E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A52921-D26E-F9F9-F0FC-9FD443FF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8D856-F717-F6DC-E313-BC536B8E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107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BB161A-6234-7C02-059C-D3AE676F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C9F829-8192-70DC-85DA-8E1C49AEF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9A6A1-72EC-FA32-C0A2-77E8F0AE2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7519F0-6940-8B04-61AE-FB7C31E7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CD484-8D28-77F7-F415-29C4934FF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FF906BC4-088A-CAD4-0688-FDCCD3E37D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83" y="136525"/>
            <a:ext cx="2659338" cy="74439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FDC60E9-6C06-B33B-180C-F0204CBC0AA1}"/>
              </a:ext>
            </a:extLst>
          </p:cNvPr>
          <p:cNvSpPr/>
          <p:nvPr userDrawn="1"/>
        </p:nvSpPr>
        <p:spPr>
          <a:xfrm rot="16745820">
            <a:off x="5751924" y="5728795"/>
            <a:ext cx="12496267" cy="1436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4BAA90-B259-5D7B-725A-60C1DC270EBE}"/>
              </a:ext>
            </a:extLst>
          </p:cNvPr>
          <p:cNvSpPr/>
          <p:nvPr userDrawn="1"/>
        </p:nvSpPr>
        <p:spPr>
          <a:xfrm rot="21324172">
            <a:off x="535422" y="6538809"/>
            <a:ext cx="12496267" cy="1053548"/>
          </a:xfrm>
          <a:prstGeom prst="rect">
            <a:avLst/>
          </a:prstGeom>
          <a:solidFill>
            <a:srgbClr val="CB1C1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平行四辺形 12">
            <a:extLst>
              <a:ext uri="{FF2B5EF4-FFF2-40B4-BE49-F238E27FC236}">
                <a16:creationId xmlns:a16="http://schemas.microsoft.com/office/drawing/2014/main" id="{B456FFD5-F931-135A-2222-1028B9A03666}"/>
              </a:ext>
            </a:extLst>
          </p:cNvPr>
          <p:cNvSpPr/>
          <p:nvPr userDrawn="1"/>
        </p:nvSpPr>
        <p:spPr>
          <a:xfrm rot="21289408">
            <a:off x="11089814" y="6116811"/>
            <a:ext cx="1757764" cy="1078055"/>
          </a:xfrm>
          <a:prstGeom prst="parallelogram">
            <a:avLst>
              <a:gd name="adj" fmla="val 2594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26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54480"/>
            <a:ext cx="9418320" cy="1463040"/>
          </a:xfrm>
        </p:spPr>
        <p:txBody>
          <a:bodyPr/>
          <a:lstStyle/>
          <a:p>
            <a:pPr algn="ctr"/>
            <a:r>
              <a:rPr sz="2400" b="1">
                <a:solidFill>
                  <a:srgbClr val="CB1C14"/>
                </a:solidFill>
              </a:rPr>
              <a:t>ROS 2 Jazzy 入門 05</a:t>
            </a:r>
          </a:p>
          <a:p>
            <a:pPr algn="ctr"/>
            <a:r>
              <a:rPr sz="4000" b="1">
                <a:solidFill>
                  <a:srgbClr val="1F1F1F"/>
                </a:solidFill>
              </a:rPr>
              <a:t>Publisher / Subscriber（C++）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291840"/>
            <a:ext cx="9418320" cy="1280160"/>
          </a:xfrm>
        </p:spPr>
        <p:txBody>
          <a:bodyPr/>
          <a:lstStyle/>
          <a:p>
            <a:pPr algn="ctr"/>
            <a:r>
              <a:rPr sz="1800">
                <a:solidFill>
                  <a:srgbClr val="1F1F1F"/>
                </a:solidFill>
              </a:rPr>
              <a:t>公式チュートリアル準拠：Writing a simple publisher and subscriber (C++)</a:t>
            </a:r>
          </a:p>
          <a:p>
            <a:pPr algn="ctr"/>
            <a:r>
              <a:rPr sz="1800">
                <a:solidFill>
                  <a:srgbClr val="1F1F1F"/>
                </a:solidFill>
              </a:rPr>
              <a:t>立命館大学 ロボット技術研究会 RRST NHKプロジェクト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この講習の流れ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2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概要と用語</a:t>
            </a:r>
          </a:p>
        </p:txBody>
      </p:sp>
      <p:sp>
        <p:nvSpPr>
          <p:cNvPr id="7" name="Card"/>
          <p:cNvSpPr/>
          <p:nvPr/>
        </p:nvSpPr>
        <p:spPr>
          <a:xfrm>
            <a:off x="2596896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25496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5496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ワーク</a:t>
            </a:r>
          </a:p>
          <a:p>
            <a:pPr algn="l"/>
            <a:r>
              <a:rPr sz="1800" b="1">
                <a:solidFill>
                  <a:srgbClr val="1F1F1F"/>
                </a:solidFill>
              </a:rPr>
              <a:t>スペース</a:t>
            </a:r>
          </a:p>
        </p:txBody>
      </p:sp>
      <p:sp>
        <p:nvSpPr>
          <p:cNvPr id="10" name="Card"/>
          <p:cNvSpPr/>
          <p:nvPr/>
        </p:nvSpPr>
        <p:spPr>
          <a:xfrm>
            <a:off x="4645152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パッケージ</a:t>
            </a:r>
          </a:p>
        </p:txBody>
      </p:sp>
      <p:sp>
        <p:nvSpPr>
          <p:cNvPr id="13" name="Card"/>
          <p:cNvSpPr/>
          <p:nvPr/>
        </p:nvSpPr>
        <p:spPr>
          <a:xfrm>
            <a:off x="6693408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Pub / Sub</a:t>
            </a:r>
          </a:p>
          <a:p>
            <a:pPr algn="l"/>
            <a:r>
              <a:rPr sz="1800" b="1">
                <a:solidFill>
                  <a:srgbClr val="1F1F1F"/>
                </a:solidFill>
              </a:rPr>
              <a:t>Python</a:t>
            </a:r>
          </a:p>
        </p:txBody>
      </p:sp>
      <p:sp>
        <p:nvSpPr>
          <p:cNvPr id="16" name="Card"/>
          <p:cNvSpPr/>
          <p:nvPr/>
        </p:nvSpPr>
        <p:spPr>
          <a:xfrm>
            <a:off x="8741664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0264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0264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Pub / Sub</a:t>
            </a:r>
          </a:p>
          <a:p>
            <a:pPr algn="l"/>
            <a:r>
              <a:rPr sz="1800" b="1">
                <a:solidFill>
                  <a:srgbClr val="FFFFFF"/>
                </a:solidFill>
              </a:rPr>
              <a:t>C++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32918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B1C14"/>
                </a:solidFill>
              </a:rPr>
              <a:t>← 今回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内容は公式ドキュメント </a:t>
            </a:r>
            <a:r>
              <a:rPr sz="1800" b="1">
                <a:solidFill>
                  <a:srgbClr val="1F1F1F"/>
                </a:solidFill>
              </a:rPr>
              <a:t>ROS 2 Documentation: Jazzy</a:t>
            </a:r>
            <a:r>
              <a:rPr sz="1800" b="0">
                <a:solidFill>
                  <a:srgbClr val="1F1F1F"/>
                </a:solidFill>
              </a:rPr>
              <a:t>（docs.ros.org/en/jazzy/）に準拠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作るもの（C++）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3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51206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Python 版と同じ talker と listener を C++ で作る</a:t>
            </a:r>
          </a:p>
          <a:p>
            <a:pPr>
              <a:spcBef>
                <a:spcPts val="16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ノードは、ROS グラフ上で通信する実行プロセス</a:t>
            </a:r>
          </a:p>
          <a:p>
            <a:pPr>
              <a:spcBef>
                <a:spcPts val="16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2つのノードが、トピックで文字列をやり取りする</a:t>
            </a:r>
          </a:p>
          <a:p>
            <a:pPr>
              <a:spcBef>
                <a:spcPts val="16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コードは ros2/examples の rclcpp/topics</a:t>
            </a:r>
          </a:p>
        </p:txBody>
      </p:sp>
      <p:sp>
        <p:nvSpPr>
          <p:cNvPr id="6" name="Node"/>
          <p:cNvSpPr/>
          <p:nvPr/>
        </p:nvSpPr>
        <p:spPr>
          <a:xfrm>
            <a:off x="6400800" y="1463040"/>
            <a:ext cx="4389120" cy="109728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1F1F1F"/>
                </a:solidFill>
                <a:latin typeface="Consolas"/>
              </a:rPr>
              <a:t>talker</a:t>
            </a:r>
          </a:p>
          <a:p>
            <a:pPr algn="ctr"/>
            <a:r>
              <a:rPr sz="1400" b="0">
                <a:solidFill>
                  <a:srgbClr val="404040"/>
                </a:solidFill>
                <a:latin typeface="Consolas"/>
              </a:rPr>
              <a:t>publisher_lambda_function.cpp</a:t>
            </a:r>
          </a:p>
        </p:txBody>
      </p:sp>
      <p:sp>
        <p:nvSpPr>
          <p:cNvPr id="8" name="Node"/>
          <p:cNvSpPr/>
          <p:nvPr/>
        </p:nvSpPr>
        <p:spPr>
          <a:xfrm>
            <a:off x="6400800" y="3840480"/>
            <a:ext cx="4389120" cy="109728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1F1F1F"/>
                </a:solidFill>
                <a:latin typeface="Consolas"/>
              </a:rPr>
              <a:t>listener</a:t>
            </a:r>
          </a:p>
          <a:p>
            <a:pPr algn="ctr"/>
            <a:r>
              <a:rPr sz="1400" b="0">
                <a:solidFill>
                  <a:srgbClr val="404040"/>
                </a:solidFill>
                <a:latin typeface="Consolas"/>
              </a:rPr>
              <a:t>subscriber_lambda_function.cpp</a:t>
            </a:r>
          </a:p>
        </p:txBody>
      </p:sp>
      <p:sp>
        <p:nvSpPr>
          <p:cNvPr id="10" name="Arrow"/>
          <p:cNvSpPr/>
          <p:nvPr/>
        </p:nvSpPr>
        <p:spPr>
          <a:xfrm>
            <a:off x="8366760" y="2651760"/>
            <a:ext cx="457200" cy="1097280"/>
          </a:xfrm>
          <a:prstGeom prst="downArrow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7889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B1C14"/>
                </a:solidFill>
                <a:latin typeface="Consolas"/>
              </a:rPr>
              <a:t>topic</a:t>
            </a:r>
          </a:p>
          <a:p>
            <a:pPr algn="l"/>
            <a:r>
              <a:rPr sz="1500" b="0">
                <a:solidFill>
                  <a:srgbClr val="1F1F1F"/>
                </a:solidFill>
              </a:rPr>
              <a:t>String 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手順1　パッケージを作る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4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新しいターミナルで ROS 2 を読み込み、src で実行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828800"/>
            <a:ext cx="10058400" cy="13716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2011680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FD17F"/>
                </a:solidFill>
                <a:latin typeface="Consolas"/>
              </a:rPr>
              <a:t>$ </a:t>
            </a:r>
            <a:r>
              <a:rPr sz="2000" b="0">
                <a:solidFill>
                  <a:srgbClr val="FFFFFF"/>
                </a:solidFill>
                <a:latin typeface="Consolas"/>
              </a:rPr>
              <a:t>cd ~/ros2_ws/src</a:t>
            </a:r>
          </a:p>
          <a:p>
            <a:pPr algn="l"/>
            <a:r>
              <a:rPr sz="2000" b="0">
                <a:solidFill>
                  <a:srgbClr val="8FD17F"/>
                </a:solidFill>
                <a:latin typeface="Consolas"/>
              </a:rPr>
              <a:t>$ </a:t>
            </a:r>
            <a:r>
              <a:rPr sz="2000" b="0">
                <a:solidFill>
                  <a:srgbClr val="FFFFFF"/>
                </a:solidFill>
                <a:latin typeface="Consolas"/>
              </a:rPr>
              <a:t>ros2 pkg create --build-type ament_cmake \</a:t>
            </a:r>
          </a:p>
          <a:p>
            <a:pPr algn="l"/>
            <a:r>
              <a:rPr sz="2000" b="0">
                <a:solidFill>
                  <a:srgbClr val="B5B5B5"/>
                </a:solidFill>
                <a:latin typeface="Consolas"/>
              </a:rPr>
              <a:t>    --license Apache-2.0 cpp_pubsub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作成後、ros2_ws/src/cpp_pubsub/src に移動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CMake のパッケージでは、実行ファイルのソースを src に置く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手順2　Publisher のコードを用意する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5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Console"/>
          <p:cNvSpPr/>
          <p:nvPr/>
        </p:nvSpPr>
        <p:spPr>
          <a:xfrm>
            <a:off x="548640" y="1325880"/>
            <a:ext cx="10058400" cy="17373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sole text"/>
          <p:cNvSpPr txBox="1"/>
          <p:nvPr/>
        </p:nvSpPr>
        <p:spPr>
          <a:xfrm>
            <a:off x="822959" y="1508760"/>
            <a:ext cx="9509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8FD17F"/>
                </a:solidFill>
                <a:latin typeface="Consolas"/>
              </a:rPr>
              <a:t>$ </a:t>
            </a:r>
            <a:r>
              <a:rPr sz="1700" b="0">
                <a:solidFill>
                  <a:srgbClr val="FFFFFF"/>
                </a:solidFill>
                <a:latin typeface="Consolas"/>
              </a:rPr>
              <a:t>cd ~/ros2_ws/src/cpp_pubsub/src</a:t>
            </a:r>
          </a:p>
          <a:p>
            <a:pPr algn="l"/>
            <a:r>
              <a:rPr sz="1700" b="0">
                <a:solidFill>
                  <a:srgbClr val="8FD17F"/>
                </a:solidFill>
                <a:latin typeface="Consolas"/>
              </a:rPr>
              <a:t>$ </a:t>
            </a:r>
            <a:r>
              <a:rPr sz="1700" b="0">
                <a:solidFill>
                  <a:srgbClr val="FFFFFF"/>
                </a:solidFill>
                <a:latin typeface="Consolas"/>
              </a:rPr>
              <a:t>wget -O publisher_lambda_function.cpp \</a:t>
            </a:r>
          </a:p>
          <a:p>
            <a:pPr algn="l"/>
            <a:r>
              <a:rPr sz="1700" b="0">
                <a:solidFill>
                  <a:srgbClr val="B5B5B5"/>
                </a:solidFill>
                <a:latin typeface="Consolas"/>
              </a:rPr>
              <a:t>https://raw.githubusercontent.com/ros2/examples/jazzy/\</a:t>
            </a:r>
          </a:p>
          <a:p>
            <a:pPr algn="l"/>
            <a:r>
              <a:rPr sz="1700" b="0">
                <a:solidFill>
                  <a:srgbClr val="B5B5B5"/>
                </a:solidFill>
                <a:latin typeface="Consolas"/>
              </a:rPr>
              <a:t>rclcpp/topics/minimal_publisher/lambda.cpp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</a:rPr>
              <a:t>URL は1行で入力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公式サンプルの lambda.cpp を publisher_lambda_function.cpp という名前で保存する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publisher_lambda_function.cpp（1/3）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6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34440"/>
            <a:ext cx="10058400" cy="3895344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17320"/>
            <a:ext cx="9509760" cy="3529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#include &lt;chrono&gt;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#include &lt;memory&gt;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#include &lt;string&gt;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#include "rclcpp/rclcpp.hpp"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#include "std_msgs/msg/string.hpp"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using namespace std::chrono_literals;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class MinimalPublisher : public rclcpp::Node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public: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MinimalPublisher()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: Node("minimal_publisher"), count_(0)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{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publisher_lambda_function.cpp（2/3）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7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34440"/>
            <a:ext cx="10058400" cy="2606039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17320"/>
            <a:ext cx="9509760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publisher_ = this-&gt;create_publisher&lt;std_msgs::msg::String&gt;("topic", 10);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auto timer_callback =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  [this]() -&gt; void {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    auto message = std_msgs::msg::String();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    message.data = "Hello, world! " + std::to_string(this-&gt;count_++);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    RCLCPP_INFO(this-&gt;get_logger(), "Publishing: '%s'", message.data.c_str());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    this-&gt;publisher_-&gt;publish(message);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  };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timer_ = this-&gt;create_wall_timer(500ms, timer_callback);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publisher_lambda_function.cpp（3/3）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34440"/>
            <a:ext cx="10058400" cy="3436924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17320"/>
            <a:ext cx="9509760" cy="3071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private: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rclcpp::TimerBase::SharedPtr timer_;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rclcpp::Publisher&lt;std_msgs::msg::String&gt;::SharedPtr publisher_;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size_t count_;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};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int main(int argc, char * argv[])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rclcpp::init(argc, argv);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rclcpp::spin(std::make_shared&lt;MinimalPublisher&gt;());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rclcpp::shutdown();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return 0;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</a:rPr>
              <a:t>※ 先頭のライセンス表記と説明コメントは省略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コードを読む：include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9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325880"/>
            <a:ext cx="5303520" cy="23774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50876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#include &lt;chrono&gt;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#include &lt;memory&gt;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#include &lt;string&gt;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#include "rclcpp/rclcpp.hpp"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#include "std_msgs/msg/string.hpp"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126480" y="1325880"/>
            <a:ext cx="46634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・</a:t>
            </a:r>
            <a:r>
              <a:rPr sz="1800" b="0">
                <a:solidFill>
                  <a:srgbClr val="1F1F1F"/>
                </a:solidFill>
              </a:rPr>
              <a:t>最初に C++ の標準ヘッダ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F1F1F"/>
                </a:solidFill>
              </a:rPr>
              <a:t>・</a:t>
            </a:r>
            <a:r>
              <a:rPr sz="1800" b="0">
                <a:solidFill>
                  <a:srgbClr val="1F1F1F"/>
                </a:solidFill>
              </a:rPr>
              <a:t>rclcpp/rclcpp.hpp：ROS 2 のよく使う機能をまとめて使えるようにする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F1F1F"/>
                </a:solidFill>
              </a:rPr>
              <a:t>・</a:t>
            </a:r>
            <a:r>
              <a:rPr sz="1800" b="0">
                <a:solidFill>
                  <a:srgbClr val="1F1F1F"/>
                </a:solidFill>
              </a:rPr>
              <a:t>std_msgs/msg/string.hpp：送るメッセージの型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F1F1F"/>
                </a:solidFill>
              </a:rPr>
              <a:t>・</a:t>
            </a:r>
            <a:r>
              <a:rPr sz="1800" b="0">
                <a:solidFill>
                  <a:srgbClr val="1F1F1F"/>
                </a:solidFill>
              </a:rPr>
              <a:t>これらがノードの依存先</a:t>
            </a:r>
          </a:p>
          <a:p>
            <a:r>
              <a:rPr sz="1600">
                <a:solidFill>
                  <a:srgbClr val="404040"/>
                </a:solidFill>
              </a:rPr>
              <a:t>　→ </a:t>
            </a:r>
            <a:r>
              <a:rPr sz="1600" b="0">
                <a:solidFill>
                  <a:srgbClr val="404040"/>
                </a:solidFill>
              </a:rPr>
              <a:t>あとで package.xml と CMakeLists.txt に書く</a:t>
            </a:r>
          </a:p>
        </p:txBody>
      </p:sp>
      <p:sp>
        <p:nvSpPr>
          <p:cNvPr id="8" name="Note"/>
          <p:cNvSpPr/>
          <p:nvPr/>
        </p:nvSpPr>
        <p:spPr>
          <a:xfrm>
            <a:off x="548640" y="4526280"/>
            <a:ext cx="10058400" cy="114300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9601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</a:rPr>
              <a:t>rclcpp/rclcpp.hpp は rclcpp の全機能をまとめて読み込む便利なヘッダ</a:t>
            </a:r>
          </a:p>
          <a:p>
            <a:pPr algn="l"/>
            <a:r>
              <a:rPr sz="1500" b="0">
                <a:solidFill>
                  <a:srgbClr val="404040"/>
                </a:solidFill>
              </a:rPr>
              <a:t>チュートリアル以外では、実際に使う機能のヘッダだけを include するのが望ましい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コードを読む：コンストラクタ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10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34440"/>
            <a:ext cx="10058400" cy="25146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17320"/>
            <a:ext cx="950976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MinimalPublisher()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: Node("minimal_publisher"), count_(0)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publisher_ = this-&gt;create_publisher&lt;std_msgs::msg::String&gt;("topic", 10);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auto timer_callback =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[this]() -&gt; void { ... };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timer_ = this-&gt;create_wall_timer(500ms, timer_callback);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3192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676656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onsolas"/>
                        </a:rPr>
                        <a:t>Node("minimal_publisher")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</a:rPr>
                        <a:t>ノード名を minimal_publisher にし、count_ を 0 にする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onsolas"/>
                        </a:rPr>
                        <a:t>create_publisher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</a:rPr>
                        <a:t>String 型・トピック名 topic・キューの大きさ 10 で Publisher を作る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onsolas"/>
                        </a:rPr>
                        <a:t>timer_callback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</a:rPr>
                        <a:t>this を参照でキャプチャするラムダ。メッセージを作って送る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  <a:latin typeface="Consolas"/>
                        </a:rPr>
                        <a:t>create_wall_timer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1F1F"/>
                          </a:solidFill>
                        </a:rPr>
                        <a:t>500ms ごと（1秒に2回）に timer_callback を実行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コードを読む：コールバック・メンバ・main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11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34440"/>
            <a:ext cx="10058400" cy="14173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17320"/>
            <a:ext cx="9509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auto message = std_msgs::msg::String();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message.data = "Hello, world! " + std::to_string(this-&gt;count_++);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RCLCPP_INFO(this-&gt;get_logger(), "Publishing: '%s'", message.data.c_str());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this-&gt;publisher_-&gt;publish(message);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548640" y="283464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timer_callback：String 型のメッセージを作り、文字列を入れて送る</a:t>
            </a:r>
          </a:p>
          <a:p>
            <a:r>
              <a:rPr sz="1600">
                <a:solidFill>
                  <a:srgbClr val="404040"/>
                </a:solidFill>
              </a:rPr>
              <a:t>　→ </a:t>
            </a:r>
            <a:r>
              <a:rPr sz="1600" b="0">
                <a:solidFill>
                  <a:srgbClr val="404040"/>
                </a:solidFill>
              </a:rPr>
              <a:t>RCLCPP_INFO マクロで、送った内容を毎回コンソールに表示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クラスの最後で、タイマー・Publisher・カウンタを宣言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main：ノードが実際に動く場所</a:t>
            </a:r>
          </a:p>
          <a:p>
            <a:r>
              <a:rPr sz="1600">
                <a:solidFill>
                  <a:srgbClr val="404040"/>
                </a:solidFill>
              </a:rPr>
              <a:t>　→ </a:t>
            </a:r>
            <a:r>
              <a:rPr sz="1600" b="0">
                <a:solidFill>
                  <a:srgbClr val="404040"/>
                </a:solidFill>
              </a:rPr>
              <a:t>rclcpp::init で ROS 2 を初期化し、rclcpp::spin でタイマーのコールバックなどを処理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手順2.2　package.xml に依存先を書く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12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ros2_ws/src/cpp_pubsub/package.xml を開き、説明・作成者・ライセンスを書く</a:t>
            </a:r>
          </a:p>
        </p:txBody>
      </p:sp>
      <p:sp>
        <p:nvSpPr>
          <p:cNvPr id="6" name="Code"/>
          <p:cNvSpPr/>
          <p:nvPr/>
        </p:nvSpPr>
        <p:spPr>
          <a:xfrm>
            <a:off x="548640" y="1737360"/>
            <a:ext cx="10058400" cy="11887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text"/>
          <p:cNvSpPr txBox="1"/>
          <p:nvPr/>
        </p:nvSpPr>
        <p:spPr>
          <a:xfrm>
            <a:off x="822959" y="192024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&lt;description&gt;Examples of minimal publisher/subscriber using rclcpp&lt;/description&gt;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&lt;maintainer email="you@email.com"&gt;Your Name&lt;/maintainer&gt;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&lt;license&gt;Apache-2.0&lt;/license&gt;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ament_cmake の buildtool_depend の次の行に、include に対応する依存先を追加</a:t>
            </a:r>
          </a:p>
        </p:txBody>
      </p:sp>
      <p:sp>
        <p:nvSpPr>
          <p:cNvPr id="9" name="Code"/>
          <p:cNvSpPr/>
          <p:nvPr/>
        </p:nvSpPr>
        <p:spPr>
          <a:xfrm>
            <a:off x="548640" y="36576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 text"/>
          <p:cNvSpPr txBox="1"/>
          <p:nvPr/>
        </p:nvSpPr>
        <p:spPr>
          <a:xfrm>
            <a:off x="822959" y="384048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onsolas"/>
              </a:rPr>
              <a:t>&lt;depend&gt;rclcpp&lt;/depend&gt;</a:t>
            </a:r>
          </a:p>
          <a:p>
            <a:pPr algn="l"/>
            <a:r>
              <a:rPr sz="1900" b="0">
                <a:solidFill>
                  <a:srgbClr val="FFFFFF"/>
                </a:solidFill>
                <a:latin typeface="Consolas"/>
              </a:rPr>
              <a:t>&lt;depend&gt;std_msgs&lt;/depend&gt;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ビルド時と実行時の両方で rclcpp と std_msgs が必要、という意味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手順2.3　CMakeLists.txt を編集する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13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1F1F"/>
                </a:solidFill>
              </a:rPr>
              <a:t>find_package(ament_cmake REQUIRED) の下に追加</a:t>
            </a:r>
          </a:p>
        </p:txBody>
      </p:sp>
      <p:sp>
        <p:nvSpPr>
          <p:cNvPr id="6" name="Code"/>
          <p:cNvSpPr/>
          <p:nvPr/>
        </p:nvSpPr>
        <p:spPr>
          <a:xfrm>
            <a:off x="548640" y="1600200"/>
            <a:ext cx="10058400" cy="7772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text"/>
          <p:cNvSpPr txBox="1"/>
          <p:nvPr/>
        </p:nvSpPr>
        <p:spPr>
          <a:xfrm>
            <a:off x="822959" y="1783080"/>
            <a:ext cx="950976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find_package(rclcpp REQUIRED)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find_package(std_msgs REQUIRED)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1F1F"/>
                </a:solidFill>
              </a:rPr>
              <a:t>実行ファイル talker を追加（ros2 run で実行するため）</a:t>
            </a:r>
          </a:p>
        </p:txBody>
      </p:sp>
      <p:sp>
        <p:nvSpPr>
          <p:cNvPr id="9" name="Code"/>
          <p:cNvSpPr/>
          <p:nvPr/>
        </p:nvSpPr>
        <p:spPr>
          <a:xfrm>
            <a:off x="548640" y="2926080"/>
            <a:ext cx="10058400" cy="7772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 text"/>
          <p:cNvSpPr txBox="1"/>
          <p:nvPr/>
        </p:nvSpPr>
        <p:spPr>
          <a:xfrm>
            <a:off x="822959" y="3108960"/>
            <a:ext cx="950976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add_executable(talker src/publisher_lambda_function.cpp)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ament_target_dependencies(talker rclcpp std_msgs)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1F1F"/>
                </a:solidFill>
              </a:rPr>
              <a:t>install(TARGETS ...) を追加（ros2 run が実行ファイルを見つけるため）</a:t>
            </a:r>
          </a:p>
        </p:txBody>
      </p:sp>
      <p:sp>
        <p:nvSpPr>
          <p:cNvPr id="12" name="Code"/>
          <p:cNvSpPr/>
          <p:nvPr/>
        </p:nvSpPr>
        <p:spPr>
          <a:xfrm>
            <a:off x="548640" y="4251960"/>
            <a:ext cx="10058400" cy="109728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de text"/>
          <p:cNvSpPr txBox="1"/>
          <p:nvPr/>
        </p:nvSpPr>
        <p:spPr>
          <a:xfrm>
            <a:off x="822959" y="4434840"/>
            <a:ext cx="950976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install(TARGETS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talker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DESTINATION lib/${PROJECT_NAME})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整理した CMakeLists.txt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14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188720"/>
            <a:ext cx="6949440" cy="45720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371600"/>
            <a:ext cx="6400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cmake_minimum_required(VERSION 3.5)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project(cpp_pubsub)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100" b="0">
                <a:solidFill>
                  <a:srgbClr val="8FD17F"/>
                </a:solidFill>
                <a:latin typeface="Consolas"/>
              </a:rPr>
              <a:t># Default to C++14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if(NOT CMAKE_CXX_STANDARD)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set(CMAKE_CXX_STANDARD 14)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endif()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if(CMAKE_COMPILER_IS_GNUCXX OR CMAKE_CXX_COMPILER_ID MATCHES "Clang")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add_compile_options(-Wall -Wextra -Wpedantic)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endif()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find_package(ament_cmake REQUIRED)</a:t>
            </a:r>
          </a:p>
          <a:p>
            <a:pPr algn="l"/>
            <a:r>
              <a:rPr sz="1100" b="0">
                <a:solidFill>
                  <a:srgbClr val="E6C07B"/>
                </a:solidFill>
                <a:latin typeface="Consolas"/>
              </a:rPr>
              <a:t>find_package(rclcpp REQUIRED)</a:t>
            </a:r>
          </a:p>
          <a:p>
            <a:pPr algn="l"/>
            <a:r>
              <a:rPr sz="1100" b="0">
                <a:solidFill>
                  <a:srgbClr val="E6C07B"/>
                </a:solidFill>
                <a:latin typeface="Consolas"/>
              </a:rPr>
              <a:t>find_package(std_msgs REQUIRED)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100" b="0">
                <a:solidFill>
                  <a:srgbClr val="E6C07B"/>
                </a:solidFill>
                <a:latin typeface="Consolas"/>
              </a:rPr>
              <a:t>add_executable(talker src/publisher_lambda_function.cpp)</a:t>
            </a:r>
          </a:p>
          <a:p>
            <a:pPr algn="l"/>
            <a:r>
              <a:rPr sz="1100" b="0">
                <a:solidFill>
                  <a:srgbClr val="E6C07B"/>
                </a:solidFill>
                <a:latin typeface="Consolas"/>
              </a:rPr>
              <a:t>ament_target_dependencies(talker rclcpp std_msgs)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100" b="0">
                <a:solidFill>
                  <a:srgbClr val="E6C07B"/>
                </a:solidFill>
                <a:latin typeface="Consolas"/>
              </a:rPr>
              <a:t>install(TARGETS</a:t>
            </a:r>
          </a:p>
          <a:p>
            <a:pPr algn="l"/>
            <a:r>
              <a:rPr sz="1100" b="0">
                <a:solidFill>
                  <a:srgbClr val="E6C07B"/>
                </a:solidFill>
                <a:latin typeface="Consolas"/>
              </a:rPr>
              <a:t>  talker</a:t>
            </a:r>
          </a:p>
          <a:p>
            <a:pPr algn="l"/>
            <a:r>
              <a:rPr sz="1100" b="0">
                <a:solidFill>
                  <a:srgbClr val="E6C07B"/>
                </a:solidFill>
                <a:latin typeface="Consolas"/>
              </a:rPr>
              <a:t>  DESTINATION lib/${PROJECT_NAME})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ament_package()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7772400" y="1325880"/>
            <a:ext cx="3017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1F1F1F"/>
                </a:solidFill>
              </a:rPr>
              <a:t>・</a:t>
            </a:r>
            <a:r>
              <a:rPr sz="1700" b="0">
                <a:solidFill>
                  <a:srgbClr val="1F1F1F"/>
                </a:solidFill>
              </a:rPr>
              <a:t>不要な部分とコメントを消すと、この形になる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1F1F1F"/>
                </a:solidFill>
              </a:rPr>
              <a:t>・</a:t>
            </a:r>
            <a:r>
              <a:rPr sz="1700" b="0">
                <a:solidFill>
                  <a:srgbClr val="1F1F1F"/>
                </a:solidFill>
              </a:rPr>
              <a:t>黄色が追加した行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手順3　Subscriber のコードを用意する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15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Console"/>
          <p:cNvSpPr/>
          <p:nvPr/>
        </p:nvSpPr>
        <p:spPr>
          <a:xfrm>
            <a:off x="548640" y="1325880"/>
            <a:ext cx="10058400" cy="17373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sole text"/>
          <p:cNvSpPr txBox="1"/>
          <p:nvPr/>
        </p:nvSpPr>
        <p:spPr>
          <a:xfrm>
            <a:off x="822959" y="1508760"/>
            <a:ext cx="9509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8FD17F"/>
                </a:solidFill>
                <a:latin typeface="Consolas"/>
              </a:rPr>
              <a:t>$ </a:t>
            </a:r>
            <a:r>
              <a:rPr sz="1700" b="0">
                <a:solidFill>
                  <a:srgbClr val="FFFFFF"/>
                </a:solidFill>
                <a:latin typeface="Consolas"/>
              </a:rPr>
              <a:t>cd ~/ros2_ws/src/cpp_pubsub/src</a:t>
            </a:r>
          </a:p>
          <a:p>
            <a:pPr algn="l"/>
            <a:r>
              <a:rPr sz="1700" b="0">
                <a:solidFill>
                  <a:srgbClr val="8FD17F"/>
                </a:solidFill>
                <a:latin typeface="Consolas"/>
              </a:rPr>
              <a:t>$ </a:t>
            </a:r>
            <a:r>
              <a:rPr sz="1700" b="0">
                <a:solidFill>
                  <a:srgbClr val="FFFFFF"/>
                </a:solidFill>
                <a:latin typeface="Consolas"/>
              </a:rPr>
              <a:t>wget -O subscriber_lambda_function.cpp \</a:t>
            </a:r>
          </a:p>
          <a:p>
            <a:pPr algn="l"/>
            <a:r>
              <a:rPr sz="1700" b="0">
                <a:solidFill>
                  <a:srgbClr val="B5B5B5"/>
                </a:solidFill>
                <a:latin typeface="Consolas"/>
              </a:rPr>
              <a:t>https://raw.githubusercontent.com/ros2/examples/jazzy/\</a:t>
            </a:r>
          </a:p>
          <a:p>
            <a:pPr algn="l"/>
            <a:r>
              <a:rPr sz="1700" b="0">
                <a:solidFill>
                  <a:srgbClr val="B5B5B5"/>
                </a:solidFill>
                <a:latin typeface="Consolas"/>
              </a:rPr>
              <a:t>rclcpp/topics/minimal_subscriber/lambda.cpp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</a:rPr>
              <a:t>URL は1行で入力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subscriber_lambda_function.cpp（1/2）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16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34440"/>
            <a:ext cx="10058400" cy="44805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17320"/>
            <a:ext cx="95097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#include &lt;memory&gt;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#include "rclcpp/rclcpp.hpp"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#include "std_msgs/msg/string.hpp"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class MinimalSubscriber : public rclcpp::Node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public: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MinimalSubscriber()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: Node("minimal_subscriber")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{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auto topic_callback =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[this](std_msgs::msg::String::UniquePtr msg) -&gt; void {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RCLCPP_INFO(this-&gt;get_logger(), "I heard: '%s'", msg-&gt;data.c_str());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};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subscription_ =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this-&gt;create_subscription&lt;std_msgs::msg::String&gt;("topic", 10, topic_callback);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subscriber_lambda_function.cpp（2/2）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17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34440"/>
            <a:ext cx="10058400" cy="384048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17320"/>
            <a:ext cx="95097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private: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rclcpp::Subscription&lt;std_msgs::msg::String&gt;::SharedPtr subscription_;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};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int main(int argc, char * argv[])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rclcpp::init(argc, argv);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rclcpp::spin(std::make_shared&lt;MinimalSubscriber&gt;());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rclcpp::shutdown();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return 0;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</a:rPr>
              <a:t>※ 先頭のライセンス表記は省略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コードを読む：Subscriber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18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10058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Publisher とほぼ同じ形。ノード名は minimal_subscriber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create_subscription でコールバックを登録する</a:t>
            </a:r>
          </a:p>
          <a:p>
            <a:r>
              <a:rPr sz="1600">
                <a:solidFill>
                  <a:srgbClr val="404040"/>
                </a:solidFill>
              </a:rPr>
              <a:t>　→ </a:t>
            </a:r>
            <a:r>
              <a:rPr sz="1600" b="0">
                <a:solidFill>
                  <a:srgbClr val="404040"/>
                </a:solidFill>
              </a:rPr>
              <a:t>トピック名と型が Publisher と一致しないとつながらない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タイマーは使わない</a:t>
            </a:r>
          </a:p>
          <a:p>
            <a:r>
              <a:rPr sz="1600">
                <a:solidFill>
                  <a:srgbClr val="404040"/>
                </a:solidFill>
              </a:rPr>
              <a:t>　→ </a:t>
            </a:r>
            <a:r>
              <a:rPr sz="1600" b="0">
                <a:solidFill>
                  <a:srgbClr val="404040"/>
                </a:solidFill>
              </a:rPr>
              <a:t>topic にデータが送られるたびに反応する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topic_callback：受け取った文字列を RCLCPP_INFO でコンソールに表示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main は同じ。spin は、届いたメッセージを受け取る準備をすること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依存先は Publisher と同じなので、package.xml は変更不要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手順3.2　CMakeLists.txt に listener を追加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19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talker の記述の下に追加し、install に listener を加える</a:t>
            </a:r>
          </a:p>
        </p:txBody>
      </p:sp>
      <p:sp>
        <p:nvSpPr>
          <p:cNvPr id="6" name="Code"/>
          <p:cNvSpPr/>
          <p:nvPr/>
        </p:nvSpPr>
        <p:spPr>
          <a:xfrm>
            <a:off x="548640" y="1828800"/>
            <a:ext cx="10058400" cy="21945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text"/>
          <p:cNvSpPr txBox="1"/>
          <p:nvPr/>
        </p:nvSpPr>
        <p:spPr>
          <a:xfrm>
            <a:off x="822959" y="2011680"/>
            <a:ext cx="9509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6C07B"/>
                </a:solidFill>
                <a:latin typeface="Consolas"/>
              </a:rPr>
              <a:t>add_executable(listener src/subscriber_lambda_function.cpp)</a:t>
            </a:r>
          </a:p>
          <a:p>
            <a:pPr algn="l"/>
            <a:r>
              <a:rPr sz="1600" b="0">
                <a:solidFill>
                  <a:srgbClr val="E6C07B"/>
                </a:solidFill>
                <a:latin typeface="Consolas"/>
              </a:rPr>
              <a:t>ament_target_dependencies(listener rclcpp std_msgs)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install(TARGETS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talker</a:t>
            </a:r>
          </a:p>
          <a:p>
            <a:pPr algn="l"/>
            <a:r>
              <a:rPr sz="1600" b="0">
                <a:solidFill>
                  <a:srgbClr val="E6C07B"/>
                </a:solidFill>
                <a:latin typeface="Consolas"/>
              </a:rPr>
              <a:t>  listener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DESTINATION lib/${PROJECT_NAME})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</a:rPr>
              <a:t>保存すれば準備完了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手順4　ビルドする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20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ワークスペースの直下（ros2_ws）で、作ったパッケージをビルド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82880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201168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8FD17F"/>
                </a:solidFill>
                <a:latin typeface="Consolas"/>
              </a:rPr>
              <a:t>$ </a:t>
            </a:r>
            <a:r>
              <a:rPr sz="2100" b="0">
                <a:solidFill>
                  <a:srgbClr val="FFFFFF"/>
                </a:solidFill>
                <a:latin typeface="Consolas"/>
              </a:rPr>
              <a:t>cd ~/ros2_ws</a:t>
            </a:r>
          </a:p>
        </p:txBody>
      </p:sp>
      <p:sp>
        <p:nvSpPr>
          <p:cNvPr id="8" name="Console"/>
          <p:cNvSpPr/>
          <p:nvPr/>
        </p:nvSpPr>
        <p:spPr>
          <a:xfrm>
            <a:off x="548640" y="274320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nsole text"/>
          <p:cNvSpPr txBox="1"/>
          <p:nvPr/>
        </p:nvSpPr>
        <p:spPr>
          <a:xfrm>
            <a:off x="822959" y="292608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8FD17F"/>
                </a:solidFill>
                <a:latin typeface="Consolas"/>
              </a:rPr>
              <a:t>$ </a:t>
            </a:r>
            <a:r>
              <a:rPr sz="2100" b="0">
                <a:solidFill>
                  <a:srgbClr val="FFFFFF"/>
                </a:solidFill>
                <a:latin typeface="Consolas"/>
              </a:rPr>
              <a:t>colcon build --packages-select cpp_pubsub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手順4　実行する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21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(C++)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ターミナル 1：talker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645920"/>
            <a:ext cx="4937760" cy="30175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1828800"/>
            <a:ext cx="4389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cd ~/ros2_ws</a:t>
            </a:r>
          </a:p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source install/setup.bash</a:t>
            </a:r>
          </a:p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ros2 run cpp_pubsub talker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[INFO] [minimal_publisher]: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  Publishing: 'Hello, world! 0'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[INFO] [minimal_publisher]: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  Publishing: 'Hello, world! 1'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234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ターミナル 2：listener</a:t>
            </a:r>
          </a:p>
        </p:txBody>
      </p:sp>
      <p:sp>
        <p:nvSpPr>
          <p:cNvPr id="9" name="Console"/>
          <p:cNvSpPr/>
          <p:nvPr/>
        </p:nvSpPr>
        <p:spPr>
          <a:xfrm>
            <a:off x="5760720" y="1645920"/>
            <a:ext cx="4937760" cy="30175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sole text"/>
          <p:cNvSpPr txBox="1"/>
          <p:nvPr/>
        </p:nvSpPr>
        <p:spPr>
          <a:xfrm>
            <a:off x="6035040" y="1828800"/>
            <a:ext cx="4389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cd ~/ros2_ws</a:t>
            </a:r>
          </a:p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source install/setup.bash</a:t>
            </a:r>
          </a:p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ros2 run cpp_pubsub listener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[INFO] [minimal_subscriber]: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  I heard: 'Hello, world! 10'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[INFO] [minimal_subscriber]: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  I heard: 'Hello, world! 11'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...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548640" y="4846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1F1F1F"/>
                </a:solidFill>
              </a:rPr>
              <a:t>・</a:t>
            </a:r>
            <a:r>
              <a:rPr sz="1700" b="0">
                <a:solidFill>
                  <a:srgbClr val="1F1F1F"/>
                </a:solidFill>
              </a:rPr>
              <a:t>talker は 0.5 秒ごとに送信。listener は起動した時点の番号から表示される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F1F1F"/>
                </a:solidFill>
              </a:rPr>
              <a:t>・</a:t>
            </a:r>
            <a:r>
              <a:rPr sz="1700" b="0">
                <a:solidFill>
                  <a:srgbClr val="1F1F1F"/>
                </a:solidFill>
              </a:rPr>
              <a:t>止めるときは、それぞれのターミナルで Ctrl +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参考：公式ドキュメント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05 Pub / Sub（C++）   22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548640" y="1325880"/>
            <a:ext cx="10058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Writing a simple publisher and subscriber (C++)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400" b="0">
                <a:solidFill>
                  <a:srgbClr val="404040"/>
                </a:solidFill>
                <a:latin typeface="Consolas"/>
              </a:rPr>
              <a:t>docs.ros.org/en/jazzy/Tutorials/Beginner-Client-Libraries/Writing-A-Simple-Cpp-Publisher-And-Subscriber.html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次の資料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公式チュートリアル：サービスとクライアントの作成（C++ / Python）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</a:rPr>
              <a:t>図・コードの出典：ROS 2 Documentation（CC BY 4.0）、ros2/examples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S PGothic"/>
        <a:ea typeface="MS PGothic"/>
        <a:cs typeface=""/>
        <a:font script="Jpan" typeface="MS 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S PGothic"/>
        <a:ea typeface="MS PGothic"/>
        <a:cs typeface=""/>
        <a:font script="Jpan" typeface="MS 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7531F1DA-E5ED-4977-9D2C-CB9870891181}" vid="{35052030-CB63-452C-8C6E-2B56BD0C9A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松枝 勇樹(rr0163fx)</dc:creator>
  <cp:lastModifiedBy>松枝 勇樹(rr0163fx)</cp:lastModifiedBy>
  <cp:revision>1</cp:revision>
  <dcterms:created xsi:type="dcterms:W3CDTF">2024-03-20T13:06:38Z</dcterms:created>
  <dcterms:modified xsi:type="dcterms:W3CDTF">2024-03-20T13:08:05Z</dcterms:modified>
</cp:coreProperties>
</file>
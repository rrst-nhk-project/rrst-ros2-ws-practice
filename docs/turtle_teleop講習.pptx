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4d40e426-4000-b2e8-1c44-37b75e0fa8a7}">
          <p14:sldIdLst>
            <p14:sldId id="256"/>
            <p14:sldId id="257"/>
            <p14:sldId id="258"/>
          </p14:sldIdLst>
        </p14:section>
        <p14:section name="01 リポジトリを知る" id="{dd09fb97-1535-3e5b-a586-67f453aacce0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02 turtle_teleop を読む" id="{09bd5060-d1e2-4f3e-637b-6d0d136fe8d8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03 問題" id="{7a48dfd9-752b-b6cc-810b-ff00ab5ffad2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まとめ" id="{9f69e890-f71d-fbb2-e93a-3dc4012d9bea}">
          <p14:sldIdLst>
            <p14:sldId id="282"/>
          </p14:sldIdLst>
        </p14:section>
        <p14:section name="付録 解答例" id="{4a7cd778-db39-325e-fcc6-dd587cd86959}">
          <p14:sldIdLst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この講習では、練習用リポジトリを雛形として配布し、問題に合わせて turtle_teleop のノードを自分で書き換えていく。前半でリポジトリの構造と使い方、後半で演習。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前提は ROS 2 Jazzy 入門 01〜05（特に 05 Pub/Sub C++）。実機がなくても turtlesim で機体の操縦ノードと同じ書き方を練習できる。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各問題で「書き換え → ビルド → 実行 → 確認」を1周する。うまくいったらコミットしておくと、壊したときに戻れる。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このリポジトリはメインリポジトリ rrst-ros2-ws のフォーク。構造と使い方が同じなので、ここで覚えたことがそのまま本番で使える。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練習用はメインのフォーク。構造・ビルド方法・サブモジュールは同じ。練習用では機体固有のパッケージを削除し、講習用のパッケージを追加している。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ワークスペースの src 直下にリポジトリをそのまま clone する構成。サブモジュールは別リポジトリとして管理されている。common は各ノードから include して使う。teleop_tools には sb_host・ros2can_host などがある。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serial_bridge・ros2can・microcontroller-ws は別リポジトリ。clone しただけでは中身が空なので submodule update 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は動作確認済み、develop は開発中。push すると GitHub Actions が ROS 2 Jazzy でビルドしてくれる（.github/workflows）。README のバッジで結果を確認できる。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 の中に「.」で clone するのがポイント。src/rrst-ros2-ws/ のように1段深くなっても動くが、メインリポジトリの手順と揃える。ビルドが固まるときは --parallel-workers 2 で並列数を減らす。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実機では teleop_tools のホストノードが serial_tx に配列を publish する。今回は同じ形のノードが turtle1/cmd_vel に Twist を publish する。違うのは出力先だけ。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まずは書き換える前に、配布したパッケージを動かして中身を読む。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ファイルで joy_node・turtlesim・自分のノードの3つをまとめて起動する。書き換えるのは基本的に cpp ファイル1つだけ。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配布状態では亀は動かない。twist_ がずっと 0 のまま Publish されているため。これを問題で書き換えていく。PS4 は USB か Bluetooth で接続しておく。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Serial_Bridge_Host.cpp と同じ構造。joy のコールバックで twist_ を書き換えるだけで、Publish はタイマーが勝手にやってくれる。コールバックで直接 publish しないのは、送信周期を一定にするため。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sensor_msgs/msg/Joy の axes（float）と buttons（int）。インデックスは Linux の標準ドライバで PS4 を繋いだ場合。違うコントローラーだと番号が変わるので ros2 topic echo /joy で確かめる。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turtlesim は linear.x（前後）と angular.z（回転）だけを使う。angular.z は反時計回りが正。スティックの左 +1 とそのまま対応するので符号を反転しなくてよい。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入力側（/joy）→ ノード → 出力側（/turtle1/cmd_vel）の順に、どこで止まっているかを切り分ける。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問題1〜4が基本。5・6は発展で、サービスと依存パッケージの追加を扱う。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1〜4 はコールバックの中だけで完結する。5・6 はサービスクライアントを使うので、CMakeLists.txt と package.xml も書き換える。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最初の問題。コメントアウトを外して1行足すだけ。値が0になるのは、スティックを離すと axes が 0 に戻るから。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デッドゾーンは実機でも必須。スティックのドリフトでモーターが勝手に回るのを防ぐ。Serial_Bridge_Host にも DEADZONE_L/R 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三項演算子を初めて見る人向けに if 文で書いてもよいと伝える。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コールバックは入力のたびに呼ばれるので、そのまま反転すると何度も切り替わる。立ち上がり検出は実機でも頻出（機構の ON/OFF、モード切替）。Serial_Bridge_Host の last_option / option_latch がこれ。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サービスは「頼んで、やってもらう」通信。トピックと違い、呼んだときだけ動く。依存の追加は入門05の手順と同じ。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ros2 interface show turtlesim/srv/SetPen で中身を見せる。--- の上がリクエスト、下がレスポンス（今回は空）。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早く終わった人向け。正解はないので、自分で仕様を決めて実装してみる。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今回やったことは実機のホストノードを書くのとほぼ同じ。twist_ を data_ や PacketController に置き換えれば、そのまま機体が動く。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解答例は一例。動けば書き方は自由。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問題1〜4 をまとめた形。static 変数は関数を抜けても値が残るので、前回の状態を覚えておける。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クライアントはメンバ変数に持ち、コンストラクタで作る。async_send_request は結果を待たずに戻る。static bool last_ps の宣言（false で初期化）は問題4と同様に必要。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package.xml の turtlesim は exec_depend から depend に変える（同じパッケージを二重に書くとエラーになる）。static bool last_triangle, pen_off の宣言（false で初期化）も問題4と同様に必要。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R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8615" y="530352"/>
            <a:ext cx="1234440" cy="34554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turtle_teleop 講習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R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828800" cy="51191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154680"/>
            <a:ext cx="6766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840480"/>
            <a:ext cx="67665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669280"/>
            <a:ext cx="6766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4D4D4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turtle_teleop 講習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22960" y="1828800"/>
            <a:ext cx="54864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22960" y="2514600"/>
            <a:ext cx="7132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22960" y="370332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4D4D4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9202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turtle_teleop 講習</a:t>
            </a:r>
            <a:endParaRPr lang="en-US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154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PS4 コントローラーで turtlesim を動かす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40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リポジトリの使い方 ／ ノードの書き換え演習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6692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D4D4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立命館大学 ロボット技術研究会 RRST NHKプロジェクト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80960" y="914400"/>
            <a:ext cx="3959352" cy="5029200"/>
          </a:xfrm>
          <a:prstGeom prst="roundRect">
            <a:avLst>
              <a:gd name="adj" fmla="val 3464"/>
            </a:avLst>
          </a:prstGeom>
          <a:solidFill>
            <a:srgbClr val="F2F2F2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128016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463040"/>
            <a:ext cx="502920" cy="502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98280" y="12801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PS4 コントローラー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481060" y="2194560"/>
            <a:ext cx="0" cy="54864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8732520" y="2240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/joy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046720" y="27889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97180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9098280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ps4_turtle</a:t>
            </a:r>
            <a:endParaRPr lang="en-US" sz="18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自分で書くノード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481060" y="3703320"/>
            <a:ext cx="0" cy="54864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8732520" y="3749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/turtle1/cmd_vel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046720" y="429768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48056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98280" y="4297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turtlesim の亀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はじめに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40"/>
              </a:lnSpc>
              <a:buNone/>
            </a:pPr>
            <a:r>
              <a:rPr lang="en-US" sz="2600" b="1" dirty="0">
                <a:solidFill>
                  <a:srgbClr val="1A1A1A"/>
                </a:solidFill>
              </a:rPr>
              <a:t>機体を動かすノードと同じ書き方で、PS4 コントローラーから亀を動かす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5320"/>
            <a:ext cx="1109441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333333"/>
                </a:solidFill>
              </a:rPr>
              <a:t>実機やマイコンがなくても、PC 1台で「コントローラー入力 → 指令値 → Publish」を練習できます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88260"/>
            <a:ext cx="5486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この講習のゴール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053588"/>
            <a:ext cx="3515258" cy="2160270"/>
          </a:xfrm>
          <a:prstGeom prst="roundRect">
            <a:avLst>
              <a:gd name="adj" fmla="val 5079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27908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327908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リポジトリを知る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67988"/>
            <a:ext cx="2966618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333333"/>
                </a:solidFill>
              </a:rPr>
              <a:t>どこに何があり、どうビルド・更新するのか。メインリポジトリと同じ構造で練習する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338218" y="3053588"/>
            <a:ext cx="3515258" cy="2160270"/>
          </a:xfrm>
          <a:prstGeom prst="roundRect">
            <a:avLst>
              <a:gd name="adj" fmla="val 5079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2538" y="3327908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3327908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ノードを読む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967988"/>
            <a:ext cx="2966618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333333"/>
                </a:solidFill>
              </a:rPr>
              <a:t>joy を受け取り、タイマーで Publish する。teleop_tools のホストノードと同じ形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27797" y="3053588"/>
            <a:ext cx="3515258" cy="2160270"/>
          </a:xfrm>
          <a:prstGeom prst="roundRect">
            <a:avLst>
              <a:gd name="adj" fmla="val 5079"/>
            </a:avLst>
          </a:prstGeom>
          <a:solidFill>
            <a:srgbClr val="F2F2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02117" y="3327908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96477" y="3327908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自分で書き換える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967988"/>
            <a:ext cx="2966618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333333"/>
                </a:solidFill>
              </a:rPr>
              <a:t>問題に沿ってコードを足していき、ビルド・実行・確認を自分で回せるようになる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579618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776214"/>
            <a:ext cx="292608" cy="29260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234440" y="5751068"/>
            <a:ext cx="101342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前提</a:t>
            </a:r>
            <a:r>
              <a:rPr lang="en-US" sz="1800" dirty="0">
                <a:solidFill>
                  <a:srgbClr val="1A1A1A"/>
                </a:solidFill>
              </a:rPr>
              <a:t>　ROS 2 Jazzy 入門 01〜05（ワークスペース・colcon・パッケージ・Pub/Sub C++）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講習の進め方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A1A1A"/>
                </a:solidFill>
              </a:rPr>
              <a:t>配布したリポジトリを雛形に、問題を読んで turtle_teleop のノードを書き換えていきます。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470861" y="2103120"/>
            <a:ext cx="9099042" cy="2148840"/>
          </a:xfrm>
          <a:prstGeom prst="roundRect">
            <a:avLst>
              <a:gd name="adj" fmla="val 5106"/>
            </a:avLst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1473175" y="2670048"/>
            <a:ext cx="9245346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0567" y="2377440"/>
            <a:ext cx="585216" cy="585216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08960"/>
            <a:ext cx="18490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A1A1A"/>
                </a:solidFill>
              </a:rPr>
              <a:t>clone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520440"/>
            <a:ext cx="1757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リポジトリを取得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029636" y="2377440"/>
            <a:ext cx="585216" cy="585216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97709" y="3108960"/>
            <a:ext cx="18490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A1A1A"/>
                </a:solidFill>
              </a:rPr>
              <a:t>問題を読む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443429" y="3520440"/>
            <a:ext cx="1757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入力と変える値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78705" y="2377440"/>
            <a:ext cx="585216" cy="585216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246778" y="3108960"/>
            <a:ext cx="18490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A1A1A"/>
                </a:solidFill>
              </a:rPr>
              <a:t>書き換え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292498" y="3520440"/>
            <a:ext cx="1757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ノード本体を編集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727774" y="2377440"/>
            <a:ext cx="585216" cy="585216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3108960"/>
            <a:ext cx="18490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A1A1A"/>
                </a:solidFill>
              </a:rPr>
              <a:t>ビルド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141568" y="3520440"/>
            <a:ext cx="1757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colcon build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76843" y="2377440"/>
            <a:ext cx="585216" cy="585216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944917" y="3108960"/>
            <a:ext cx="18490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A1A1A"/>
                </a:solidFill>
              </a:rPr>
              <a:t>確認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990637" y="3520440"/>
            <a:ext cx="1757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亀を動かす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425913" y="2377440"/>
            <a:ext cx="585216" cy="585216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3986" y="3108960"/>
            <a:ext cx="18490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A1A1A"/>
                </a:solidFill>
              </a:rPr>
              <a:t>commit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839706" y="3520440"/>
            <a:ext cx="175762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自分のブランチへ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397709" y="3886200"/>
            <a:ext cx="92453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A1A1A"/>
                </a:solidFill>
              </a:rPr>
              <a:t>問題ごとに 2〜6 を繰り返す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094415" cy="13335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4752213"/>
            <a:ext cx="292608" cy="29260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234440" y="4736592"/>
            <a:ext cx="101342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333333"/>
                </a:solidFill>
              </a:rPr>
              <a:t>詰まったら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5093208"/>
            <a:ext cx="1013429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1A1A1A"/>
                </a:solidFill>
              </a:rPr>
              <a:t>まず </a:t>
            </a:r>
            <a:r>
              <a:rPr lang="en-US" sz="17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ros2 topic echo</a:t>
            </a:r>
            <a:r>
              <a:rPr lang="en-US" sz="1700" dirty="0">
                <a:solidFill>
                  <a:srgbClr val="1A1A1A"/>
                </a:solidFill>
              </a:rPr>
              <a:t> で「入力が来ているか」「出力が出ているか」を確かめる（「動かないときの調べ方」参照）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897880"/>
            <a:ext cx="110944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解答例は資料の最後（付録）にあります。まずは自分で書いてみてください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22960" y="1828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22960" y="25146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リポジトリを知る</a:t>
            </a:r>
            <a:endParaRPr lang="en-US" sz="4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822960" y="3703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練習用リポジトリとメインリポジトリの構造・使い方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783080"/>
            <a:ext cx="2743200" cy="274320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560320"/>
            <a:ext cx="1188720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メインリポジトリと練習用リポジトリ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A1A1A"/>
                </a:solidFill>
              </a:rPr>
              <a:t>練習用はメインのフォーク（コピー）。構造が同じなので、そのまま本番で使えます。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026920"/>
            <a:ext cx="5044288" cy="2740660"/>
          </a:xfrm>
          <a:prstGeom prst="roundRect">
            <a:avLst>
              <a:gd name="adj" fmla="val 4004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01240"/>
            <a:ext cx="449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メインリポジトリ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0152"/>
            <a:ext cx="449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RRST-NHK-Project/rrst-ros2-ws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61360"/>
            <a:ext cx="4495648" cy="1231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機体で使うパッケージとマイコン側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大会に向けて開発が進む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動作確認済みだけを main 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98768" y="2026920"/>
            <a:ext cx="5044288" cy="2740660"/>
          </a:xfrm>
          <a:prstGeom prst="roundRect">
            <a:avLst>
              <a:gd name="adj" fmla="val 40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3088" y="2301240"/>
            <a:ext cx="449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練習用リポジトリ（これ）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873088" y="2740152"/>
            <a:ext cx="449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RRST-NHK-Project/rrst-ros2-ws-practice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73088" y="3261360"/>
            <a:ext cx="4495648" cy="1231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共通部品・通信パッケージはそのまま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機体固有のパッケージは削除済み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講習用パッケージを追加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30088" y="3397250"/>
            <a:ext cx="731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592928" y="298577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fork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87620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284216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34440" y="5268595"/>
            <a:ext cx="1013429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1A1A1A"/>
                </a:solidFill>
              </a:rPr>
              <a:t>練習で書いたノードは、メインの同じ場所（teleop_tools など）に置けば本番でも動きます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ディレクトリ構成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6339535"/>
              </a:tblGrid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ディレクトリ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種類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役割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common/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パッケージ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共通ヘッダ（PacketController・PID など）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teleop_tools/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パッケージ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コントローラーで機体を動かすホストノード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serial_bridge/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サブモジュール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ROS 2 ⇔ マイコンのシリアル通信（旧方式）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ros2can/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サブモジュール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ROS 2 ⇔ CAN 通信（serial_bridge の後継）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ros2can_example/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パッケージ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ros2can を使うノードのサンプル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microcontroller-ws/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サブモジュール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マイコン側（ESP32・STM32・Pico など）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cpp_pubsub/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パッケージ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入門 05 の Pub/Sub（C++）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turtle_teleop/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パッケージ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今回の講習で書き換えるパッケージ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docs/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資料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講習資料（この資料もここ）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.github/・dockerfile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環境・CI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GitHub Actions の自動ビルドと Docker イメージ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431536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FEEE2"/>
          </a:solidFill>
          <a:ln w="12700">
            <a:solidFill>
              <a:srgbClr val="C747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281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34440" y="5602986"/>
            <a:ext cx="101342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1A1A1A"/>
                </a:solidFill>
              </a:rPr>
              <a:t>パッケージ名は小文字のスネークケース（例：</a:t>
            </a:r>
            <a:r>
              <a:rPr lang="en-US" sz="1800" dirty="0">
                <a:solidFill>
                  <a:srgbClr val="1A1A1A"/>
                </a:solidFill>
                <a:highlight>
                  <a:srgbClr val="FFFFFF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turtle_teleop</a:t>
            </a:r>
            <a:r>
              <a:rPr lang="en-US" sz="1800" dirty="0">
                <a:solidFill>
                  <a:srgbClr val="1A1A1A"/>
                </a:solidFill>
              </a:rPr>
              <a:t>）。</a:t>
            </a:r>
            <a:r>
              <a:rPr lang="en-US" sz="1800" b="1" dirty="0">
                <a:solidFill>
                  <a:srgbClr val="1A1A1A"/>
                </a:solidFill>
              </a:rPr>
              <a:t>大文字は使わないこと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サブモジュール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A1A1A"/>
                </a:solidFill>
              </a:rPr>
              <a:t>serial_bridge・ros2can・microcontroller-ws は別リポジトリで開発されていて、ここには「どのコミットを使うか」だけを記録しています。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53640"/>
            <a:ext cx="6126480" cy="3017520"/>
          </a:xfrm>
          <a:prstGeom prst="roundRect">
            <a:avLst>
              <a:gd name="adj" fmla="val 3030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clone 直後：サブモジュールの中身を取得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submodule update --init --recursive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状態の確認（使っているコミットが出る）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submodule status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git pull したあとも実行する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pull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submodule update --init --recursive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48107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516368" y="2453640"/>
            <a:ext cx="412668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よくあるトラブル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918968"/>
            <a:ext cx="4510735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serial_bridge/ が空っぽ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submodule update を忘れている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ビルドで serial_bridge が見つからない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同上。実行してからビルドし直す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サブモジュール内を書き換えた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本体ではなく、そのリポジトリ側で直す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699760"/>
            <a:ext cx="110944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サブモジュールの中身は、それぞれのリポジトリ（github.com/RRST-NHK-Project/…）で開発されています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ブランチと自動ビルド（CI）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15258" cy="1965960"/>
          </a:xfrm>
          <a:prstGeom prst="roundRect">
            <a:avLst>
              <a:gd name="adj" fmla="val 5581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main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安定版（動作確認済み）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42032"/>
            <a:ext cx="29666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大会・本番で使う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38218" y="1371600"/>
            <a:ext cx="3515258" cy="1965960"/>
          </a:xfrm>
          <a:prstGeom prst="roundRect">
            <a:avLst>
              <a:gd name="adj" fmla="val 5581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2538" y="1645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develop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14884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最新版（開発中）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542032"/>
            <a:ext cx="2966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普段の開発はここ。確認できたら main 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7797" y="1371600"/>
            <a:ext cx="3515258" cy="1965960"/>
          </a:xfrm>
          <a:prstGeom prst="roundRect">
            <a:avLst>
              <a:gd name="adj" fmla="val 5581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16459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GitHub Actions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148840"/>
            <a:ext cx="296661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push のたびに全体をビルド</a:t>
            </a:r>
            <a:endParaRPr lang="en-US" sz="1600" dirty="0"/>
          </a:p>
          <a:p>
            <a:pPr marL="246888" indent="-246888">
              <a:lnSpc>
                <a:spcPts val="2400"/>
              </a:lnSpc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README のバッジで結果確認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703320"/>
            <a:ext cx="5486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この講習での作業の仕方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96080"/>
            <a:ext cx="6309360" cy="2133600"/>
          </a:xfrm>
          <a:prstGeom prst="roundRect">
            <a:avLst>
              <a:gd name="adj" fmla="val 4286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自分用のブランチを作る（yamada は自分の名前に）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switch -c practice/yamada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問題が解けたらコミット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add turtle_teleop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commit -m "問題1 前進・後退"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4287520"/>
            <a:ext cx="4373575" cy="1174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main・develop に直接コミットしない</a:t>
            </a:r>
            <a:endParaRPr lang="en-US" sz="1700" dirty="0"/>
          </a:p>
          <a:p>
            <a:pPr marL="246888" indent="-246888">
              <a:lnSpc>
                <a:spcPts val="2550"/>
              </a:lnSpc>
              <a:spcBef>
                <a:spcPts val="800"/>
              </a:spcBef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1問 = 1コミットで戻りやすく</a:t>
            </a:r>
            <a:endParaRPr lang="en-US" sz="1700" dirty="0"/>
          </a:p>
          <a:p>
            <a:pPr marL="246888" indent="-246888">
              <a:lnSpc>
                <a:spcPts val="2550"/>
              </a:lnSpc>
              <a:spcBef>
                <a:spcPts val="800"/>
              </a:spcBef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ビルドが通ってからコミット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環境構築：clone からビルドまで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040880" cy="4099560"/>
          </a:xfrm>
          <a:prstGeom prst="roundRect">
            <a:avLst>
              <a:gd name="adj" fmla="val 2230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1. ワークスペースを作る（作成済みなら不要）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mkdir -p ~/ros2_ws/src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2. src の中に clone（末尾の「.」に注意）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cd ~/ros2_ws/src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clone &lt;練習用リポジトリのURL&gt; .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git submodule update --init --recursive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3. 必要なパッケージ（初回のみ）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sudo apt install ros-jazzy-joy ros-jazzy-turtlesim figlet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4. ビルド（ワークスペース直下で）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cd ~/ros2_ws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colcon build</a:t>
            </a:r>
            <a:endParaRPr lang="en-US" sz="1400" dirty="0"/>
          </a:p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source install/setup.bash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001000" y="1371600"/>
            <a:ext cx="364205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ポイント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01000" y="1836928"/>
            <a:ext cx="364205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clone 先は src の中</a:t>
            </a:r>
            <a:endParaRPr lang="en-US" sz="1700" dirty="0"/>
          </a:p>
          <a:p>
            <a:pPr lvl="1" marL="548640" indent="-274320">
              <a:lnSpc>
                <a:spcPts val="2550"/>
              </a:lnSpc>
              <a:buSzPct val="100000"/>
              <a:buChar char="→"/>
            </a:pPr>
            <a:r>
              <a:rPr lang="en-US" sz="1500" dirty="0">
                <a:solidFill>
                  <a:srgbClr val="333333"/>
                </a:solidFill>
              </a:rPr>
              <a:t>src/turtle_teleop/ のようになる</a:t>
            </a:r>
            <a:endParaRPr lang="en-US" sz="1700" dirty="0"/>
          </a:p>
          <a:p>
            <a:pPr marL="246888" indent="-246888">
              <a:lnSpc>
                <a:spcPts val="2550"/>
              </a:lnSpc>
              <a:spcBef>
                <a:spcPts val="800"/>
              </a:spcBef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1パッケージだけビルド</a:t>
            </a:r>
            <a:endParaRPr lang="en-US" sz="1700" dirty="0"/>
          </a:p>
          <a:p>
            <a:pPr lvl="1" marL="548640" indent="-274320">
              <a:lnSpc>
                <a:spcPts val="2550"/>
              </a:lnSpc>
              <a:buSzPct val="100000"/>
              <a:buChar char="→"/>
            </a:pPr>
            <a:r>
              <a:rPr lang="en-US" sz="15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--packages-select 名前</a:t>
            </a:r>
            <a:endParaRPr lang="en-US" sz="1700" dirty="0"/>
          </a:p>
          <a:p>
            <a:pPr marL="246888" indent="-246888">
              <a:lnSpc>
                <a:spcPts val="2550"/>
              </a:lnSpc>
              <a:spcBef>
                <a:spcPts val="800"/>
              </a:spcBef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ターミナルを開くたびに</a:t>
            </a:r>
            <a:endParaRPr lang="en-US" sz="1700" dirty="0"/>
          </a:p>
          <a:p>
            <a:pPr lvl="1" marL="548640" indent="-274320">
              <a:lnSpc>
                <a:spcPts val="2550"/>
              </a:lnSpc>
              <a:buSzPct val="100000"/>
              <a:buChar char="→"/>
            </a:pPr>
            <a:r>
              <a:rPr lang="en-US" sz="15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source install/setup.bash</a:t>
            </a:r>
            <a:endParaRPr lang="en-US" sz="1700" dirty="0"/>
          </a:p>
          <a:p>
            <a:pPr marL="246888" indent="-246888">
              <a:lnSpc>
                <a:spcPts val="2550"/>
              </a:lnSpc>
              <a:spcBef>
                <a:spcPts val="800"/>
              </a:spcBef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ビルドが固まる</a:t>
            </a:r>
            <a:endParaRPr lang="en-US" sz="1700" dirty="0"/>
          </a:p>
          <a:p>
            <a:pPr lvl="1" marL="548640" indent="-274320">
              <a:lnSpc>
                <a:spcPts val="2550"/>
              </a:lnSpc>
              <a:buSzPct val="100000"/>
              <a:buChar char="→"/>
            </a:pPr>
            <a:r>
              <a:rPr lang="en-US" sz="15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--parallel-workers 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54040"/>
            <a:ext cx="110944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URL は GitHub のリポジトリページの「Code」ボタンからコピーする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実機の制御と今回の演習の対応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A1A1A"/>
                </a:solidFill>
              </a:rPr>
              <a:t>流れは同じです。自分で書くのは真ん中のノードの中身だけ。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4D4D4D"/>
                </a:solidFill>
              </a:rPr>
              <a:t>実機（メインリポジトリ）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PS4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コントローラー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82898" y="242316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8289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joy_node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82898" y="29718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joy パッケージ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17157" y="242316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7157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sb_host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817157" y="29718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CCCCCC"/>
                </a:solidFill>
              </a:rPr>
              <a:t>teleop_tools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951415" y="242316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51415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マイコン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951415" y="29718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serial_bridge 経由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95144" y="2903220"/>
            <a:ext cx="1332890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203704" y="2537460"/>
            <a:ext cx="1515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USB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29402" y="2903220"/>
            <a:ext cx="1332890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337962" y="2537460"/>
            <a:ext cx="1515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/joy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563661" y="2903220"/>
            <a:ext cx="1332890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472221" y="2537460"/>
            <a:ext cx="1515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/serial_tx_1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4D4D4D"/>
                </a:solidFill>
              </a:rPr>
              <a:t>今回の演習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10565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PS4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5262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コントローラー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82898" y="397764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82898" y="410565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joy_node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3682898" y="45262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joy パッケージ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817157" y="397764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17157" y="410565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ps4_turtle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7157" y="45262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CCCCCC"/>
                </a:solidFill>
              </a:rPr>
              <a:t>turtle_teleop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951415" y="3977640"/>
            <a:ext cx="1691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51415" y="410565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turtlesim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951415" y="45262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亀の画面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95144" y="4457700"/>
            <a:ext cx="1332890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2203704" y="4091940"/>
            <a:ext cx="1515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USB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29402" y="4457700"/>
            <a:ext cx="1332890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337962" y="4091940"/>
            <a:ext cx="1515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/joy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63661" y="4457700"/>
            <a:ext cx="1332890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472221" y="4091940"/>
            <a:ext cx="1515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/turtle1/cmd_vel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11094415" cy="1014984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538978"/>
            <a:ext cx="292608" cy="29260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234440" y="5513832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1A1A1A"/>
                </a:solidFill>
              </a:rPr>
              <a:t>sb_host は配列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data_</a:t>
            </a:r>
            <a:r>
              <a:rPr lang="en-US" sz="1800" dirty="0">
                <a:solidFill>
                  <a:srgbClr val="1A1A1A"/>
                </a:solidFill>
              </a:rPr>
              <a:t>、ps4_turtle は速度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</a:t>
            </a:r>
            <a:r>
              <a:rPr lang="en-US" sz="1800" dirty="0">
                <a:solidFill>
                  <a:srgbClr val="1A1A1A"/>
                </a:solidFill>
              </a:rPr>
              <a:t> を書き換えてタイマーで Publish。</a:t>
            </a:r>
            <a:r>
              <a:rPr lang="en-US" sz="1800" b="1" dirty="0">
                <a:solidFill>
                  <a:srgbClr val="1A1A1A"/>
                </a:solidFill>
              </a:rPr>
              <a:t>書き方は同じ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22960" y="1828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22960" y="25146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turtle_teleop を読む</a:t>
            </a:r>
            <a:endParaRPr lang="en-US" sz="4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822960" y="3703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配布したパッケージの構成と、ノードの仕組み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783080"/>
            <a:ext cx="2743200" cy="274320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560320"/>
            <a:ext cx="1188720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turtle_teleop パッケージの構成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97680" cy="2165985"/>
          </a:xfrm>
          <a:prstGeom prst="roundRect">
            <a:avLst>
              <a:gd name="adj" fmla="val 4222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03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turtle_teleop/</a:t>
            </a:r>
            <a:endParaRPr lang="en-US" sz="15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├── CMakeLists.txt</a:t>
            </a:r>
            <a:endParaRPr lang="en-US" sz="15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├── package.xml</a:t>
            </a:r>
            <a:endParaRPr lang="en-US" sz="15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├── launch/</a:t>
            </a:r>
            <a:endParaRPr lang="en-US" sz="15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│   └── ps4_turtle.launch.py</a:t>
            </a:r>
            <a:endParaRPr lang="en-US" sz="15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└── src/</a:t>
            </a:r>
            <a:endParaRPr lang="en-US" sz="15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└── PS4_Turtle_Teleop.cpp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371600"/>
          <a:ext cx="643097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367735"/>
              </a:tblGrid>
              <a:tr h="433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ファイル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役割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3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PS4_Turtle_Teleop.cpp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ノード本体（</a:t>
                      </a:r>
                      <a:r>
                        <a:rPr lang="en-US" sz="1600" b="1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ここを書き換える</a:t>
                      </a: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ps4_turtle.launch.py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3つのノードをまとめて起動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CMakeLists.txt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実行ファイル ps4_turtle を作る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1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package.xml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依存パッケージを書く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03345"/>
            <a:ext cx="7315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launch で起動される 3 つのノード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4396105"/>
            <a:ext cx="3515258" cy="1776095"/>
          </a:xfrm>
          <a:prstGeom prst="roundRect">
            <a:avLst>
              <a:gd name="adj" fmla="val 6178"/>
            </a:avLst>
          </a:prstGeom>
          <a:solidFill>
            <a:srgbClr val="F2F2F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4597273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joy_node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036185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パッケージ：joy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383657"/>
            <a:ext cx="296661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333333"/>
                </a:solidFill>
              </a:rPr>
              <a:t>入力を /joy に出す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38218" y="4396105"/>
            <a:ext cx="3515258" cy="1776095"/>
          </a:xfrm>
          <a:prstGeom prst="roundRect">
            <a:avLst>
              <a:gd name="adj" fmla="val 6178"/>
            </a:avLst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12538" y="4597273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turtlesim_node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612538" y="5036185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パッケージ：turtlesim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5383657"/>
            <a:ext cx="296661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333333"/>
                </a:solidFill>
              </a:rPr>
              <a:t>亀の画面。cmd_vel で動く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27797" y="4396105"/>
            <a:ext cx="3515258" cy="1776095"/>
          </a:xfrm>
          <a:prstGeom prst="roundRect">
            <a:avLst>
              <a:gd name="adj" fmla="val 6178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4597273"/>
            <a:ext cx="2143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ps4_turtle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0637215" y="4624705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自作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02117" y="5036185"/>
            <a:ext cx="2966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パッケージ：turtle_teleop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402117" y="5383657"/>
            <a:ext cx="296661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333333"/>
                </a:solidFill>
              </a:rPr>
              <a:t>/joy → cmd_vel に変換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まずは起動してみる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949440" cy="1838960"/>
          </a:xfrm>
          <a:prstGeom prst="roundRect">
            <a:avLst>
              <a:gd name="adj" fmla="val 4972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PS4 コントローラーを USB で接続しておく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cd ~/ros2_ws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colcon build --packages-select turtle_teleop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source install/setup.bash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ros2 launch turtle_teleop ps4_turtle.launch.py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818120" y="1371600"/>
            <a:ext cx="3824935" cy="1838960"/>
          </a:xfrm>
          <a:prstGeom prst="roundRect">
            <a:avLst>
              <a:gd name="adj" fmla="val 4972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4152" y="1814068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1807972"/>
            <a:ext cx="286481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333333"/>
                </a:solidFill>
              </a:rPr>
              <a:t>亀が動かない？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164588"/>
            <a:ext cx="28648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</a:rPr>
              <a:t>それで正常です。配布状態は速度 0 を送り続けているだけ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76320"/>
            <a:ext cx="8229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起動できたか確認する（別のターミナルで）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41648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5224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コマンド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確認できること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ros2 node list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/joy_node・/turtlesim・/ps4_turtle_teleop がある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ros2 topic echo /joy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スティックを倒すと axes の値が変わる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ros2 topic echo /turtle1/cmd_vel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0 が 20ms ごとに流れている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97880"/>
            <a:ext cx="110944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ビルド時の warning「unused parameter ‘msg’」は、問題1で msg を使うと消えます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ノードの仕組み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1097280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D4D4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/joy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682496" y="2011680"/>
            <a:ext cx="231572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950644" y="1417320"/>
            <a:ext cx="2514600" cy="1188720"/>
          </a:xfrm>
          <a:prstGeom prst="roundRect">
            <a:avLst>
              <a:gd name="adj" fmla="val 7692"/>
            </a:avLst>
          </a:prstGeom>
          <a:solidFill>
            <a:srgbClr val="1A1A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50644" y="16184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ps4_listener_callback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042084" y="20756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CCCCCC"/>
                </a:solidFill>
              </a:rPr>
              <a:t>入力のたびに呼ばれる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01820" y="2011680"/>
            <a:ext cx="231572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1493444" y="2715768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A1A1A"/>
                </a:solidFill>
              </a:rPr>
              <a:t>↑ 自分で書くのは、ここの中身だけ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69968" y="1417320"/>
            <a:ext cx="1965960" cy="1188720"/>
          </a:xfrm>
          <a:prstGeom prst="roundRect">
            <a:avLst>
              <a:gd name="adj" fmla="val 7692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9968" y="161848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8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61408" y="20756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メンバ変数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772504" y="2011680"/>
            <a:ext cx="231572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040651" y="1417320"/>
            <a:ext cx="26974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651" y="16184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publisher_timer_callback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32091" y="207568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20ms ごとに Publish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774707" y="2011680"/>
            <a:ext cx="231572" cy="0"/>
          </a:xfrm>
          <a:prstGeom prst="line">
            <a:avLst/>
          </a:prstGeom>
          <a:noFill/>
          <a:ln w="25400">
            <a:solidFill>
              <a:srgbClr val="4D4D4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10042855" y="1764792"/>
            <a:ext cx="1600200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D4D4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/turtle1/cmd_vel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83280"/>
            <a:ext cx="7680960" cy="2133600"/>
          </a:xfrm>
          <a:prstGeom prst="roundRect">
            <a:avLst>
              <a:gd name="adj" fmla="val 4286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void ps4_listener_callback(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    const sensor_msgs::msg::Joy::SharedPtr msg) {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// コントローラーの入力を取得、使う入力のコメントアウトを外す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// float LS_Y = msg-&gt;axes[1];  // 上: +1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// 以降、twist_を操作する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3474720"/>
            <a:ext cx="3001975" cy="157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使う入力のコメントアウトを外す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</a:t>
            </a:r>
            <a:r>
              <a:rPr lang="en-US" sz="1800" dirty="0">
                <a:solidFill>
                  <a:srgbClr val="333333"/>
                </a:solidFill>
              </a:rPr>
              <a:t> に値を入れる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Publish は書かなくてよい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PS4 コントローラーの割り当て（joy_node）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257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6596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axes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入力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値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axes[0]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左スティック 左右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左 +1 〜 右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axes[1]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左スティック 上下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上 +1 〜 下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axes[2]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L2（アナログ）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離す +1 〜 押す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axes[3]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右スティック 左右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左 +1 〜 右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axes[4]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右スティック 上下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上 +1 〜 下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axes[5]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R2（アナログ）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離す +1 〜 押す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axes[6]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十字キー 左右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左 +1 / 右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axes[7]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十字キー 上下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上 +1 / 下 -1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25880"/>
          <a:ext cx="54251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112368"/>
                <a:gridCol w="1600200"/>
                <a:gridCol w="111236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buttons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入力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buttons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入力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buttons[0]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×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buttons[7]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R2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buttons[1]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○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buttons[8]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SHARE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buttons[2]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△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buttons[9]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OPTIONS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buttons[3]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□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buttons[10]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PS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buttons[4]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buttons[11]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L3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buttons[5]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R1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buttons[12]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R3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buttons[6]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L2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5010912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207508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34440" y="5191887"/>
            <a:ext cx="1013429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1A1A1A"/>
                </a:solidFill>
              </a:rPr>
              <a:t>ボタンは押している間だけ 1。スティックは倒し具合に応じて -1.0〜+1.0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833872"/>
            <a:ext cx="110944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番号が違う気がしたら、ros2 topic echo /joy を見ながら押して確かめる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速度指令 Twist と亀の動き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858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00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メンバ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意味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単位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twist_.linear.x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前進（+）・後退（-）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m/s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twist_.angular.z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左旋回（+）・右旋回（-）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rad/s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Noto Sans Mono" pitchFamily="34" charset="0"/>
                          <a:ea typeface="Noto Sans JP" pitchFamily="34" charset="-122"/>
                          <a:cs typeface="Noto Sans Mono" pitchFamily="34" charset="-120"/>
                        </a:rPr>
                        <a:t>その他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turtlesim では使わない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-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20440"/>
            <a:ext cx="6858000" cy="1304925"/>
          </a:xfrm>
          <a:prstGeom prst="roundRect">
            <a:avLst>
              <a:gd name="adj" fmla="val 7007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例：前に 1.0 m/s 進みながら左に回る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twist_.linear.x = 1.0;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twist_.angular.z = 0.5;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7772400" y="1371600"/>
            <a:ext cx="3870655" cy="3453765"/>
          </a:xfrm>
          <a:prstGeom prst="roundRect">
            <a:avLst>
              <a:gd name="adj" fmla="val 3177"/>
            </a:avLst>
          </a:prstGeom>
          <a:solidFill>
            <a:srgbClr val="F2F2F2"/>
          </a:solidFill>
          <a:ln/>
        </p:spPr>
      </p:sp>
      <p:sp>
        <p:nvSpPr>
          <p:cNvPr id="6" name="Shape 3"/>
          <p:cNvSpPr/>
          <p:nvPr/>
        </p:nvSpPr>
        <p:spPr>
          <a:xfrm>
            <a:off x="8275320" y="2184083"/>
            <a:ext cx="1828800" cy="1828800"/>
          </a:xfrm>
          <a:prstGeom prst="arc">
            <a:avLst>
              <a:gd name="adj1" fmla="val 12000000"/>
              <a:gd name="adj2" fmla="val 20400000"/>
            </a:avLst>
          </a:prstGeom>
          <a:noFill/>
          <a:ln w="31750">
            <a:solidFill>
              <a:srgbClr val="1A1A1A"/>
            </a:solidFill>
            <a:prstDash val="solid"/>
            <a:headEnd type="triangle"/>
          </a:ln>
        </p:spPr>
      </p:sp>
      <p:sp>
        <p:nvSpPr>
          <p:cNvPr id="7" name="Shape 4"/>
          <p:cNvSpPr/>
          <p:nvPr/>
        </p:nvSpPr>
        <p:spPr>
          <a:xfrm>
            <a:off x="8778240" y="2687003"/>
            <a:ext cx="822960" cy="822960"/>
          </a:xfrm>
          <a:prstGeom prst="ellipse">
            <a:avLst/>
          </a:prstGeom>
          <a:solidFill>
            <a:srgbClr val="197A4B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9208008" y="2970467"/>
            <a:ext cx="256032" cy="256032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9646920" y="3098483"/>
            <a:ext cx="1280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80467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angular.z</a:t>
            </a:r>
            <a:endParaRPr lang="en-US" sz="1600" dirty="0"/>
          </a:p>
          <a:p>
            <a:pPr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1A1A1A"/>
                </a:solidFill>
              </a:rPr>
              <a:t>+ で左回り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784080" y="3208211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linear.x</a:t>
            </a:r>
            <a:endParaRPr lang="en-US" sz="1600" dirty="0"/>
          </a:p>
          <a:p>
            <a:pPr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1A1A1A"/>
                </a:solidFill>
              </a:rPr>
              <a:t>+ で前進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4368165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4D4D4D"/>
                </a:solidFill>
              </a:rPr>
              <a:t>亀は頭の向きに進む（横には動かない）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5145405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364861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34440" y="5349240"/>
            <a:ext cx="1013429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1A1A1A"/>
                </a:solidFill>
              </a:rPr>
              <a:t>最大速度は </a:t>
            </a:r>
            <a:r>
              <a:rPr lang="en-US" sz="17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MAX_LINEAR</a:t>
            </a:r>
            <a:r>
              <a:rPr lang="en-US" sz="1700" dirty="0">
                <a:solidFill>
                  <a:srgbClr val="1A1A1A"/>
                </a:solidFill>
              </a:rPr>
              <a:t>・</a:t>
            </a:r>
            <a:r>
              <a:rPr lang="en-US" sz="17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MAX_ANGULAR</a:t>
            </a:r>
            <a:r>
              <a:rPr lang="en-US" sz="1700" dirty="0">
                <a:solidFill>
                  <a:srgbClr val="1A1A1A"/>
                </a:solidFill>
              </a:rPr>
              <a:t>（どちらも 2.0）。スティックの値（-1〜1）に掛ける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動かないときの調べ方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A1A1A"/>
                </a:solidFill>
              </a:rPr>
              <a:t>入力 → ノード → 出力 の順に、どこで止まっているかを1つずつ確かめます。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5416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0116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入力は来ている？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886200" y="2167128"/>
            <a:ext cx="3749040" cy="493776"/>
          </a:xfrm>
          <a:prstGeom prst="roundRect">
            <a:avLst>
              <a:gd name="adj" fmla="val 14815"/>
            </a:avLst>
          </a:prstGeom>
          <a:solidFill>
            <a:srgbClr val="262626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ros2 topic echo /joy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2011680"/>
            <a:ext cx="377921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スティックで axes が変わるか。変わらない → 接続・joy_node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816352"/>
            <a:ext cx="1109441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16352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ノードは動いている？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2971800"/>
            <a:ext cx="3749040" cy="493776"/>
          </a:xfrm>
          <a:prstGeom prst="roundRect">
            <a:avLst>
              <a:gd name="adj" fmla="val 14815"/>
            </a:avLst>
          </a:prstGeom>
          <a:solidFill>
            <a:srgbClr val="262626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RCLCPP_INFO(...)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816352"/>
            <a:ext cx="377921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コールバック内で値を表示。出ない → ノード名・トピック名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621024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出力は出ている？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3776472"/>
            <a:ext cx="3749040" cy="493776"/>
          </a:xfrm>
          <a:prstGeom prst="roundRect">
            <a:avLst>
              <a:gd name="adj" fmla="val 14815"/>
            </a:avLst>
          </a:prstGeom>
          <a:solidFill>
            <a:srgbClr val="262626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ros2 topic echo /turtle1/cmd_vel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621024"/>
            <a:ext cx="377921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値が 0 のまま → 計算・代入の間違い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599432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425696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つながっている？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886200" y="4581144"/>
            <a:ext cx="3749040" cy="493776"/>
          </a:xfrm>
          <a:prstGeom prst="roundRect">
            <a:avLst>
              <a:gd name="adj" fmla="val 14815"/>
            </a:avLst>
          </a:prstGeom>
          <a:solidFill>
            <a:srgbClr val="262626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rqt_graph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4425696"/>
            <a:ext cx="377921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ノードとトピックの線を図で確認できる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FEEE2"/>
          </a:solidFill>
          <a:ln w="12700">
            <a:solidFill>
              <a:srgbClr val="C7470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545836"/>
            <a:ext cx="292608" cy="29260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234440" y="5520690"/>
            <a:ext cx="101342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1A1A1A"/>
                </a:solidFill>
              </a:rPr>
              <a:t>書き換えたら、</a:t>
            </a:r>
            <a:r>
              <a:rPr lang="en-US" sz="1800" b="1" dirty="0">
                <a:solidFill>
                  <a:srgbClr val="1A1A1A"/>
                </a:solidFill>
              </a:rPr>
              <a:t>必ずビルドし直して launch し直す</a:t>
            </a:r>
            <a:r>
              <a:rPr lang="en-US" sz="1800" dirty="0">
                <a:solidFill>
                  <a:srgbClr val="1A1A1A"/>
                </a:solidFill>
              </a:rPr>
              <a:t>（</a:t>
            </a:r>
            <a:r>
              <a:rPr lang="en-US" sz="1800" dirty="0">
                <a:solidFill>
                  <a:srgbClr val="1A1A1A"/>
                </a:solidFill>
                <a:highlight>
                  <a:srgbClr val="FFFFFF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source</a:t>
            </a:r>
            <a:r>
              <a:rPr lang="en-US" sz="1800" dirty="0">
                <a:solidFill>
                  <a:srgbClr val="1A1A1A"/>
                </a:solidFill>
              </a:rPr>
              <a:t> も忘れずに）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22960" y="1828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22960" y="25146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</a:t>
            </a:r>
            <a:endParaRPr lang="en-US" sz="4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822960" y="3703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PS4_Turtle_Teleop.cpp を書き換えて、亀を操縦できるようにする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783080"/>
            <a:ext cx="2743200" cy="274320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560320"/>
            <a:ext cx="1188720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問題一覧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15258" cy="2026920"/>
          </a:xfrm>
          <a:prstGeom prst="roundRect">
            <a:avLst>
              <a:gd name="adj" fmla="val 5414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058058" y="170992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前進・後退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9666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左スティック上下で前後に動く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8218" y="1371600"/>
            <a:ext cx="3515258" cy="2026920"/>
          </a:xfrm>
          <a:prstGeom prst="roundRect">
            <a:avLst>
              <a:gd name="adj" fmla="val 5414"/>
            </a:avLst>
          </a:prstGeom>
          <a:solidFill>
            <a:srgbClr val="F2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47637" y="170992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14884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旋回とデッドゾーン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560320"/>
            <a:ext cx="2966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右スティック左右で回る。小さな傾きは無視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27797" y="1371600"/>
            <a:ext cx="3515258" cy="2026920"/>
          </a:xfrm>
          <a:prstGeom prst="roundRect">
            <a:avLst>
              <a:gd name="adj" fmla="val 5414"/>
            </a:avLst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02117" y="164592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637215" y="170992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214884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ブースト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2560320"/>
            <a:ext cx="29666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R1 を押している間だけ速くする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672840"/>
            <a:ext cx="3515258" cy="2026920"/>
          </a:xfrm>
          <a:prstGeom prst="roundRect">
            <a:avLst>
              <a:gd name="adj" fmla="val 5414"/>
            </a:avLst>
          </a:prstGeom>
          <a:solidFill>
            <a:srgbClr val="F2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394716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58058" y="401116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4500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低速モード切替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61560"/>
            <a:ext cx="2966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○を押すたびに低速モードを ON/OFF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38218" y="3672840"/>
            <a:ext cx="3515258" cy="2026920"/>
          </a:xfrm>
          <a:prstGeom prst="roundRect">
            <a:avLst>
              <a:gd name="adj" fmla="val 5414"/>
            </a:avLst>
          </a:prstGeom>
          <a:solidFill>
            <a:srgbClr val="F2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612538" y="394716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847637" y="401116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EEE2"/>
          </a:solidFill>
          <a:ln w="12700">
            <a:solidFill>
              <a:srgbClr val="C747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4700"/>
                </a:solidFill>
              </a:rPr>
              <a:t>発展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612538" y="44500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リセット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612538" y="4861560"/>
            <a:ext cx="29666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PS ボタンで亀を中央に戻す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27797" y="3672840"/>
            <a:ext cx="3515258" cy="2026920"/>
          </a:xfrm>
          <a:prstGeom prst="roundRect">
            <a:avLst>
              <a:gd name="adj" fmla="val 5414"/>
            </a:avLst>
          </a:prstGeom>
          <a:solidFill>
            <a:srgbClr val="F2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02117" y="394716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637215" y="4011168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EEE2"/>
          </a:solidFill>
          <a:ln w="12700">
            <a:solidFill>
              <a:srgbClr val="C747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4700"/>
                </a:solidFill>
              </a:rPr>
              <a:t>発展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02117" y="44500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ペンの ON/OFF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402117" y="4861560"/>
            <a:ext cx="296661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△で軌跡を描く・描かないを切り替え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82640"/>
            <a:ext cx="110944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D4D4D"/>
                </a:solidFill>
              </a:rPr>
              <a:t>書き換えるのは PS4_Turtle_Teleop.cpp の「以降、twist_を操作する」〜「twist_の操作ここまで」の間（5・6 は他も）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問題1　前進・後退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08176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71600"/>
            <a:ext cx="10180015" cy="391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左スティックを上に倒すと亀が前進、下に倒すと後退するようにしなさい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02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2082800"/>
            <a:ext cx="2743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ヒント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48128"/>
            <a:ext cx="5516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左スティック上下は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axes[1]</a:t>
            </a:r>
            <a:r>
              <a:rPr lang="en-US" sz="1800" dirty="0">
                <a:solidFill>
                  <a:srgbClr val="333333"/>
                </a:solidFill>
              </a:rPr>
              <a:t>（上 +1、下 -1）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LS_Y</a:t>
            </a:r>
            <a:r>
              <a:rPr lang="en-US" sz="1800" dirty="0">
                <a:solidFill>
                  <a:srgbClr val="333333"/>
                </a:solidFill>
              </a:rPr>
              <a:t> のコメントアウトを外して使う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前後の速度は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twist_.linear.x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MAX_LINEAR</a:t>
            </a:r>
            <a:r>
              <a:rPr lang="en-US" sz="1800" dirty="0">
                <a:solidFill>
                  <a:srgbClr val="333333"/>
                </a:solidFill>
              </a:rPr>
              <a:t> を掛けると最大 2.0 m/s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22415" y="2119376"/>
            <a:ext cx="5120640" cy="1931035"/>
          </a:xfrm>
          <a:prstGeom prst="roundRect">
            <a:avLst>
              <a:gd name="adj" fmla="val 4735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コメントアウトを外す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float LS_Y = msg-&gt;axes[1];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以降、twist_を操作する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twist_.linear.x = ???;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E6F5EC"/>
          </a:solidFill>
          <a:ln w="12700">
            <a:solidFill>
              <a:srgbClr val="197A4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5608320"/>
            <a:ext cx="101342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A1A1A"/>
                </a:solidFill>
              </a:rPr>
              <a:t>確認</a:t>
            </a:r>
            <a:r>
              <a:rPr lang="en-US" sz="1600" dirty="0">
                <a:solidFill>
                  <a:srgbClr val="1A1A1A"/>
                </a:solidFill>
              </a:rPr>
              <a:t>　</a:t>
            </a:r>
            <a:r>
              <a:rPr lang="en-US" sz="1600" dirty="0">
                <a:solidFill>
                  <a:srgbClr val="1A1A1A"/>
                </a:solidFill>
                <a:highlight>
                  <a:srgbClr val="FFFFFF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ros2 topic echo /turtle1/cmd_vel</a:t>
            </a:r>
            <a:r>
              <a:rPr lang="en-US" sz="1600" dirty="0">
                <a:solidFill>
                  <a:srgbClr val="1A1A1A"/>
                </a:solidFill>
              </a:rPr>
              <a:t> で、上に倒すと linear.x が +2.0、下で -2.0、離すと 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問題2　旋回とデッドゾーン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08176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71600"/>
            <a:ext cx="10180015" cy="782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右スティックを左右に倒すと亀が回転するようにしなさい。傾きが小さいときは 0 とみなしなさい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13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2473960"/>
            <a:ext cx="2743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ヒント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39288"/>
            <a:ext cx="5516575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右スティック左右は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axes[3]</a:t>
            </a:r>
            <a:r>
              <a:rPr lang="en-US" sz="1800" dirty="0">
                <a:solidFill>
                  <a:srgbClr val="333333"/>
                </a:solidFill>
              </a:rPr>
              <a:t>（左 +1）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angular.z も左回りが +。符号はそのまま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|値| が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DEADZONE_R</a:t>
            </a:r>
            <a:r>
              <a:rPr lang="en-US" sz="1800" dirty="0">
                <a:solidFill>
                  <a:srgbClr val="333333"/>
                </a:solidFill>
              </a:rPr>
              <a:t> 未満なら 0 にする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離しても完全に 0 にならず、亀がじわじわ動くため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絶対値は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std::fabs()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左スティックにも </a:t>
            </a:r>
            <a:r>
              <a:rPr lang="en-US" sz="16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DEADZONE_L</a:t>
            </a:r>
            <a:r>
              <a:rPr lang="en-US" sz="1600" dirty="0">
                <a:solidFill>
                  <a:srgbClr val="333333"/>
                </a:solidFill>
              </a:rPr>
              <a:t> で同じ処理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22415" y="2510536"/>
            <a:ext cx="5120640" cy="1931035"/>
          </a:xfrm>
          <a:prstGeom prst="roundRect">
            <a:avLst>
              <a:gd name="adj" fmla="val 4735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(std::fabs(RS_X) &lt; DEADZONE_R) {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RS_X = 0.0;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twist_.angular.z = ???;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E6F5EC"/>
          </a:solidFill>
          <a:ln w="12700">
            <a:solidFill>
              <a:srgbClr val="197A4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5589270"/>
            <a:ext cx="101342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確認</a:t>
            </a:r>
            <a:r>
              <a:rPr lang="en-US" sz="1800" dirty="0">
                <a:solidFill>
                  <a:srgbClr val="1A1A1A"/>
                </a:solidFill>
              </a:rPr>
              <a:t>　右スティックで左右に回る。少しだけ傾けても亀が動かない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問題3　ブースト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08176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71600"/>
            <a:ext cx="10180015" cy="391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R1 を押している間だけ、前進・旋回の速さが 2 倍になるようにしなさい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02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2082800"/>
            <a:ext cx="2743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ヒント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48128"/>
            <a:ext cx="5516575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R1 は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buttons[5]</a:t>
            </a:r>
            <a:r>
              <a:rPr lang="en-US" sz="1800" dirty="0">
                <a:solidFill>
                  <a:srgbClr val="333333"/>
                </a:solidFill>
              </a:rPr>
              <a:t>（押している間 1）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bool R1</a:t>
            </a:r>
            <a:r>
              <a:rPr lang="en-US" sz="1600" dirty="0">
                <a:solidFill>
                  <a:srgbClr val="333333"/>
                </a:solidFill>
              </a:rPr>
              <a:t> のコメントアウトを外す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倍率を変数にすると後で楽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三項演算子でも if 文でもよい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linear.x と angular.z の両方に掛ける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22415" y="2119376"/>
            <a:ext cx="5120640" cy="2870200"/>
          </a:xfrm>
          <a:prstGeom prst="roundRect">
            <a:avLst>
              <a:gd name="adj" fmla="val 3186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三項演算子で書く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double scale = R1 ? 2.0 : 1.0;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if 文で書いてもよい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double scale = 1.0;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(R1) {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scale = 2.0;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E6F5EC"/>
          </a:solidFill>
          <a:ln w="12700">
            <a:solidFill>
              <a:srgbClr val="197A4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5589270"/>
            <a:ext cx="101342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確認</a:t>
            </a:r>
            <a:r>
              <a:rPr lang="en-US" sz="1800" dirty="0">
                <a:solidFill>
                  <a:srgbClr val="1A1A1A"/>
                </a:solidFill>
              </a:rPr>
              <a:t>　R1 を押しながら左スティックを上に倒すと linear.x が 4.0。離すと 2.0 に戻る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問題4　低速モード切替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08176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</a:rPr>
              <a:t>基本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71600"/>
            <a:ext cx="10180015" cy="782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○ボタンを押すたびに、低速モード（速さ 0.3 倍）の ON/OFF が切り替わるようにしなさい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13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2473960"/>
            <a:ext cx="2743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ヒント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39288"/>
            <a:ext cx="5516575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「押した瞬間」に1回だけ切り替える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そのまま反転すると、押している間ずっと切り替わる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前回の状態を static 変数で覚える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今回 1・前回 0 のときだけ（立ち上がり検出）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問題3のブーストと組み合わせてよい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低速 + ブーストで 0.6 倍など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22415" y="2510536"/>
            <a:ext cx="5120640" cy="2575560"/>
          </a:xfrm>
          <a:prstGeom prst="roundRect">
            <a:avLst>
              <a:gd name="adj" fmla="val 3550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static bool last_circle = false;</a:t>
            </a:r>
            <a:endParaRPr lang="en-US" sz="1500" dirty="0"/>
          </a:p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static bool slow_mode = false;</a:t>
            </a:r>
            <a:endParaRPr lang="en-US" sz="1500" dirty="0"/>
          </a:p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押した瞬間だけ true</a:t>
            </a:r>
            <a:endParaRPr lang="en-US" sz="1500" dirty="0"/>
          </a:p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(CIRCLE &amp;&amp; !last_circle) {</a:t>
            </a:r>
            <a:endParaRPr lang="en-US" sz="1500" dirty="0"/>
          </a:p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slow_mode = !slow_mode;</a:t>
            </a:r>
            <a:endParaRPr lang="en-US" sz="1500" dirty="0"/>
          </a:p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last_circle = CIRCLE;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E6F5EC"/>
          </a:solidFill>
          <a:ln w="12700">
            <a:solidFill>
              <a:srgbClr val="197A4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5589270"/>
            <a:ext cx="101342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確認</a:t>
            </a:r>
            <a:r>
              <a:rPr lang="en-US" sz="1800" dirty="0">
                <a:solidFill>
                  <a:srgbClr val="1A1A1A"/>
                </a:solidFill>
              </a:rPr>
              <a:t>　○を1回押すと RCLCPP_INFO で ON、もう1回で OFF と表示。ON の間は亀が遅い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問題5　リセット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08176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EEE2"/>
          </a:solidFill>
          <a:ln w="12700">
            <a:solidFill>
              <a:srgbClr val="C747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4700"/>
                </a:solidFill>
              </a:rPr>
              <a:t>発展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71600"/>
            <a:ext cx="10180015" cy="391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PS ボタンを押すと、亀が画面の中央に戻り、描いた線も消えるようにしなさい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02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2082800"/>
            <a:ext cx="2743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ヒント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48128"/>
            <a:ext cx="5516575" cy="259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/reset</a:t>
            </a:r>
            <a:r>
              <a:rPr lang="en-US" sz="1800" dirty="0">
                <a:solidFill>
                  <a:srgbClr val="333333"/>
                </a:solidFill>
              </a:rPr>
              <a:t> サービス（std_srvs/srv/Empty）を呼ぶ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中身のないリクエストを送るだけ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create_client</a:t>
            </a:r>
            <a:r>
              <a:rPr lang="en-US" sz="1800" dirty="0">
                <a:solidFill>
                  <a:srgbClr val="333333"/>
                </a:solidFill>
              </a:rPr>
              <a:t> でクライアントを作る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async_send_request</a:t>
            </a:r>
            <a:r>
              <a:rPr lang="en-US" sz="1600" dirty="0">
                <a:solidFill>
                  <a:srgbClr val="333333"/>
                </a:solidFill>
              </a:rPr>
              <a:t> で送る（待たない）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依存パッケージ std_srvs を追加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include・CMakeLists.txt・package.xml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押した瞬間だけ呼ぶ（問題4と同じ）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22415" y="2119376"/>
            <a:ext cx="5120640" cy="2943860"/>
          </a:xfrm>
          <a:prstGeom prst="roundRect">
            <a:avLst>
              <a:gd name="adj" fmla="val 3106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#include "std_srvs/srv/empty.hpp"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コンストラクタ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reset_client_ = this-&gt;create_client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&lt;std_srvs::srv::Empty&gt;("reset");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コールバック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auto req = std::make_shared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&lt;std_srvs::srv::Empty::Request&gt;();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reset_client_-&gt;async_send_request(req);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E6F5EC"/>
          </a:solidFill>
          <a:ln w="12700">
            <a:solidFill>
              <a:srgbClr val="197A4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46201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5455920"/>
            <a:ext cx="101342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A1A1A"/>
                </a:solidFill>
              </a:rPr>
              <a:t>確認</a:t>
            </a:r>
            <a:r>
              <a:rPr lang="en-US" sz="1600" dirty="0">
                <a:solidFill>
                  <a:srgbClr val="1A1A1A"/>
                </a:solidFill>
              </a:rPr>
              <a:t>　PS ボタンで亀が中央に戻る。</a:t>
            </a:r>
            <a:r>
              <a:rPr lang="en-US" sz="1600" dirty="0">
                <a:solidFill>
                  <a:srgbClr val="1A1A1A"/>
                </a:solidFill>
                <a:highlight>
                  <a:srgbClr val="FFFFFF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ros2 service call /reset std_srvs/srv/Empty</a:t>
            </a:r>
            <a:r>
              <a:rPr lang="en-US" sz="1600" dirty="0">
                <a:solidFill>
                  <a:srgbClr val="1A1A1A"/>
                </a:solidFill>
              </a:rPr>
              <a:t> でも同じ動きになる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問題6　ペンの ON/OFF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08176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FEEE2"/>
          </a:solidFill>
          <a:ln w="12700">
            <a:solidFill>
              <a:srgbClr val="C747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4700"/>
                </a:solidFill>
              </a:rPr>
              <a:t>発展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71600"/>
            <a:ext cx="10180015" cy="391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1A1A1A"/>
                </a:solidFill>
              </a:rPr>
              <a:t>△ボタンを押すたびに、亀が軌跡を描く・描かないが切り替わるようにしなさい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02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2082800"/>
            <a:ext cx="2743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ヒント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48128"/>
            <a:ext cx="60652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/turtle1/set_pen</a:t>
            </a:r>
            <a:r>
              <a:rPr lang="en-US" sz="1800" dirty="0">
                <a:solidFill>
                  <a:srgbClr val="333333"/>
                </a:solidFill>
              </a:rPr>
              <a:t> サービスを使う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r, g, b, width, off を指定。off = 1 で描かない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依存パッケージ turtlesim を追加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package.xml の exec_depend を depend に変える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型は </a:t>
            </a:r>
            <a:r>
              <a:rPr lang="en-US" sz="1800" dirty="0">
                <a:solidFill>
                  <a:srgbClr val="1A1A1A"/>
                </a:solidFill>
                <a:highlight>
                  <a:srgbClr val="E6E6E6"/>
                </a:highlight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ros2 interface show</a:t>
            </a:r>
            <a:r>
              <a:rPr lang="en-US" sz="1800" dirty="0">
                <a:solidFill>
                  <a:srgbClr val="333333"/>
                </a:solidFill>
              </a:rPr>
              <a:t> で調べられる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色や太さも好きに変えてよい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071055" y="2119376"/>
            <a:ext cx="4572000" cy="2870200"/>
          </a:xfrm>
          <a:prstGeom prst="roundRect">
            <a:avLst>
              <a:gd name="adj" fmla="val 3186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$ ros2 interface show \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turtlesim/srv/SetPen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uint8 r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uint8 g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uint8 b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uint8 width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uint8 off</a:t>
            </a:r>
            <a:endParaRPr lang="en-US" sz="1700" dirty="0"/>
          </a:p>
          <a:p>
            <a:pPr indent="0" marL="0">
              <a:lnSpc>
                <a:spcPts val="2470"/>
              </a:lnSpc>
              <a:buNone/>
            </a:pPr>
            <a:r>
              <a:rPr lang="en-US" sz="17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---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E6F5EC"/>
          </a:solidFill>
          <a:ln w="12700">
            <a:solidFill>
              <a:srgbClr val="197A4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5589270"/>
            <a:ext cx="101342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1A1A1A"/>
                </a:solidFill>
              </a:rPr>
              <a:t>確認</a:t>
            </a:r>
            <a:r>
              <a:rPr lang="en-US" sz="1800" dirty="0">
                <a:solidFill>
                  <a:srgbClr val="1A1A1A"/>
                </a:solidFill>
              </a:rPr>
              <a:t>　△を押すと線が消えた状態で動き、もう一度押すとまた線が描かれる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自由課題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A1A1A"/>
                </a:solidFill>
              </a:rPr>
              <a:t>早く終わった人向け。仕様は自分で決めて OK です。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10048" cy="1600200"/>
          </a:xfrm>
          <a:prstGeom prst="roundRect">
            <a:avLst>
              <a:gd name="adj" fmla="val 6857"/>
            </a:avLst>
          </a:prstGeom>
          <a:solidFill>
            <a:srgbClr val="F2F2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5740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十字キーで定速移動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24328"/>
            <a:ext cx="486140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十字キー上で 1.0 m/s 前進。スティックとどちらを優先するか決める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33008" y="1783080"/>
            <a:ext cx="5410048" cy="1600200"/>
          </a:xfrm>
          <a:prstGeom prst="roundRect">
            <a:avLst>
              <a:gd name="adj" fmla="val 6857"/>
            </a:avLst>
          </a:prstGeom>
          <a:solidFill>
            <a:srgbClr val="F2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205740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01688" y="205740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L2・R2 でアクセル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07328" y="2624328"/>
            <a:ext cx="486140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アナログトリガー axes[2]・axes[5] の押し込み量で速度を変える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410048" cy="1600200"/>
          </a:xfrm>
          <a:prstGeom prst="roundRect">
            <a:avLst>
              <a:gd name="adj" fmla="val 6857"/>
            </a:avLst>
          </a:prstGeom>
          <a:solidFill>
            <a:srgbClr val="F2F2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93192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3192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亀を増やす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98848"/>
            <a:ext cx="486140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/spawn サービス（turtlesim/srv/Spawn）で□を押すと亀が増える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33008" y="3657600"/>
            <a:ext cx="5410048" cy="1600200"/>
          </a:xfrm>
          <a:prstGeom prst="roundRect">
            <a:avLst>
              <a:gd name="adj" fmla="val 6857"/>
            </a:avLst>
          </a:prstGeom>
          <a:solidFill>
            <a:srgbClr val="F2F2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931920"/>
            <a:ext cx="457200" cy="457200"/>
          </a:xfrm>
          <a:prstGeom prst="ellipse">
            <a:avLst/>
          </a:prstGeom>
          <a:solidFill>
            <a:srgbClr val="1A1A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01688" y="393192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壁で止める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4498848"/>
            <a:ext cx="486140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</a:rPr>
              <a:t>/turtle1/pose を Subscribe して、画面の端に近づいたら止める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4949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82996"/>
            <a:ext cx="292608" cy="29260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34440" y="5667375"/>
            <a:ext cx="1013429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1A1A1A"/>
                </a:solidFill>
              </a:rPr>
              <a:t>壁で止めるのは、実機でいう「センサ値（serial_rx）を見て動きを変える」と同じ考え方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まとめ：実機のノードへ</a:t>
            </a:r>
            <a:endParaRPr lang="en-US" sz="3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813048"/>
                <a:gridCol w="3803904"/>
              </a:tblGrid>
              <a:tr h="457200">
                <a:tc>
                  <a:txBody>
                    <a:bodyPr/>
                    <a:lstStyle/>
                    <a:p>
                      <a:endParaRPr/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今回（turtle_teleop）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実機（teleop_tools）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4D4D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書き換える変数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twist_（Twist）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data_ / PacketController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Publish 先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/turtle1/cmd_vel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/serial_tx_[ID]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入力の取り方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msg-&gt;axes / buttons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同じ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デッドゾーン・立ち上がり検出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問題2・4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同じ書き方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周期送信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タイマー 20ms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タイマー 20ms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127000" marR="1270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3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480560"/>
            <a:ext cx="6035040" cy="1249680"/>
          </a:xfrm>
          <a:prstGeom prst="roundRect">
            <a:avLst>
              <a:gd name="adj" fmla="val 7317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実機：左スティックで MD1 を回す（例）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ctrlPkt.setMD(MD1, LS_Y * 255);</a:t>
            </a:r>
            <a:endParaRPr lang="en-US" sz="1600" dirty="0"/>
          </a:p>
          <a:p>
            <a:pPr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あとはタイマーで serial_tx に Publish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995160" y="4434840"/>
            <a:ext cx="464789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次のステップ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995160" y="4881880"/>
            <a:ext cx="4647895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serial_bridge 講習 / ros2can 講習</a:t>
            </a:r>
            <a:endParaRPr lang="en-US" sz="1800" dirty="0"/>
          </a:p>
          <a:p>
            <a:pPr marL="246888" indent="-246888">
              <a:lnSpc>
                <a:spcPts val="2700"/>
              </a:lnSpc>
              <a:spcBef>
                <a:spcPts val="800"/>
              </a:spcBef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実機のノードを読む</a:t>
            </a:r>
            <a:endParaRPr lang="en-US" sz="1800" dirty="0"/>
          </a:p>
          <a:p>
            <a:pPr lvl="1" marL="548640" indent="-274320">
              <a:lnSpc>
                <a:spcPts val="2700"/>
              </a:lnSpc>
              <a:buSzPct val="100000"/>
              <a:buChar char="→"/>
            </a:pPr>
            <a:r>
              <a:rPr lang="en-US" sz="1600" dirty="0">
                <a:solidFill>
                  <a:srgbClr val="333333"/>
                </a:solidFill>
              </a:rPr>
              <a:t>teleop_tools/src/Serial_Bridge_Host.cpp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22960" y="1828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付録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22960" y="25146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</a:t>
            </a:r>
            <a:endParaRPr lang="en-US" sz="4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822960" y="37033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4D4D4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まずは自分で解いてから見ること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783080"/>
            <a:ext cx="2743200" cy="274320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560320"/>
            <a:ext cx="1188720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解答例：問題1〜4（コールバック）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4757420"/>
          </a:xfrm>
          <a:prstGeom prst="roundRect">
            <a:avLst>
              <a:gd name="adj" fmla="val 1922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float LS_Y = msg-&gt;axes[1];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float RS_X = msg-&gt;axes[3];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bool CIRCLE = msg-&gt;buttons[1];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bool R1 = msg-&gt;buttons[5];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static bool last_circle = false;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static bool slow_mode = false;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問題2：デッドゾーン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(std::fabs(LS_Y) &lt; DEADZONE_L) LS_Y = 0.0;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(std::fabs(RS_X) &lt; DEADZONE_R) RS_X = 0.0;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問題4：押した瞬間だけ切り替え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(CIRCLE &amp;&amp; !last_circle) {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slow_mode = !slow_mode;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RCLCPP_INFO(get_logger(), "slow_mode: %s",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            slow_mode ? "ON" : "OFF");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last_circle = CIRCLE;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537960" y="1371600"/>
            <a:ext cx="5105095" cy="2286000"/>
          </a:xfrm>
          <a:prstGeom prst="roundRect">
            <a:avLst>
              <a:gd name="adj" fmla="val 4000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問題3：ブースト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double scale = R1 ? 2.0 : 1.0;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(slow_mode) {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scale *= 0.3;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問題1・2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twist_.linear.x  = LS_Y * MAX_LINEAR  * scale;</a:t>
            </a:r>
            <a:endParaRPr lang="en-US" sz="1200" dirty="0"/>
          </a:p>
          <a:p>
            <a:pPr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twist_.angular.z = RS_X * MAX_ANGULAR * scale;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37960" y="3977640"/>
            <a:ext cx="510509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A1A1A"/>
                </a:solidFill>
              </a:rPr>
              <a:t>ポイント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537960" y="4424680"/>
            <a:ext cx="5105095" cy="1174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550"/>
              </a:lnSpc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倍率は最後にまとめて掛ける</a:t>
            </a:r>
            <a:endParaRPr lang="en-US" sz="1700" dirty="0"/>
          </a:p>
          <a:p>
            <a:pPr marL="246888" indent="-246888">
              <a:lnSpc>
                <a:spcPts val="2550"/>
              </a:lnSpc>
              <a:spcBef>
                <a:spcPts val="800"/>
              </a:spcBef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デッドゾーンは速度の計算より前</a:t>
            </a:r>
            <a:endParaRPr lang="en-US" sz="1700" dirty="0"/>
          </a:p>
          <a:p>
            <a:pPr marL="246888" indent="-246888">
              <a:lnSpc>
                <a:spcPts val="2550"/>
              </a:lnSpc>
              <a:spcBef>
                <a:spcPts val="800"/>
              </a:spcBef>
              <a:buSzPct val="100000"/>
              <a:buChar char="•"/>
            </a:pPr>
            <a:r>
              <a:rPr lang="en-US" sz="1700" dirty="0">
                <a:solidFill>
                  <a:srgbClr val="333333"/>
                </a:solidFill>
              </a:rPr>
              <a:t>last_circle の更新は if の外（毎回）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解答例：問題5（/reset サービス）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040880" cy="4564380"/>
          </a:xfrm>
          <a:prstGeom prst="roundRect">
            <a:avLst>
              <a:gd name="adj" fmla="val 2003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#include "std_srvs/srv/empty.hpp"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メンバ変数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rclcpp::Client&lt;std_srvs::srv::Empty&gt;::SharedPtr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reset_client_;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コンストラクタ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reset_client_ =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this-&gt;create_client&lt;std_srvs::srv::Empty&gt;("reset");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コールバック（PS = buttons[10]）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bool PS = msg-&gt;buttons[10];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static bool last_ps = false;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(PS &amp;&amp; !last_ps) {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auto req =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    std::make_shared&lt;std_srvs::srv::Empty::Request&gt;();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reset_client_-&gt;async_send_request(req);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last_ps = PS;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863840" y="1371600"/>
            <a:ext cx="3779215" cy="1802130"/>
          </a:xfrm>
          <a:prstGeom prst="roundRect">
            <a:avLst>
              <a:gd name="adj" fmla="val 5074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CMakeLists.txt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find_package(std_srvs REQUIRED)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ament_target_dependencies(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ps4_turtle rclcpp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sensor_msgs geometry_msgs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std_srvs)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0" y="3402330"/>
            <a:ext cx="3779215" cy="881380"/>
          </a:xfrm>
          <a:prstGeom prst="roundRect">
            <a:avLst>
              <a:gd name="adj" fmla="val 10375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&lt;!-- package.xml --&gt;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&lt;depend&gt;std_srvs&lt;/depend&gt;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4603750"/>
            <a:ext cx="3779215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46888" indent="-246888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クライアントはメンバ変数に持ち、コンストラクタで作る</a:t>
            </a:r>
            <a:endParaRPr lang="en-US" sz="1600" dirty="0"/>
          </a:p>
          <a:p>
            <a:pPr marL="246888" indent="-246888">
              <a:lnSpc>
                <a:spcPts val="2400"/>
              </a:lnSpc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async_send_request は結果を待たずに戻る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84048"/>
            <a:ext cx="9494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解答例：問題6（/turtle1/set_pen サービス）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040880" cy="4600575"/>
          </a:xfrm>
          <a:prstGeom prst="roundRect">
            <a:avLst>
              <a:gd name="adj" fmla="val 1988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#include "turtlesim/srv/set_pen.hpp"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コンストラクタ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pen_client_ = this-&gt;create_client&lt;turtlesim::srv::SetPen&gt;(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"turtle1/set_pen");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コールバック（TRIANGLE = buttons[2]）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bool TRIANGLE = msg-&gt;buttons[2];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static bool last_triangle = false;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static bool pen_off = false;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if (TRIANGLE &amp;&amp; !last_triangle) {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pen_off = !pen_off;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auto req =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    std::make_shared&lt;turtlesim::srv::SetPen::Request&gt;();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req-&gt;r = 255; req-&gt;g = 255; req-&gt;b = 255;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req-&gt;width = 3; req-&gt;off = pen_off;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pen_client_-&gt;async_send_request(req);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ts val="176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last_triangle = TRIANGLE;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863840" y="1371600"/>
            <a:ext cx="3779215" cy="1397000"/>
          </a:xfrm>
          <a:prstGeom prst="roundRect">
            <a:avLst>
              <a:gd name="adj" fmla="val 6545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// メンバ変数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rclcpp::Client&lt;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turtlesim::srv::SetPen&gt;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  ::SharedPtr pen_client_;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863840" y="2951480"/>
            <a:ext cx="3779215" cy="2041525"/>
          </a:xfrm>
          <a:prstGeom prst="roundRect">
            <a:avLst>
              <a:gd name="adj" fmla="val 4479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# CMakeLists.txt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find_package(std_srvs REQUIRED)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find_package(turtlesim REQUIRED)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ament_target_dependencies(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ps4_turtle rclcpp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sensor_msgs geometry_msgs</a:t>
            </a:r>
            <a:endParaRPr lang="en-US" sz="1300" dirty="0"/>
          </a:p>
          <a:p>
            <a:pPr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  std_srvs turtlesim)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5175885"/>
            <a:ext cx="3779215" cy="1139190"/>
          </a:xfrm>
          <a:prstGeom prst="roundRect">
            <a:avLst>
              <a:gd name="adj" fmla="val 8027"/>
            </a:avLst>
          </a:prstGeom>
          <a:solidFill>
            <a:srgbClr val="262626"/>
          </a:solidFill>
          <a:ln/>
        </p:spPr>
        <p:txBody>
          <a:bodyPr wrap="square" lIns="182880" tIns="228600" rIns="228600" bIns="182880" rtlCol="0" anchor="t"/>
          <a:lstStyle/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8FBF7F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&lt;!-- package.xml --&gt;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&lt;depend&gt;std_srvs&lt;/depend&gt;</a:t>
            </a:r>
            <a:endParaRPr lang="en-US" sz="1400" dirty="0"/>
          </a:p>
          <a:p>
            <a:pPr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DEDED"/>
                </a:solidFill>
                <a:latin typeface="Noto Sans Mono" pitchFamily="34" charset="0"/>
                <a:ea typeface="Noto Sans JP" pitchFamily="34" charset="-122"/>
                <a:cs typeface="Noto Sans Mono" pitchFamily="34" charset="-120"/>
              </a:rPr>
              <a:t>&lt;depend&gt;turtlesim&lt;/depend&gt;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DS">
  <a:themeElements>
    <a:clrScheme name="DADS">
      <a:dk1>
        <a:srgbClr val="333333"/>
      </a:dk1>
      <a:lt1>
        <a:srgbClr val="FFFFFF"/>
      </a:lt1>
      <a:dk2>
        <a:srgbClr val="1A1A1A"/>
      </a:dk2>
      <a:lt2>
        <a:srgbClr val="F2F2F2"/>
      </a:lt2>
      <a:accent1>
        <a:srgbClr val="1A1A1A"/>
      </a:accent1>
      <a:accent2>
        <a:srgbClr val="4D4D4D"/>
      </a:accent2>
      <a:accent3>
        <a:srgbClr val="197A4B"/>
      </a:accent3>
      <a:accent4>
        <a:srgbClr val="C74700"/>
      </a:accent4>
      <a:accent5>
        <a:srgbClr val="CE0000"/>
      </a:accent5>
      <a:accent6>
        <a:srgbClr val="949494"/>
      </a:accent6>
      <a:hlink>
        <a:srgbClr val="0017C1"/>
      </a:hlink>
      <a:folHlink>
        <a:srgbClr val="5C10BE"/>
      </a:folHlink>
    </a:clrScheme>
    <a:fontScheme name="DADS">
      <a:majorFont>
        <a:latin typeface="Noto Sans JP"/>
        <a:ea typeface="Noto Sans JP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JP"/>
        <a:ea typeface="Noto Sans JP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turtle_teleop 講習</dc:title>
  <dc:subject>PptxGenJS Presentation</dc:subject>
  <dc:creator>RRST NHKプロジェクト</dc:creator>
  <cp:lastModifiedBy>RRST NHKプロジェクト</cp:lastModifiedBy>
  <cp:revision>1</cp:revision>
  <dcterms:created xsi:type="dcterms:W3CDTF">2026-10-27T23:58:11Z</dcterms:created>
  <dcterms:modified xsi:type="dcterms:W3CDTF">2026-10-27T23:58:11Z</dcterms:modified>
</cp:coreProperties>
</file>
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54480"/>
            <a:ext cx="9418320" cy="1463040"/>
          </a:xfrm>
        </p:spPr>
        <p:txBody>
          <a:bodyPr/>
          <a:lstStyle/>
          <a:p>
            <a:pPr algn="ctr"/>
            <a:r>
              <a:rPr sz="2400" b="1">
                <a:solidFill>
                  <a:srgbClr val="CB1C14"/>
                </a:solidFill>
              </a:rPr>
              <a:t>ROS 2 Jazzy 入門 01</a:t>
            </a:r>
          </a:p>
          <a:p>
            <a:pPr algn="ctr"/>
            <a:r>
              <a:rPr sz="4000" b="1">
                <a:solidFill>
                  <a:srgbClr val="1F1F1F"/>
                </a:solidFill>
              </a:rPr>
              <a:t>ROS 2 の概要と用語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291840"/>
            <a:ext cx="9418320" cy="1280160"/>
          </a:xfrm>
        </p:spPr>
        <p:txBody>
          <a:bodyPr/>
          <a:lstStyle/>
          <a:p>
            <a:pPr algn="ctr"/>
            <a:r>
              <a:rPr sz="1800">
                <a:solidFill>
                  <a:srgbClr val="1F1F1F"/>
                </a:solidFill>
              </a:rPr>
              <a:t>公式チュートリアル準拠：Basic Concepts</a:t>
            </a:r>
          </a:p>
          <a:p>
            <a:pPr algn="ctr"/>
            <a:r>
              <a:rPr sz="1800">
                <a:solidFill>
                  <a:srgbClr val="1F1F1F"/>
                </a:solidFill>
              </a:rPr>
              <a:t>立命館大学 ロボット技術研究会 RRST NHKプロジェクト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この講習の流れ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2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概要と用語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B1C14"/>
                </a:solidFill>
              </a:rPr>
              <a:t>← 今回</a:t>
            </a:r>
          </a:p>
        </p:txBody>
      </p:sp>
      <p:sp>
        <p:nvSpPr>
          <p:cNvPr id="8" name="Card"/>
          <p:cNvSpPr/>
          <p:nvPr/>
        </p:nvSpPr>
        <p:spPr>
          <a:xfrm>
            <a:off x="2596896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5496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ワーク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スペース</a:t>
            </a:r>
          </a:p>
        </p:txBody>
      </p:sp>
      <p:sp>
        <p:nvSpPr>
          <p:cNvPr id="11" name="Card"/>
          <p:cNvSpPr/>
          <p:nvPr/>
        </p:nvSpPr>
        <p:spPr>
          <a:xfrm>
            <a:off x="4645152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パッケージ</a:t>
            </a:r>
          </a:p>
        </p:txBody>
      </p:sp>
      <p:sp>
        <p:nvSpPr>
          <p:cNvPr id="14" name="Card"/>
          <p:cNvSpPr/>
          <p:nvPr/>
        </p:nvSpPr>
        <p:spPr>
          <a:xfrm>
            <a:off x="6693408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8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Python</a:t>
            </a:r>
          </a:p>
        </p:txBody>
      </p:sp>
      <p:sp>
        <p:nvSpPr>
          <p:cNvPr id="17" name="Card"/>
          <p:cNvSpPr/>
          <p:nvPr/>
        </p:nvSpPr>
        <p:spPr>
          <a:xfrm>
            <a:off x="8741664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C++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内容は公式ドキュメント </a:t>
            </a:r>
            <a:r>
              <a:rPr sz="1800" b="1">
                <a:solidFill>
                  <a:srgbClr val="1F1F1F"/>
                </a:solidFill>
              </a:rPr>
              <a:t>ROS 2 Documentation: Jazzy</a:t>
            </a:r>
            <a:r>
              <a:rPr sz="1800" b="0">
                <a:solidFill>
                  <a:srgbClr val="1F1F1F"/>
                </a:solidFill>
              </a:rPr>
              <a:t>（docs.ros.org/en/jazzy/）に準拠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/>
          <a:lstStyle/>
          <a:p>
            <a:pPr algn="l"/>
            <a:r>
              <a:rPr sz="4000" b="1">
                <a:solidFill>
                  <a:srgbClr val="1F1F1F"/>
                </a:solidFill>
              </a:rPr>
              <a:t>ROS 2 とは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r>
              <a:rPr sz="1800">
                <a:solidFill>
                  <a:srgbClr val="595959"/>
                </a:solidFill>
              </a:rPr>
              <a:t>Basic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CB1C14"/>
                </a:solidFill>
              </a:rPr>
              <a:t>01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ROS 2 とは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4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Basic Concepts</a:t>
            </a:r>
          </a:p>
        </p:txBody>
      </p:sp>
      <p:sp>
        <p:nvSpPr>
          <p:cNvPr id="5" name="Statement"/>
          <p:cNvSpPr/>
          <p:nvPr/>
        </p:nvSpPr>
        <p:spPr>
          <a:xfrm>
            <a:off x="548640" y="132588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ROS 2 は、プロセス間でメッセージをやり取りするためのミドルウェア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2606040"/>
            <a:ext cx="3200400" cy="210312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B1C14"/>
                </a:solidFill>
              </a:rPr>
              <a:t>publish / subscribe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74720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データを送る側と</a:t>
            </a:r>
          </a:p>
          <a:p>
            <a:pPr algn="l"/>
            <a:r>
              <a:rPr sz="1800" b="0">
                <a:solidFill>
                  <a:srgbClr val="1F1F1F"/>
                </a:solidFill>
              </a:rPr>
              <a:t>受け取る側に分けて通信</a:t>
            </a:r>
          </a:p>
        </p:txBody>
      </p:sp>
      <p:sp>
        <p:nvSpPr>
          <p:cNvPr id="10" name="Card"/>
          <p:cNvSpPr/>
          <p:nvPr/>
        </p:nvSpPr>
        <p:spPr>
          <a:xfrm>
            <a:off x="3977639" y="2606040"/>
            <a:ext cx="3200400" cy="210312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2834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B1C14"/>
                </a:solidFill>
              </a:rPr>
              <a:t>型が厳密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3474720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メッセージの各項目の</a:t>
            </a:r>
          </a:p>
          <a:p>
            <a:pPr algn="l"/>
            <a:r>
              <a:rPr sz="1800" b="0">
                <a:solidFill>
                  <a:srgbClr val="1F1F1F"/>
                </a:solidFill>
              </a:rPr>
              <a:t>型が決まっている</a:t>
            </a:r>
          </a:p>
          <a:p>
            <a:pPr algn="l"/>
            <a:r>
              <a:rPr sz="1800" b="0">
                <a:solidFill>
                  <a:srgbClr val="1F1F1F"/>
                </a:solidFill>
              </a:rPr>
              <a:t>（strongly-typed）</a:t>
            </a:r>
          </a:p>
        </p:txBody>
      </p:sp>
      <p:sp>
        <p:nvSpPr>
          <p:cNvPr id="13" name="Card"/>
          <p:cNvSpPr/>
          <p:nvPr/>
        </p:nvSpPr>
        <p:spPr>
          <a:xfrm>
            <a:off x="7406640" y="2606040"/>
            <a:ext cx="3200400" cy="210312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834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B1C14"/>
                </a:solidFill>
              </a:rPr>
              <a:t>送り手を問わない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474720"/>
            <a:ext cx="2651760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受け取る側は</a:t>
            </a:r>
          </a:p>
          <a:p>
            <a:pPr algn="l"/>
            <a:r>
              <a:rPr sz="1800" b="0">
                <a:solidFill>
                  <a:srgbClr val="1F1F1F"/>
                </a:solidFill>
              </a:rPr>
              <a:t>送信元を意識しない</a:t>
            </a:r>
          </a:p>
          <a:p>
            <a:pPr algn="l"/>
            <a:r>
              <a:rPr sz="1800" b="0">
                <a:solidFill>
                  <a:srgbClr val="1F1F1F"/>
                </a:solidFill>
              </a:rPr>
              <a:t>（anonymous）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1F1F"/>
                </a:solidFill>
              </a:rPr>
              <a:t>このやり取りの全体像を「ROS グラフ」と呼ぶ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ROS グラフ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Understanding nodes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7160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ノードと、ノード同士の通信経路をすべて図にしたもの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同時に動いている ROS 2 の要素のネットワーク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実行中のプログラムと、その間のつながりがすべて含まれる</a:t>
            </a:r>
          </a:p>
        </p:txBody>
      </p:sp>
      <p:pic>
        <p:nvPicPr>
          <p:cNvPr id="6" name="Picture 5" descr="Nodes-TopicandServic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5303520" cy="29809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435250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ノード・トピック・サービスの関係（公式の図）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/>
          <a:lstStyle/>
          <a:p>
            <a:pPr algn="l"/>
            <a:r>
              <a:rPr sz="4000" b="1">
                <a:solidFill>
                  <a:srgbClr val="1F1F1F"/>
                </a:solidFill>
              </a:rPr>
              <a:t>用語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r>
              <a:rPr sz="1800">
                <a:solidFill>
                  <a:srgbClr val="595959"/>
                </a:solidFill>
              </a:rPr>
              <a:t>ノード・トピック・サービス・アクション・パラメータ・ディスカバリ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CB1C14"/>
                </a:solidFill>
              </a:rPr>
              <a:t>02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ノード（Node）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7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Nodes / Understanding nodes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10058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1F1F1F"/>
                </a:solidFill>
              </a:rPr>
              <a:t>・</a:t>
            </a:r>
            <a:r>
              <a:rPr sz="2400" b="0">
                <a:solidFill>
                  <a:srgbClr val="1F1F1F"/>
                </a:solidFill>
              </a:rPr>
              <a:t>ROS グラフを構成する、1つ1つのプログラム</a:t>
            </a:r>
          </a:p>
          <a:p>
            <a:pPr>
              <a:spcBef>
                <a:spcPts val="1800"/>
              </a:spcBef>
            </a:pPr>
            <a:r>
              <a:rPr sz="2400">
                <a:solidFill>
                  <a:srgbClr val="1F1F1F"/>
                </a:solidFill>
              </a:rPr>
              <a:t>・</a:t>
            </a:r>
            <a:r>
              <a:rPr sz="2400" b="0">
                <a:solidFill>
                  <a:srgbClr val="1F1F1F"/>
                </a:solidFill>
              </a:rPr>
              <a:t>1つのノードは、1つの役割だけを受け持つ</a:t>
            </a:r>
          </a:p>
          <a:p>
            <a:r>
              <a:rPr sz="2000">
                <a:solidFill>
                  <a:srgbClr val="404040"/>
                </a:solidFill>
              </a:rPr>
              <a:t>　→ </a:t>
            </a:r>
            <a:r>
              <a:rPr sz="2000" b="0">
                <a:solidFill>
                  <a:srgbClr val="404040"/>
                </a:solidFill>
              </a:rPr>
              <a:t>例：車輪モーターの制御、レーザー距離センサのデータ配信</a:t>
            </a:r>
          </a:p>
          <a:p>
            <a:pPr>
              <a:spcBef>
                <a:spcPts val="1800"/>
              </a:spcBef>
            </a:pPr>
            <a:r>
              <a:rPr sz="2400">
                <a:solidFill>
                  <a:srgbClr val="1F1F1F"/>
                </a:solidFill>
              </a:rPr>
              <a:t>・</a:t>
            </a:r>
            <a:r>
              <a:rPr sz="2400" b="0">
                <a:solidFill>
                  <a:srgbClr val="1F1F1F"/>
                </a:solidFill>
              </a:rPr>
              <a:t>通信相手は、同じプロセス内・別のプロセス・別の PC のどれでもよい</a:t>
            </a:r>
          </a:p>
          <a:p>
            <a:pPr>
              <a:spcBef>
                <a:spcPts val="1800"/>
              </a:spcBef>
            </a:pPr>
            <a:r>
              <a:rPr sz="2400">
                <a:solidFill>
                  <a:srgbClr val="1F1F1F"/>
                </a:solidFill>
              </a:rPr>
              <a:t>・</a:t>
            </a:r>
            <a:r>
              <a:rPr sz="2400" b="0">
                <a:solidFill>
                  <a:srgbClr val="1F1F1F"/>
                </a:solidFill>
              </a:rPr>
              <a:t>1つの実行ファイルに、複数のノードを入れることもできる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ノードが持てる機能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Nodes / Understanding nodes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058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126480"/>
              </a:tblGrid>
              <a:tr h="713232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機能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できること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Publisher / Subscriber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トピックでデータを送る / 受け取る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Service Server / Client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処理を引き受ける / 依頼する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Action Server / Client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時間のかかる処理を引き受ける / 依頼する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Parameter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実行中に設定を変える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</a:rPr>
              <a:t>1つのノードが、これらを組み合わせて持つことが多い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ros2 run：ノードを起動する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9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Nodes / Understanding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1F1F"/>
                </a:solidFill>
              </a:rPr>
              <a:t>パッケージの中の実行ファイルを起動する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920240"/>
            <a:ext cx="10058400" cy="8229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210312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8FD17F"/>
                </a:solidFill>
                <a:latin typeface="Consolas"/>
              </a:rPr>
              <a:t>$ </a:t>
            </a:r>
            <a:r>
              <a:rPr sz="2400" b="0">
                <a:solidFill>
                  <a:srgbClr val="FFFFFF"/>
                </a:solidFill>
                <a:latin typeface="Consolas"/>
              </a:rPr>
              <a:t>ros2 run &lt;package_name&gt; &lt;executable_name&gt;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04040"/>
                </a:solidFill>
              </a:rPr>
              <a:t>例：my_package の my_node を起動（03 パッケージの作成で作るもの）</a:t>
            </a:r>
          </a:p>
        </p:txBody>
      </p:sp>
      <p:sp>
        <p:nvSpPr>
          <p:cNvPr id="9" name="Console"/>
          <p:cNvSpPr/>
          <p:nvPr/>
        </p:nvSpPr>
        <p:spPr>
          <a:xfrm>
            <a:off x="548640" y="3566160"/>
            <a:ext cx="10058400" cy="8229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822959" y="3749039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8FD17F"/>
                </a:solidFill>
                <a:latin typeface="Consolas"/>
              </a:rPr>
              <a:t>$ </a:t>
            </a:r>
            <a:r>
              <a:rPr sz="2400" b="0">
                <a:solidFill>
                  <a:srgbClr val="FFFFFF"/>
                </a:solidFill>
                <a:latin typeface="Consolas"/>
              </a:rPr>
              <a:t>ros2 run my_package my_node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通信の3つの方式（インターフェース）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10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Interfaces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852160"/>
                <a:gridCol w="2011680"/>
              </a:tblGrid>
              <a:tr h="82296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方式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使いどころ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定義ファイル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</a:rPr>
                        <a:t>トピック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</a:rPr>
                        <a:t>センサ値など、流れ続けるデータ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  <a:latin typeface="Consolas"/>
                        </a:rPr>
                        <a:t>.msg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</a:rPr>
                        <a:t>サービス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</a:rPr>
                        <a:t>すぐに終わる処理の依頼と応答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  <a:latin typeface="Consolas"/>
                        </a:rPr>
                        <a:t>.srv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</a:rPr>
                        <a:t>アクション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</a:rPr>
                        <a:t>時間がかかり、途中経過を返す処理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1F1F"/>
                          </a:solidFill>
                          <a:latin typeface="Consolas"/>
                        </a:rPr>
                        <a:t>.action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</a:rPr>
              <a:t>定義ファイルから、各プログラミング言語用のコードが自動で作られる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トピック（Topic）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Topics / Understanding topics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48463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ノード同士がメッセージを流す共通の通り道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センサ値やロボットの状態など、連続して流れるデータに使う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送る側：Publisher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受け取る側：Subscriber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トピック名が同じなら、そのままつながる</a:t>
            </a:r>
          </a:p>
        </p:txBody>
      </p:sp>
      <p:pic>
        <p:nvPicPr>
          <p:cNvPr id="6" name="Picture 5" descr="Topic-SinglePublisherandSingleSubscrib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212080" cy="29295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4346825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1対1の通信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トピック：複数のノードで共有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12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Topics / Understanding topics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48463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>
                <a:solidFill>
                  <a:srgbClr val="1F1F1F"/>
                </a:solidFill>
              </a:rPr>
              <a:t>・</a:t>
            </a:r>
            <a:r>
              <a:rPr sz="2000" b="0">
                <a:solidFill>
                  <a:srgbClr val="1F1F1F"/>
                </a:solidFill>
              </a:rPr>
              <a:t>1つのトピックに、Publisher・Subscriber がいくつあってもよい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F1F1F"/>
                </a:solidFill>
              </a:rPr>
              <a:t>・</a:t>
            </a:r>
            <a:r>
              <a:rPr sz="2000" b="0">
                <a:solidFill>
                  <a:srgbClr val="1F1F1F"/>
                </a:solidFill>
              </a:rPr>
              <a:t>1つのノードが、複数のトピックを送受信できる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F1F1F"/>
                </a:solidFill>
              </a:rPr>
              <a:t>・</a:t>
            </a:r>
            <a:r>
              <a:rPr sz="2000" b="0">
                <a:solidFill>
                  <a:srgbClr val="1F1F1F"/>
                </a:solidFill>
              </a:rPr>
              <a:t>送られたデータは、そのトピックの Subscriber 全員に届く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F1F1F"/>
                </a:solidFill>
              </a:rPr>
              <a:t>・</a:t>
            </a:r>
            <a:r>
              <a:rPr sz="2000" b="0">
                <a:solidFill>
                  <a:srgbClr val="1F1F1F"/>
                </a:solidFill>
              </a:rPr>
              <a:t>Subscriber を後から足しても、ほかの通信に影響しない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例：</a:t>
            </a:r>
            <a:r>
              <a:rPr sz="1700" b="0">
                <a:solidFill>
                  <a:srgbClr val="404040"/>
                </a:solidFill>
                <a:latin typeface="Consolas"/>
              </a:rPr>
              <a:t>ros2 bag record</a:t>
            </a:r>
            <a:r>
              <a:rPr sz="1700" b="0">
                <a:solidFill>
                  <a:srgbClr val="404040"/>
                </a:solidFill>
              </a:rPr>
              <a:t> は記録用の Subscriber を足すだけ</a:t>
            </a:r>
          </a:p>
        </p:txBody>
      </p:sp>
      <p:pic>
        <p:nvPicPr>
          <p:cNvPr id="6" name="Picture 5" descr="Topic-MultiplePublisherandMultipleSubscrib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212080" cy="29295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4346825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1対多・多対1・多対多も可能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トピックの特徴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Topics / Understanding topics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1371600"/>
            <a:ext cx="4846320" cy="42062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B1C14"/>
                </a:solidFill>
              </a:rPr>
              <a:t>送り手を問わない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4297680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受け取る側は、どの Publisher から</a:t>
            </a:r>
          </a:p>
          <a:p>
            <a:pPr algn="l"/>
            <a:r>
              <a:rPr sz="1900" b="0">
                <a:solidFill>
                  <a:srgbClr val="1F1F1F"/>
                </a:solidFill>
              </a:rPr>
              <a:t>届いたかを通常は気にしない</a:t>
            </a:r>
          </a:p>
          <a:p>
            <a:pPr algn="l"/>
            <a:r>
              <a:rPr sz="1900" b="0">
                <a:solidFill>
                  <a:srgbClr val="1F1F1F"/>
                </a:solidFill>
              </a:rPr>
              <a:t/>
            </a:r>
          </a:p>
          <a:p>
            <a:pPr algn="l"/>
            <a:r>
              <a:rPr sz="1900" b="0">
                <a:solidFill>
                  <a:srgbClr val="1F1F1F"/>
                </a:solidFill>
              </a:rPr>
              <a:t>→ Publisher・Subscriber を</a:t>
            </a:r>
          </a:p>
          <a:p>
            <a:pPr algn="l"/>
            <a:r>
              <a:rPr sz="1900" b="0">
                <a:solidFill>
                  <a:srgbClr val="1F1F1F"/>
                </a:solidFill>
              </a:rPr>
              <a:t>　 自由に差し替えられる</a:t>
            </a:r>
          </a:p>
        </p:txBody>
      </p:sp>
      <p:sp>
        <p:nvSpPr>
          <p:cNvPr id="8" name="Card"/>
          <p:cNvSpPr/>
          <p:nvPr/>
        </p:nvSpPr>
        <p:spPr>
          <a:xfrm>
            <a:off x="5760720" y="137160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600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B1C14"/>
                </a:solidFill>
              </a:rPr>
              <a:t>型が厳密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2402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各項目の型が決まっていて、</a:t>
            </a:r>
          </a:p>
          <a:p>
            <a:pPr algn="l"/>
            <a:r>
              <a:rPr sz="1900" b="0">
                <a:solidFill>
                  <a:srgbClr val="1F1F1F"/>
                </a:solidFill>
              </a:rPr>
              <a:t>それ以外の値は入らない</a:t>
            </a:r>
          </a:p>
        </p:txBody>
      </p:sp>
      <p:sp>
        <p:nvSpPr>
          <p:cNvPr id="11" name="Code"/>
          <p:cNvSpPr/>
          <p:nvPr/>
        </p:nvSpPr>
        <p:spPr>
          <a:xfrm>
            <a:off x="6035040" y="306324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de text"/>
          <p:cNvSpPr txBox="1"/>
          <p:nvPr/>
        </p:nvSpPr>
        <p:spPr>
          <a:xfrm>
            <a:off x="6309359" y="32461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uint32 field1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string field2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11480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項目の意味（単位など）も決まっている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例：IMU の角速度は 3次元ベクトル、単位は rad/s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メッセージ（.msg）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14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Interfaces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5852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ノードがほかのノードにデータを送るときの形式（返事はない）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例：温度センサの値を Temperature メッセージで送る</a:t>
            </a:r>
          </a:p>
          <a:p>
            <a:pPr>
              <a:spcBef>
                <a:spcPts val="16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パッケージの msg/ フォルダに .msg ファイルとして書く</a:t>
            </a:r>
          </a:p>
          <a:p>
            <a:pPr>
              <a:spcBef>
                <a:spcPts val="16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1行に「型 名前」を1つずつ書く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3258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書き方</a:t>
            </a:r>
          </a:p>
        </p:txBody>
      </p:sp>
      <p:sp>
        <p:nvSpPr>
          <p:cNvPr id="7" name="Code"/>
          <p:cNvSpPr/>
          <p:nvPr/>
        </p:nvSpPr>
        <p:spPr>
          <a:xfrm>
            <a:off x="6766560" y="17373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text"/>
          <p:cNvSpPr txBox="1"/>
          <p:nvPr/>
        </p:nvSpPr>
        <p:spPr>
          <a:xfrm>
            <a:off x="7040880" y="192024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fieldtype1 fieldname1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fieldtype2 fieldname2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fieldtype3 fieldname3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3375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例</a:t>
            </a:r>
          </a:p>
        </p:txBody>
      </p:sp>
      <p:sp>
        <p:nvSpPr>
          <p:cNvPr id="10" name="Code"/>
          <p:cNvSpPr/>
          <p:nvPr/>
        </p:nvSpPr>
        <p:spPr>
          <a:xfrm>
            <a:off x="6766560" y="3749039"/>
            <a:ext cx="402336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text"/>
          <p:cNvSpPr txBox="1"/>
          <p:nvPr/>
        </p:nvSpPr>
        <p:spPr>
          <a:xfrm>
            <a:off x="7040880" y="39319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int32 my_int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string my_string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サービス（Service）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Services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60350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ほかのノードに処理を頼み、結果を返してもらう仕組み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すぐに終わる処理に使う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時間がかかる処理はアクションを使う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Server：依頼を受けて処理する（サービス名ごとに1つだけ）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Client：処理を依頼する（いくつあってもよい）</a:t>
            </a:r>
          </a:p>
        </p:txBody>
      </p:sp>
      <p:sp>
        <p:nvSpPr>
          <p:cNvPr id="6" name="Code"/>
          <p:cNvSpPr/>
          <p:nvPr/>
        </p:nvSpPr>
        <p:spPr>
          <a:xfrm>
            <a:off x="6949440" y="1463040"/>
            <a:ext cx="3840480" cy="16459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7223759" y="164592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uint32 a</a:t>
            </a:r>
          </a:p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uint32 b</a:t>
            </a:r>
          </a:p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---</a:t>
            </a:r>
          </a:p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uint32 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1546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</a:rPr>
              <a:t>--- より上が依頼、下が応答（.srv）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アクション（Action）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16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Actions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60350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時間のかかる処理を頼む仕組み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途中経過（フィードバック）が届き、途中で取り消せる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例：移動ロボットに目的地までの移動を指示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目標・結果・フィードバックの3つで定義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Server はアクション名ごとに1つ、Client はいくつでも</a:t>
            </a:r>
          </a:p>
        </p:txBody>
      </p:sp>
      <p:sp>
        <p:nvSpPr>
          <p:cNvPr id="6" name="Code"/>
          <p:cNvSpPr/>
          <p:nvPr/>
        </p:nvSpPr>
        <p:spPr>
          <a:xfrm>
            <a:off x="6949440" y="1463040"/>
            <a:ext cx="3840480" cy="21031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7223759" y="164592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int32 order</a:t>
            </a:r>
          </a:p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---</a:t>
            </a:r>
          </a:p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int32[] sequence</a:t>
            </a:r>
          </a:p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---</a:t>
            </a:r>
          </a:p>
          <a:p>
            <a:pPr algn="l"/>
            <a:r>
              <a:rPr sz="2100" b="0">
                <a:solidFill>
                  <a:srgbClr val="FFFFFF"/>
                </a:solidFill>
                <a:latin typeface="Consolas"/>
              </a:rPr>
              <a:t>int32[]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611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</a:rPr>
              <a:t>上から 目標 / 結果 / フィードバック（.action）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パラメータ（Parameter）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17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Parameters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10058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ノードごとに持つ設定値</a:t>
            </a:r>
          </a:p>
          <a:p>
            <a:pPr>
              <a:spcBef>
                <a:spcPts val="1400"/>
              </a:spcBef>
            </a:pPr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コードを書き換えずに、起動時や実行中にノードの動作を変えられる</a:t>
            </a:r>
          </a:p>
          <a:p>
            <a:pPr>
              <a:spcBef>
                <a:spcPts val="1400"/>
              </a:spcBef>
            </a:pPr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ノードが終了すると消える</a:t>
            </a:r>
          </a:p>
          <a:p>
            <a:pPr>
              <a:spcBef>
                <a:spcPts val="1400"/>
              </a:spcBef>
            </a:pPr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名前・値・説明（ディスクリプタ）の組で表す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値の型：</a:t>
            </a:r>
            <a:r>
              <a:rPr sz="1600" b="0">
                <a:solidFill>
                  <a:srgbClr val="404040"/>
                </a:solidFill>
                <a:latin typeface="Consolas"/>
              </a:rPr>
              <a:t>bool  int64  float64  string  byte[]  bool[]  int64[]  float64[]  string[]</a:t>
            </a:r>
          </a:p>
          <a:p>
            <a:pPr>
              <a:spcBef>
                <a:spcPts val="1400"/>
              </a:spcBef>
            </a:pPr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使うパラメータは、基本的に事前に宣言（declare）しておく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ディスカバリ（Discovery）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Concepts › Discovery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10058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ノード同士は、自動で互いを見つけて接続する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起動したとき：同じ ROS ドメインのノードに自分の存在を知らせる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ドメインは環境変数 </a:t>
            </a:r>
            <a:r>
              <a:rPr sz="1800" b="0">
                <a:solidFill>
                  <a:srgbClr val="404040"/>
                </a:solidFill>
                <a:latin typeface="Consolas"/>
              </a:rPr>
              <a:t>ROS_DOMAIN_ID</a:t>
            </a:r>
            <a:r>
              <a:rPr sz="1800" b="0">
                <a:solidFill>
                  <a:srgbClr val="404040"/>
                </a:solidFill>
              </a:rPr>
              <a:t> で指定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動いている間：定期的に存在を知らせ、後から起動したノードともつながる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終了するとき：ほかのノードに知らせる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QoS 設定が合わないノード同士はつながらない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参考：公式ドキュメント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01 概要と用語   19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48640" y="1325880"/>
            <a:ext cx="10058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Basic Concepts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  <a:latin typeface="Consolas"/>
              </a:rPr>
              <a:t>docs.ros.org/en/jazzy/Concepts/Basic.html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Understanding nodes / topics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  <a:latin typeface="Consolas"/>
              </a:rPr>
              <a:t>docs.ros.org/en/jazzy/Tutorials/Beginner-CLI-Tools.html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次の資料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02 ワークスペースと colcon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図・コードの出典：ROS 2 Documentation（CC BY 4.0）、ros2/examples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
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CC"/>
    <a:srgbClr val="CB1C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C1D247-16EB-E18B-C91A-8A8A84F6D4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C8EF692-2EE0-D6DB-389A-4FAA9D486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1D6C587-6DD3-05DA-A204-53DD8E8E7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365125"/>
          </a:xfrm>
        </p:spPr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B002EB-904F-4CEA-CADF-F5E0DBBF5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ECFC0B-B0DD-4523-1EC9-F025D88B6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371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579AEF-4E7C-ED37-5EA9-1DC7E3D21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6F3ABD-CDE6-6E00-BF9B-047B6ADF8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A7254F-760E-45C2-78EE-E70E77248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AF2616-0E36-4F53-CD06-93FE08809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B18C036-B90B-0F85-89BA-54CE64AD3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223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4AA507-2FB7-546F-814C-4A1C74208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315DA0E-F142-2BBE-190D-5255C2C00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FF7DFE-2476-1E59-69D7-D1F19205C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BC7B36-421F-73C6-5463-76E9A6AE0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A2A7CA-E3EA-4404-081A-07B89424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9183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697F30-45AF-25E6-5A3E-A95AF98C5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9211B7-F7CF-5A06-F8F9-55E3DB08C4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456EB9B-828C-218C-A915-6A838FAAB1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245FEE2-C1CB-8EA0-9002-B1432AC24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6FEAD8C-6EE1-F9BF-F92B-098BD3D07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3AD94AE-954A-F497-265E-4C308A2A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9689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67EE21-8A4D-D745-1D42-74EDFF800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2CC70AB-A5A4-49B2-3BC9-787B8169D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D97D4A6-122F-9D1B-69FA-F706C97FEA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1DE0982-B4F7-ECFA-591F-89FBF89F2E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1921522-38F1-F7FC-C0A3-F651903F6A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A203241-B954-1126-5A3E-09DD27155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86CD0B2-EAFE-2BF4-C497-5B6F2B577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DA945BC-759C-C4C1-4978-CBC8862E6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6343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E4BB3F-9DED-D314-7704-823494893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D956715-9D1B-B43F-6FBC-907C3E215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0FD98C2-7913-13BB-5ADF-0A00AB8ED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AB633EA-620C-6DDB-54AC-5F1C605A3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4911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C766E37-50FF-E806-6613-642EA7444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8C42828-EA14-7DEC-6FA0-ACE7895DC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6101C4B-73D8-99C1-DA02-F319131D2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1435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52B953-8868-5B19-2C35-E170A9A3B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3B70D0-DD11-06D8-4E15-3A804C0EA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F812A24-C52D-93A7-9016-A886424D9B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150BFA1-13D9-0A9E-3782-76ADE44FF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D0D9597-7E26-83EC-AF24-DE5863E5B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74F15F0-074E-4473-6585-90FC09057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3349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73A893-FB27-B4F3-2D9E-E3B1BDBF8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4EC2060-304A-FAC1-1875-E7246B58CD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DE32873-C8F0-0F20-9ED9-168FC1864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A5B8F9E-0905-4D85-CE31-E6CB934FD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86A1FDE-71DE-89E8-B95B-94D894A3B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07CFA1B-DB81-8991-B1D7-6E4355B09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1708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148A88-8E9A-49C0-3075-4B7A4DE1A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AABDF43-9207-EAE8-45CF-032DCADF9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040A2E-6D30-9407-937D-1DB8B873D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139FB1-4A28-280A-EF0B-9DEC926D6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C960C17-2AEA-C4A0-E757-303AAA20C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2362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024A0FD-2210-A691-13DA-677F881B0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04C7A7B-C4E0-DD68-3327-74DA3771A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7944CB-241F-41DA-FB61-E7FDB65E7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A52921-D26E-F9F9-F0FC-9FD443FFE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88D856-F717-F6DC-E313-BC536B8ED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61077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7BB161A-6234-7C02-059C-D3AE676F6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0C9F829-8192-70DC-85DA-8E1C49AEF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D9A6A1-72EC-FA32-C0A2-77E8F0AE27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7519F0-6940-8B04-61AE-FB7C31E711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4CD484-8D28-77F7-F415-29C4934FF9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8" name="図 7" descr="黒い背景に白い文字がある&#10;&#10;中程度の精度で自動的に生成された説明">
            <a:extLst>
              <a:ext uri="{FF2B5EF4-FFF2-40B4-BE49-F238E27FC236}">
                <a16:creationId xmlns:a16="http://schemas.microsoft.com/office/drawing/2014/main" id="{FF906BC4-088A-CAD4-0688-FDCCD3E37DB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783" y="136525"/>
            <a:ext cx="2659338" cy="744399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FDC60E9-6C06-B33B-180C-F0204CBC0AA1}"/>
              </a:ext>
            </a:extLst>
          </p:cNvPr>
          <p:cNvSpPr/>
          <p:nvPr userDrawn="1"/>
        </p:nvSpPr>
        <p:spPr>
          <a:xfrm rot="16745820">
            <a:off x="5751924" y="5728795"/>
            <a:ext cx="12496267" cy="1436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74BAA90-B259-5D7B-725A-60C1DC270EBE}"/>
              </a:ext>
            </a:extLst>
          </p:cNvPr>
          <p:cNvSpPr/>
          <p:nvPr userDrawn="1"/>
        </p:nvSpPr>
        <p:spPr>
          <a:xfrm rot="21324172">
            <a:off x="535422" y="6538809"/>
            <a:ext cx="12496267" cy="1053548"/>
          </a:xfrm>
          <a:prstGeom prst="rect">
            <a:avLst/>
          </a:prstGeom>
          <a:solidFill>
            <a:srgbClr val="CB1C14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平行四辺形 12">
            <a:extLst>
              <a:ext uri="{FF2B5EF4-FFF2-40B4-BE49-F238E27FC236}">
                <a16:creationId xmlns:a16="http://schemas.microsoft.com/office/drawing/2014/main" id="{B456FFD5-F931-135A-2222-1028B9A03666}"/>
              </a:ext>
            </a:extLst>
          </p:cNvPr>
          <p:cNvSpPr/>
          <p:nvPr userDrawn="1"/>
        </p:nvSpPr>
        <p:spPr>
          <a:xfrm rot="21289408">
            <a:off x="11089814" y="6116811"/>
            <a:ext cx="1757764" cy="1078055"/>
          </a:xfrm>
          <a:prstGeom prst="parallelogram">
            <a:avLst>
              <a:gd name="adj" fmla="val 2594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9263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554480"/>
            <a:ext cx="9418320" cy="1463040"/>
          </a:xfrm>
        </p:spPr>
        <p:txBody>
          <a:bodyPr/>
          <a:lstStyle/>
          <a:p>
            <a:pPr algn="ctr"/>
            <a:r>
              <a:rPr sz="2400" b="1">
                <a:solidFill>
                  <a:srgbClr val="CB1C14"/>
                </a:solidFill>
              </a:rPr>
              <a:t>ROS 2 Jazzy 入門 04</a:t>
            </a:r>
          </a:p>
          <a:p>
            <a:pPr algn="ctr"/>
            <a:r>
              <a:rPr sz="4000" b="1">
                <a:solidFill>
                  <a:srgbClr val="1F1F1F"/>
                </a:solidFill>
              </a:rPr>
              <a:t>Publisher / Subscriber（Python）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291840"/>
            <a:ext cx="9418320" cy="1280160"/>
          </a:xfrm>
        </p:spPr>
        <p:txBody>
          <a:bodyPr/>
          <a:lstStyle/>
          <a:p>
            <a:pPr algn="ctr"/>
            <a:r>
              <a:rPr sz="1800">
                <a:solidFill>
                  <a:srgbClr val="1F1F1F"/>
                </a:solidFill>
              </a:rPr>
              <a:t>公式チュートリアル準拠：Writing a simple publisher and subscriber (Python)</a:t>
            </a:r>
          </a:p>
          <a:p>
            <a:pPr algn="ctr"/>
            <a:r>
              <a:rPr sz="1800">
                <a:solidFill>
                  <a:srgbClr val="1F1F1F"/>
                </a:solidFill>
              </a:rPr>
              <a:t>立命館大学 ロボット技術研究会 RRST NHKプロジェクト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この講習の流れ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04 Pub / Sub（Python）   2</a:t>
            </a:r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1865376" cy="237744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CB1C1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</a:rPr>
              <a:t>概要と用語</a:t>
            </a:r>
          </a:p>
        </p:txBody>
      </p:sp>
      <p:sp>
        <p:nvSpPr>
          <p:cNvPr id="7" name="Card"/>
          <p:cNvSpPr/>
          <p:nvPr/>
        </p:nvSpPr>
        <p:spPr>
          <a:xfrm>
            <a:off x="2596896" y="1463040"/>
            <a:ext cx="1865376" cy="237744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25496" y="16459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CB1C14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25496" y="228600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</a:rPr>
              <a:t>ワーク</a:t>
            </a:r>
          </a:p>
          <a:p>
            <a:pPr algn="l"/>
            <a:r>
              <a:rPr sz="1800" b="1">
                <a:solidFill>
                  <a:srgbClr val="1F1F1F"/>
                </a:solidFill>
              </a:rPr>
              <a:t>スペース</a:t>
            </a:r>
          </a:p>
        </p:txBody>
      </p:sp>
      <p:sp>
        <p:nvSpPr>
          <p:cNvPr id="10" name="Card"/>
          <p:cNvSpPr/>
          <p:nvPr/>
        </p:nvSpPr>
        <p:spPr>
          <a:xfrm>
            <a:off x="4645152" y="1463040"/>
            <a:ext cx="1865376" cy="237744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3752" y="16459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CB1C14"/>
                </a:solidFill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3752" y="228600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</a:rPr>
              <a:t>パッケージ</a:t>
            </a:r>
          </a:p>
        </p:txBody>
      </p:sp>
      <p:sp>
        <p:nvSpPr>
          <p:cNvPr id="13" name="Card"/>
          <p:cNvSpPr/>
          <p:nvPr/>
        </p:nvSpPr>
        <p:spPr>
          <a:xfrm>
            <a:off x="6693408" y="1463040"/>
            <a:ext cx="1865376" cy="237744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22008" y="16459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CB1C14"/>
                </a:solidFill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8" y="228600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Pub / Sub</a:t>
            </a:r>
          </a:p>
          <a:p>
            <a:pPr algn="l"/>
            <a:r>
              <a:rPr sz="1800" b="1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2008" y="32918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B1C14"/>
                </a:solidFill>
              </a:rPr>
              <a:t>← 今回</a:t>
            </a:r>
          </a:p>
        </p:txBody>
      </p:sp>
      <p:sp>
        <p:nvSpPr>
          <p:cNvPr id="17" name="Card"/>
          <p:cNvSpPr/>
          <p:nvPr/>
        </p:nvSpPr>
        <p:spPr>
          <a:xfrm>
            <a:off x="8741664" y="1463040"/>
            <a:ext cx="1865376" cy="237744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70264" y="16459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CB1C14"/>
                </a:solidFill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0264" y="228600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</a:rPr>
              <a:t>Pub / Sub</a:t>
            </a:r>
          </a:p>
          <a:p>
            <a:pPr algn="l"/>
            <a:r>
              <a:rPr sz="1800" b="1">
                <a:solidFill>
                  <a:srgbClr val="1F1F1F"/>
                </a:solidFill>
              </a:rPr>
              <a:t>C++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F1F1F"/>
                </a:solidFill>
              </a:rPr>
              <a:t>内容は公式ドキュメント </a:t>
            </a:r>
            <a:r>
              <a:rPr sz="1800" b="1">
                <a:solidFill>
                  <a:srgbClr val="1F1F1F"/>
                </a:solidFill>
              </a:rPr>
              <a:t>ROS 2 Documentation: Jazzy</a:t>
            </a:r>
            <a:r>
              <a:rPr sz="1800" b="0">
                <a:solidFill>
                  <a:srgbClr val="1F1F1F"/>
                </a:solidFill>
              </a:rPr>
              <a:t>（docs.ros.org/en/jazzy/）に準拠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作るもの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04 Pub / Sub（Python）   3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Writing a simple publisher and subscriber (Python)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548640" y="1325880"/>
            <a:ext cx="51206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>
                <a:solidFill>
                  <a:srgbClr val="1F1F1F"/>
                </a:solidFill>
              </a:rPr>
              <a:t>・</a:t>
            </a:r>
            <a:r>
              <a:rPr sz="2100" b="0">
                <a:solidFill>
                  <a:srgbClr val="1F1F1F"/>
                </a:solidFill>
              </a:rPr>
              <a:t>トピックで文字列をやり取りする2つのノード</a:t>
            </a:r>
          </a:p>
          <a:p>
            <a:pPr>
              <a:spcBef>
                <a:spcPts val="1400"/>
              </a:spcBef>
            </a:pPr>
            <a:r>
              <a:rPr sz="2100">
                <a:solidFill>
                  <a:srgbClr val="1F1F1F"/>
                </a:solidFill>
              </a:rPr>
              <a:t>・</a:t>
            </a:r>
            <a:r>
              <a:rPr sz="2100" b="0">
                <a:solidFill>
                  <a:srgbClr val="1F1F1F"/>
                </a:solidFill>
              </a:rPr>
              <a:t>talker：データを送る</a:t>
            </a:r>
          </a:p>
          <a:p>
            <a:pPr>
              <a:spcBef>
                <a:spcPts val="1400"/>
              </a:spcBef>
            </a:pPr>
            <a:r>
              <a:rPr sz="2100">
                <a:solidFill>
                  <a:srgbClr val="1F1F1F"/>
                </a:solidFill>
              </a:rPr>
              <a:t>・</a:t>
            </a:r>
            <a:r>
              <a:rPr sz="2100" b="0">
                <a:solidFill>
                  <a:srgbClr val="1F1F1F"/>
                </a:solidFill>
              </a:rPr>
              <a:t>listener：トピックを購読して受け取る</a:t>
            </a:r>
          </a:p>
          <a:p>
            <a:pPr>
              <a:spcBef>
                <a:spcPts val="1400"/>
              </a:spcBef>
            </a:pPr>
            <a:r>
              <a:rPr sz="2100">
                <a:solidFill>
                  <a:srgbClr val="1F1F1F"/>
                </a:solidFill>
              </a:rPr>
              <a:t>・</a:t>
            </a:r>
            <a:r>
              <a:rPr sz="2100" b="0">
                <a:solidFill>
                  <a:srgbClr val="1F1F1F"/>
                </a:solidFill>
              </a:rPr>
              <a:t>ワークスペースとパッケージの作り方は前回までの資料のとおり</a:t>
            </a:r>
          </a:p>
          <a:p>
            <a:r>
              <a:rPr sz="1800">
                <a:solidFill>
                  <a:srgbClr val="404040"/>
                </a:solidFill>
              </a:rPr>
              <a:t>　→ </a:t>
            </a:r>
            <a:r>
              <a:rPr sz="1800" b="0">
                <a:solidFill>
                  <a:srgbClr val="404040"/>
                </a:solidFill>
              </a:rPr>
              <a:t>Python の基本がわかるとよい</a:t>
            </a:r>
          </a:p>
        </p:txBody>
      </p:sp>
      <p:sp>
        <p:nvSpPr>
          <p:cNvPr id="6" name="Node"/>
          <p:cNvSpPr/>
          <p:nvPr/>
        </p:nvSpPr>
        <p:spPr>
          <a:xfrm>
            <a:off x="6675120" y="1463040"/>
            <a:ext cx="4023360" cy="109728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463040"/>
            <a:ext cx="40233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1F1F1F"/>
                </a:solidFill>
                <a:latin typeface="Consolas"/>
              </a:rPr>
              <a:t>talker</a:t>
            </a:r>
          </a:p>
          <a:p>
            <a:pPr algn="ctr"/>
            <a:r>
              <a:rPr sz="1500" b="0">
                <a:solidFill>
                  <a:srgbClr val="404040"/>
                </a:solidFill>
                <a:latin typeface="Consolas"/>
              </a:rPr>
              <a:t>minimal_publisher</a:t>
            </a:r>
          </a:p>
        </p:txBody>
      </p:sp>
      <p:sp>
        <p:nvSpPr>
          <p:cNvPr id="8" name="Node"/>
          <p:cNvSpPr/>
          <p:nvPr/>
        </p:nvSpPr>
        <p:spPr>
          <a:xfrm>
            <a:off x="6675120" y="3840480"/>
            <a:ext cx="4023360" cy="109728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840480"/>
            <a:ext cx="40233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1F1F1F"/>
                </a:solidFill>
                <a:latin typeface="Consolas"/>
              </a:rPr>
              <a:t>listener</a:t>
            </a:r>
          </a:p>
          <a:p>
            <a:pPr algn="ctr"/>
            <a:r>
              <a:rPr sz="1500" b="0">
                <a:solidFill>
                  <a:srgbClr val="404040"/>
                </a:solidFill>
                <a:latin typeface="Consolas"/>
              </a:rPr>
              <a:t>minimal_subscriber</a:t>
            </a:r>
          </a:p>
        </p:txBody>
      </p:sp>
      <p:sp>
        <p:nvSpPr>
          <p:cNvPr id="10" name="Arrow"/>
          <p:cNvSpPr/>
          <p:nvPr/>
        </p:nvSpPr>
        <p:spPr>
          <a:xfrm>
            <a:off x="8458200" y="2651760"/>
            <a:ext cx="457200" cy="1097280"/>
          </a:xfrm>
          <a:prstGeom prst="downArrow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278892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CB1C14"/>
                </a:solidFill>
                <a:latin typeface="Consolas"/>
              </a:rPr>
              <a:t>topic</a:t>
            </a:r>
          </a:p>
          <a:p>
            <a:pPr algn="l"/>
            <a:r>
              <a:rPr sz="1500" b="0">
                <a:solidFill>
                  <a:srgbClr val="1F1F1F"/>
                </a:solidFill>
              </a:rPr>
              <a:t>String 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手順1　パッケージを作る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04 Pub / Sub（Python）   4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Writing a simple publisher and subscriber (Python)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F1F1F"/>
                </a:solidFill>
              </a:rPr>
              <a:t>新しいターミナルで ROS 2 を読み込み、src で実行（ワークスペース直下ではない）</a:t>
            </a:r>
          </a:p>
        </p:txBody>
      </p:sp>
      <p:sp>
        <p:nvSpPr>
          <p:cNvPr id="6" name="Console"/>
          <p:cNvSpPr/>
          <p:nvPr/>
        </p:nvSpPr>
        <p:spPr>
          <a:xfrm>
            <a:off x="548640" y="1828800"/>
            <a:ext cx="10058400" cy="137160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sole text"/>
          <p:cNvSpPr txBox="1"/>
          <p:nvPr/>
        </p:nvSpPr>
        <p:spPr>
          <a:xfrm>
            <a:off x="822959" y="2011680"/>
            <a:ext cx="9509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8FD17F"/>
                </a:solidFill>
                <a:latin typeface="Consolas"/>
              </a:rPr>
              <a:t>$ </a:t>
            </a:r>
            <a:r>
              <a:rPr sz="2000" b="0">
                <a:solidFill>
                  <a:srgbClr val="FFFFFF"/>
                </a:solidFill>
                <a:latin typeface="Consolas"/>
              </a:rPr>
              <a:t>cd ~/ros2_ws/src</a:t>
            </a:r>
          </a:p>
          <a:p>
            <a:pPr algn="l"/>
            <a:r>
              <a:rPr sz="2000" b="0">
                <a:solidFill>
                  <a:srgbClr val="8FD17F"/>
                </a:solidFill>
                <a:latin typeface="Consolas"/>
              </a:rPr>
              <a:t>$ </a:t>
            </a:r>
            <a:r>
              <a:rPr sz="2000" b="0">
                <a:solidFill>
                  <a:srgbClr val="FFFFFF"/>
                </a:solidFill>
                <a:latin typeface="Consolas"/>
              </a:rPr>
              <a:t>ros2 pkg create --build-type ament_python \</a:t>
            </a:r>
          </a:p>
          <a:p>
            <a:pPr algn="l"/>
            <a:r>
              <a:rPr sz="2000" b="0">
                <a:solidFill>
                  <a:srgbClr val="B5B5B5"/>
                </a:solidFill>
                <a:latin typeface="Consolas"/>
              </a:rPr>
              <a:t>    --license Apache-2.0 py_pubsub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手順2　Publisher のコードを用意する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04 Pub / Sub（Python）   5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Writing a simple publisher and subscriber (Python)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F1F1F"/>
                </a:solidFill>
              </a:rPr>
              <a:t>パッケージと同じ名前の Python パッケージのフォルダに移動し、サンプルを取得</a:t>
            </a:r>
          </a:p>
        </p:txBody>
      </p:sp>
      <p:sp>
        <p:nvSpPr>
          <p:cNvPr id="6" name="Console"/>
          <p:cNvSpPr/>
          <p:nvPr/>
        </p:nvSpPr>
        <p:spPr>
          <a:xfrm>
            <a:off x="548640" y="1828800"/>
            <a:ext cx="10058400" cy="173736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sole text"/>
          <p:cNvSpPr txBox="1"/>
          <p:nvPr/>
        </p:nvSpPr>
        <p:spPr>
          <a:xfrm>
            <a:off x="822959" y="2011680"/>
            <a:ext cx="9509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8FD17F"/>
                </a:solidFill>
                <a:latin typeface="Consolas"/>
              </a:rPr>
              <a:t>$ </a:t>
            </a:r>
            <a:r>
              <a:rPr sz="1600" b="0">
                <a:solidFill>
                  <a:srgbClr val="FFFFFF"/>
                </a:solidFill>
                <a:latin typeface="Consolas"/>
              </a:rPr>
              <a:t>cd ~/ros2_ws/src/py_pubsub/py_pubsub</a:t>
            </a:r>
          </a:p>
          <a:p>
            <a:pPr algn="l"/>
            <a:r>
              <a:rPr sz="1600" b="0">
                <a:solidFill>
                  <a:srgbClr val="8FD17F"/>
                </a:solidFill>
                <a:latin typeface="Consolas"/>
              </a:rPr>
              <a:t>$ </a:t>
            </a:r>
            <a:r>
              <a:rPr sz="1600" b="0">
                <a:solidFill>
                  <a:srgbClr val="FFFFFF"/>
                </a:solidFill>
                <a:latin typeface="Consolas"/>
              </a:rPr>
              <a:t>wget https://raw.githubusercontent.com/ros2/\</a:t>
            </a:r>
          </a:p>
          <a:p>
            <a:pPr algn="l"/>
            <a:r>
              <a:rPr sz="1600" b="0">
                <a:solidFill>
                  <a:srgbClr val="B5B5B5"/>
                </a:solidFill>
                <a:latin typeface="Consolas"/>
              </a:rPr>
              <a:t>examples/jazzy/rclpy/topics/minimal_publisher/\</a:t>
            </a:r>
          </a:p>
          <a:p>
            <a:pPr algn="l"/>
            <a:r>
              <a:rPr sz="1600" b="0">
                <a:solidFill>
                  <a:srgbClr val="B5B5B5"/>
                </a:solidFill>
                <a:latin typeface="Consolas"/>
              </a:rPr>
              <a:t>examples_rclpy_minimal_publisher/publisher_member_function.py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11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</a:rPr>
              <a:t>URL は1行で入力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1F1F"/>
                </a:solidFill>
              </a:rPr>
              <a:t>__init__.py の隣に publisher_member_function.py ができる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publisher_member_function.py（1/2）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04 Pub / Sub（Python）   6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Writing a simple publisher and subscriber (Python)</a:t>
            </a:r>
          </a:p>
        </p:txBody>
      </p:sp>
      <p:sp>
        <p:nvSpPr>
          <p:cNvPr id="5" name="Code"/>
          <p:cNvSpPr/>
          <p:nvPr/>
        </p:nvSpPr>
        <p:spPr>
          <a:xfrm>
            <a:off x="548640" y="1234440"/>
            <a:ext cx="10058400" cy="457200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de text"/>
          <p:cNvSpPr txBox="1"/>
          <p:nvPr/>
        </p:nvSpPr>
        <p:spPr>
          <a:xfrm>
            <a:off x="822959" y="1417320"/>
            <a:ext cx="950976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import rclpy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from rclpy.node import Node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from std_msgs.msg import String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class MinimalPublisher(Node):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   def __init__(self):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       super().__init__('minimal_publisher')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       self.publisher_ = self.create_publisher(String, 'topic', 10)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       timer_period = 0.5  # seconds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       self.timer = self.create_timer(timer_period, self.timer_callback)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       self.i = 0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   def timer_callback(self):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       msg = String()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       msg.data = 'Hello World: %d' % self.i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       self.publisher_.publish(msg)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       self.get_logger().info('Publishing: "%s"' % msg.data)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       self.i +=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publisher_member_function.py（2/2）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04 Pub / Sub（Python）   7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Writing a simple publisher and subscriber (Python)</a:t>
            </a:r>
          </a:p>
        </p:txBody>
      </p:sp>
      <p:sp>
        <p:nvSpPr>
          <p:cNvPr id="5" name="Code"/>
          <p:cNvSpPr/>
          <p:nvPr/>
        </p:nvSpPr>
        <p:spPr>
          <a:xfrm>
            <a:off x="548640" y="1234440"/>
            <a:ext cx="10058400" cy="402336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de text"/>
          <p:cNvSpPr txBox="1"/>
          <p:nvPr/>
        </p:nvSpPr>
        <p:spPr>
          <a:xfrm>
            <a:off x="822959" y="1417320"/>
            <a:ext cx="95097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def main(args=None):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    rclpy.init(args=args)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    minimal_publisher = MinimalPublisher()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    rclpy.spin(minimal_publisher)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/>
            <a:r>
              <a:rPr sz="1500" b="0">
                <a:solidFill>
                  <a:srgbClr val="8FD17F"/>
                </a:solidFill>
                <a:latin typeface="Consolas"/>
              </a:rPr>
              <a:t>    # Destroy the node explicitly</a:t>
            </a:r>
          </a:p>
          <a:p>
            <a:pPr algn="l"/>
            <a:r>
              <a:rPr sz="1500" b="0">
                <a:solidFill>
                  <a:srgbClr val="8FD17F"/>
                </a:solidFill>
                <a:latin typeface="Consolas"/>
              </a:rPr>
              <a:t>    # (optional - otherwise it will be done automatically</a:t>
            </a:r>
          </a:p>
          <a:p>
            <a:pPr algn="l"/>
            <a:r>
              <a:rPr sz="1500" b="0">
                <a:solidFill>
                  <a:srgbClr val="8FD17F"/>
                </a:solidFill>
                <a:latin typeface="Consolas"/>
              </a:rPr>
              <a:t>    # when the garbage collector destroys the node object)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    minimal_publisher.destroy_node()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    rclpy.shutdown()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if __name__ == '__main__':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    main()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コードを読む：import とクラス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04 Pub / Sub（Python）   8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Writing a simple publisher and subscriber (Python)</a:t>
            </a:r>
          </a:p>
        </p:txBody>
      </p:sp>
      <p:sp>
        <p:nvSpPr>
          <p:cNvPr id="5" name="Code"/>
          <p:cNvSpPr/>
          <p:nvPr/>
        </p:nvSpPr>
        <p:spPr>
          <a:xfrm>
            <a:off x="548640" y="1325880"/>
            <a:ext cx="5486400" cy="146304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de text"/>
          <p:cNvSpPr txBox="1"/>
          <p:nvPr/>
        </p:nvSpPr>
        <p:spPr>
          <a:xfrm>
            <a:off x="822959" y="150876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import rclpy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from rclpy.node import Node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from std_msgs.msg import String</a:t>
            </a:r>
          </a:p>
        </p:txBody>
      </p:sp>
      <p:sp>
        <p:nvSpPr>
          <p:cNvPr id="7" name="Code"/>
          <p:cNvSpPr/>
          <p:nvPr/>
        </p:nvSpPr>
        <p:spPr>
          <a:xfrm>
            <a:off x="548640" y="3017520"/>
            <a:ext cx="5486400" cy="59436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de text"/>
          <p:cNvSpPr txBox="1"/>
          <p:nvPr/>
        </p:nvSpPr>
        <p:spPr>
          <a:xfrm>
            <a:off x="822959" y="320040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class MinimalPublisher(Node):</a:t>
            </a:r>
          </a:p>
        </p:txBody>
      </p:sp>
      <p:sp>
        <p:nvSpPr>
          <p:cNvPr id="9" name="Bullets"/>
          <p:cNvSpPr txBox="1"/>
          <p:nvPr/>
        </p:nvSpPr>
        <p:spPr>
          <a:xfrm>
            <a:off x="6309360" y="1325880"/>
            <a:ext cx="44805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>
                <a:solidFill>
                  <a:srgbClr val="1F1F1F"/>
                </a:solidFill>
              </a:rPr>
              <a:t>・</a:t>
            </a:r>
            <a:r>
              <a:rPr sz="1900" b="0">
                <a:solidFill>
                  <a:srgbClr val="1F1F1F"/>
                </a:solidFill>
              </a:rPr>
              <a:t>rclpy の Node クラスを使えるようにする</a:t>
            </a:r>
          </a:p>
          <a:p>
            <a:pPr>
              <a:spcBef>
                <a:spcPts val="1200"/>
              </a:spcBef>
            </a:pPr>
            <a:r>
              <a:rPr sz="1900">
                <a:solidFill>
                  <a:srgbClr val="1F1F1F"/>
                </a:solidFill>
              </a:rPr>
              <a:t>・</a:t>
            </a:r>
            <a:r>
              <a:rPr sz="1900" b="0">
                <a:solidFill>
                  <a:srgbClr val="1F1F1F"/>
                </a:solidFill>
              </a:rPr>
              <a:t>トピックで送るデータの形として、標準の String 型を読み込む</a:t>
            </a:r>
          </a:p>
          <a:p>
            <a:pPr>
              <a:spcBef>
                <a:spcPts val="1200"/>
              </a:spcBef>
            </a:pPr>
            <a:r>
              <a:rPr sz="1900">
                <a:solidFill>
                  <a:srgbClr val="1F1F1F"/>
                </a:solidFill>
              </a:rPr>
              <a:t>・</a:t>
            </a:r>
            <a:r>
              <a:rPr sz="1900" b="0">
                <a:solidFill>
                  <a:srgbClr val="1F1F1F"/>
                </a:solidFill>
              </a:rPr>
              <a:t>この2つがノードの依存先</a:t>
            </a:r>
          </a:p>
          <a:p>
            <a:r>
              <a:rPr sz="1700">
                <a:solidFill>
                  <a:srgbClr val="404040"/>
                </a:solidFill>
              </a:rPr>
              <a:t>　→ </a:t>
            </a:r>
            <a:r>
              <a:rPr sz="1700" b="0">
                <a:solidFill>
                  <a:srgbClr val="404040"/>
                </a:solidFill>
              </a:rPr>
              <a:t>あとで package.xml に書く</a:t>
            </a:r>
          </a:p>
          <a:p>
            <a:pPr>
              <a:spcBef>
                <a:spcPts val="1200"/>
              </a:spcBef>
            </a:pPr>
            <a:r>
              <a:rPr sz="1900">
                <a:solidFill>
                  <a:srgbClr val="1F1F1F"/>
                </a:solidFill>
              </a:rPr>
              <a:t>・</a:t>
            </a:r>
            <a:r>
              <a:rPr sz="1900" b="0">
                <a:solidFill>
                  <a:srgbClr val="1F1F1F"/>
                </a:solidFill>
              </a:rPr>
              <a:t>MinimalPublisher は Node を継承したクラス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コードを読む：コンストラクタ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04 Pub / Sub（Python）   9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Writing a simple publisher and subscriber (Python)</a:t>
            </a:r>
          </a:p>
        </p:txBody>
      </p:sp>
      <p:sp>
        <p:nvSpPr>
          <p:cNvPr id="5" name="Code"/>
          <p:cNvSpPr/>
          <p:nvPr/>
        </p:nvSpPr>
        <p:spPr>
          <a:xfrm>
            <a:off x="548640" y="1280160"/>
            <a:ext cx="10058400" cy="192024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de text"/>
          <p:cNvSpPr txBox="1"/>
          <p:nvPr/>
        </p:nvSpPr>
        <p:spPr>
          <a:xfrm>
            <a:off x="822959" y="1463039"/>
            <a:ext cx="95097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def __init__(self):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    super().__init__('minimal_publisher')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    self.publisher_ = self.create_publisher(String, 'topic', 10)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    timer_period = 0.5  # seconds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    self.timer = self.create_timer(timer_period, self.timer_callback)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    self.i = 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429000"/>
          <a:ext cx="10058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6949440"/>
              </a:tblGrid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1F1F"/>
                          </a:solidFill>
                          <a:latin typeface="Consolas"/>
                        </a:rPr>
                        <a:t>super().__init__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1F1F"/>
                          </a:solidFill>
                        </a:rPr>
                        <a:t>ノード名を minimal_publisher にする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1F1F"/>
                          </a:solidFill>
                          <a:latin typeface="Consolas"/>
                        </a:rPr>
                        <a:t>create_publisher</a:t>
                      </a:r>
                    </a:p>
                  </a:txBody>
                  <a:tcPr marL="109728" marR="109728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1F1F"/>
                          </a:solidFill>
                        </a:rPr>
                        <a:t>String 型を topic という名前のトピックに送る。10 はキューの大きさ</a:t>
                      </a:r>
                    </a:p>
                  </a:txBody>
                  <a:tcPr marL="109728" marR="109728" anchor="ctr">
                    <a:solidFill>
                      <a:srgbClr val="F3F3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1F1F"/>
                          </a:solidFill>
                          <a:latin typeface="Consolas"/>
                        </a:rPr>
                        <a:t>create_timer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1F1F"/>
                          </a:solidFill>
                        </a:rPr>
                        <a:t>0.5 秒ごとに timer_callback を呼ぶ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1F1F"/>
                          </a:solidFill>
                          <a:latin typeface="Consolas"/>
                        </a:rPr>
                        <a:t>self.i</a:t>
                      </a:r>
                    </a:p>
                  </a:txBody>
                  <a:tcPr marL="109728" marR="109728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1F1F"/>
                          </a:solidFill>
                        </a:rPr>
                        <a:t>コールバックで使うカウンタ</a:t>
                      </a:r>
                    </a:p>
                  </a:txBody>
                  <a:tcPr marL="109728" marR="109728" anchor="ctr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486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</a:rPr>
              <a:t>キューの大きさ：受け取りが追いつかないときにためておくメッセージ数の上限（QoS の設定、必須）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コードを読む：コールバックと main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04 Pub / Sub（Python）   10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Writing a simple publisher and subscriber (Python)</a:t>
            </a:r>
          </a:p>
        </p:txBody>
      </p:sp>
      <p:sp>
        <p:nvSpPr>
          <p:cNvPr id="5" name="Code"/>
          <p:cNvSpPr/>
          <p:nvPr/>
        </p:nvSpPr>
        <p:spPr>
          <a:xfrm>
            <a:off x="548640" y="1280160"/>
            <a:ext cx="4937760" cy="192024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de text"/>
          <p:cNvSpPr txBox="1"/>
          <p:nvPr/>
        </p:nvSpPr>
        <p:spPr>
          <a:xfrm>
            <a:off x="822959" y="1463039"/>
            <a:ext cx="43891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def timer_callback(self):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   msg = String()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   msg.data = 'Hello World: %d' % self.i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   self.publisher_.publish(msg)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   self.get_logger().info(...)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   self.i += 1</a:t>
            </a:r>
          </a:p>
        </p:txBody>
      </p:sp>
      <p:sp>
        <p:nvSpPr>
          <p:cNvPr id="7" name="Code"/>
          <p:cNvSpPr/>
          <p:nvPr/>
        </p:nvSpPr>
        <p:spPr>
          <a:xfrm>
            <a:off x="5669280" y="1280160"/>
            <a:ext cx="5120640" cy="192024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de text"/>
          <p:cNvSpPr txBox="1"/>
          <p:nvPr/>
        </p:nvSpPr>
        <p:spPr>
          <a:xfrm>
            <a:off x="5943600" y="1463039"/>
            <a:ext cx="45720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def main(args=None):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   rclpy.init(args=args)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   minimal_publisher = MinimalPublisher()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   rclpy.spin(minimal_publisher)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   ...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    rclpy.shutdown()</a:t>
            </a:r>
          </a:p>
        </p:txBody>
      </p:sp>
      <p:sp>
        <p:nvSpPr>
          <p:cNvPr id="9" name="Bullets"/>
          <p:cNvSpPr txBox="1"/>
          <p:nvPr/>
        </p:nvSpPr>
        <p:spPr>
          <a:xfrm>
            <a:off x="548640" y="3429000"/>
            <a:ext cx="51206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>
                <a:solidFill>
                  <a:srgbClr val="1F1F1F"/>
                </a:solidFill>
              </a:rPr>
              <a:t>・</a:t>
            </a:r>
            <a:r>
              <a:rPr sz="2000" b="0">
                <a:solidFill>
                  <a:srgbClr val="1F1F1F"/>
                </a:solidFill>
              </a:rPr>
              <a:t>timer_callback</a:t>
            </a:r>
          </a:p>
          <a:p>
            <a:r>
              <a:rPr sz="1700">
                <a:solidFill>
                  <a:srgbClr val="404040"/>
                </a:solidFill>
              </a:rPr>
              <a:t>　→ </a:t>
            </a:r>
            <a:r>
              <a:rPr sz="1700" b="0">
                <a:solidFill>
                  <a:srgbClr val="404040"/>
                </a:solidFill>
              </a:rPr>
              <a:t>カウンタの値を入れたメッセージを送る</a:t>
            </a:r>
          </a:p>
          <a:p>
            <a:r>
              <a:rPr sz="1700">
                <a:solidFill>
                  <a:srgbClr val="404040"/>
                </a:solidFill>
              </a:rPr>
              <a:t>　→ </a:t>
            </a:r>
            <a:r>
              <a:rPr sz="1700" b="0">
                <a:solidFill>
                  <a:srgbClr val="404040"/>
                </a:solidFill>
              </a:rPr>
              <a:t>送った内容をコンソールに表示</a:t>
            </a:r>
          </a:p>
        </p:txBody>
      </p:sp>
      <p:sp>
        <p:nvSpPr>
          <p:cNvPr id="10" name="Bullets"/>
          <p:cNvSpPr txBox="1"/>
          <p:nvPr/>
        </p:nvSpPr>
        <p:spPr>
          <a:xfrm>
            <a:off x="5852160" y="342900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>
                <a:solidFill>
                  <a:srgbClr val="1F1F1F"/>
                </a:solidFill>
              </a:rPr>
              <a:t>・</a:t>
            </a:r>
            <a:r>
              <a:rPr sz="2000" b="0">
                <a:solidFill>
                  <a:srgbClr val="1F1F1F"/>
                </a:solidFill>
              </a:rPr>
              <a:t>main</a:t>
            </a:r>
          </a:p>
          <a:p>
            <a:r>
              <a:rPr sz="1700">
                <a:solidFill>
                  <a:srgbClr val="404040"/>
                </a:solidFill>
              </a:rPr>
              <a:t>　→ </a:t>
            </a:r>
            <a:r>
              <a:rPr sz="1700" b="0">
                <a:solidFill>
                  <a:srgbClr val="404040"/>
                </a:solidFill>
              </a:rPr>
              <a:t>rclpy を初期化</a:t>
            </a:r>
          </a:p>
          <a:p>
            <a:r>
              <a:rPr sz="1700">
                <a:solidFill>
                  <a:srgbClr val="404040"/>
                </a:solidFill>
              </a:rPr>
              <a:t>　→ </a:t>
            </a:r>
            <a:r>
              <a:rPr sz="1700" b="0">
                <a:solidFill>
                  <a:srgbClr val="404040"/>
                </a:solidFill>
              </a:rPr>
              <a:t>ノードを作る</a:t>
            </a:r>
          </a:p>
          <a:p>
            <a:r>
              <a:rPr sz="1700">
                <a:solidFill>
                  <a:srgbClr val="404040"/>
                </a:solidFill>
              </a:rPr>
              <a:t>　→ </a:t>
            </a:r>
            <a:r>
              <a:rPr sz="1700" b="0">
                <a:solidFill>
                  <a:srgbClr val="404040"/>
                </a:solidFill>
              </a:rPr>
              <a:t>spin() でコールバックが呼ばれ続ける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手順2.2　package.xml に依存先を書く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04 Pub / Sub（Python）   11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Writing a simple publisher and subscriber (Python)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F1F1F"/>
                </a:solidFill>
              </a:rPr>
              <a:t>ros2_ws/src/py_pubsub/package.xml を開き、まず説明・作成者・ライセンスを書く</a:t>
            </a:r>
          </a:p>
        </p:txBody>
      </p:sp>
      <p:sp>
        <p:nvSpPr>
          <p:cNvPr id="6" name="Code"/>
          <p:cNvSpPr/>
          <p:nvPr/>
        </p:nvSpPr>
        <p:spPr>
          <a:xfrm>
            <a:off x="548640" y="1737360"/>
            <a:ext cx="10058400" cy="118872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de text"/>
          <p:cNvSpPr txBox="1"/>
          <p:nvPr/>
        </p:nvSpPr>
        <p:spPr>
          <a:xfrm>
            <a:off x="822959" y="1920240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&lt;description&gt;Examples of minimal publisher/subscriber using rclpy&lt;/description&gt;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&lt;maintainer email="you@email.com"&gt;Your Name&lt;/maintainer&gt;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&lt;license&gt;Apache-2.0&lt;/license&gt;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F1F1F"/>
                </a:solidFill>
              </a:rPr>
              <a:t>その下に、import に対応する依存先を追加</a:t>
            </a:r>
          </a:p>
        </p:txBody>
      </p:sp>
      <p:sp>
        <p:nvSpPr>
          <p:cNvPr id="9" name="Code"/>
          <p:cNvSpPr/>
          <p:nvPr/>
        </p:nvSpPr>
        <p:spPr>
          <a:xfrm>
            <a:off x="548640" y="3657600"/>
            <a:ext cx="10058400" cy="91440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de text"/>
          <p:cNvSpPr txBox="1"/>
          <p:nvPr/>
        </p:nvSpPr>
        <p:spPr>
          <a:xfrm>
            <a:off x="822959" y="3840480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onsolas"/>
              </a:rPr>
              <a:t>&lt;exec_depend&gt;rclpy&lt;/exec_depend&gt;</a:t>
            </a:r>
          </a:p>
          <a:p>
            <a:pPr algn="l"/>
            <a:r>
              <a:rPr sz="1900" b="0">
                <a:solidFill>
                  <a:srgbClr val="FFFFFF"/>
                </a:solidFill>
                <a:latin typeface="Consolas"/>
              </a:rPr>
              <a:t>&lt;exec_depend&gt;std_msgs&lt;/exec_depend&gt;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09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04040"/>
                </a:solidFill>
              </a:rPr>
              <a:t>実行時に rclpy と std_msgs が必要、という意味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手順2.3　setup.py を編集する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04 Pub / Sub（Python）   12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Writing a simple publisher and subscriber (Python)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F1F1F"/>
                </a:solidFill>
              </a:rPr>
              <a:t>作成者などの項目を package.xml と同じにする</a:t>
            </a:r>
          </a:p>
        </p:txBody>
      </p:sp>
      <p:sp>
        <p:nvSpPr>
          <p:cNvPr id="6" name="Code"/>
          <p:cNvSpPr/>
          <p:nvPr/>
        </p:nvSpPr>
        <p:spPr>
          <a:xfrm>
            <a:off x="548640" y="1737360"/>
            <a:ext cx="10058400" cy="137160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de text"/>
          <p:cNvSpPr txBox="1"/>
          <p:nvPr/>
        </p:nvSpPr>
        <p:spPr>
          <a:xfrm>
            <a:off x="822959" y="1920240"/>
            <a:ext cx="9509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maintainer='YourName',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maintainer_email='you@email.com',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description='Examples of minimal publisher/subscriber using rclpy',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license='Apache-2.0',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37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F1F1F"/>
                </a:solidFill>
              </a:rPr>
              <a:t>entry_points の console_scripts に1行追加</a:t>
            </a:r>
          </a:p>
        </p:txBody>
      </p:sp>
      <p:sp>
        <p:nvSpPr>
          <p:cNvPr id="9" name="Code"/>
          <p:cNvSpPr/>
          <p:nvPr/>
        </p:nvSpPr>
        <p:spPr>
          <a:xfrm>
            <a:off x="548640" y="3794760"/>
            <a:ext cx="10058400" cy="150876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de text"/>
          <p:cNvSpPr txBox="1"/>
          <p:nvPr/>
        </p:nvSpPr>
        <p:spPr>
          <a:xfrm>
            <a:off x="822959" y="3977640"/>
            <a:ext cx="95097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entry_points={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        'console_scripts': [</a:t>
            </a:r>
          </a:p>
          <a:p>
            <a:pPr algn="l"/>
            <a:r>
              <a:rPr sz="1600" b="0">
                <a:solidFill>
                  <a:srgbClr val="E6C07B"/>
                </a:solidFill>
                <a:latin typeface="Consolas"/>
              </a:rPr>
              <a:t>                'talker = py_pubsub.publisher_member_function:main',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        ],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},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手順2.4　setup.cfg を確認する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04 Pub / Sub（Python）   13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Writing a simple publisher and subscriber (Python)</a:t>
            </a:r>
          </a:p>
        </p:txBody>
      </p:sp>
      <p:sp>
        <p:nvSpPr>
          <p:cNvPr id="5" name="Code"/>
          <p:cNvSpPr/>
          <p:nvPr/>
        </p:nvSpPr>
        <p:spPr>
          <a:xfrm>
            <a:off x="548640" y="1371600"/>
            <a:ext cx="5669280" cy="164592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de text"/>
          <p:cNvSpPr txBox="1"/>
          <p:nvPr/>
        </p:nvSpPr>
        <p:spPr>
          <a:xfrm>
            <a:off x="822959" y="1554480"/>
            <a:ext cx="5120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[develop]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script_dir=$base/lib/py_pubsub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[install]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install_scripts=$base/lib/py_pubsub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548640" y="3291840"/>
            <a:ext cx="100584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>
                <a:solidFill>
                  <a:srgbClr val="1F1F1F"/>
                </a:solidFill>
              </a:rPr>
              <a:t>・</a:t>
            </a:r>
            <a:r>
              <a:rPr sz="2200" b="0">
                <a:solidFill>
                  <a:srgbClr val="1F1F1F"/>
                </a:solidFill>
              </a:rPr>
              <a:t>自動でこの内容になっているはず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1F1F1F"/>
                </a:solidFill>
              </a:rPr>
              <a:t>・</a:t>
            </a:r>
            <a:r>
              <a:rPr sz="2200" b="0">
                <a:solidFill>
                  <a:srgbClr val="1F1F1F"/>
                </a:solidFill>
              </a:rPr>
              <a:t>実行ファイルを lib に置くための設定</a:t>
            </a:r>
          </a:p>
          <a:p>
            <a:r>
              <a:rPr sz="1900">
                <a:solidFill>
                  <a:srgbClr val="404040"/>
                </a:solidFill>
              </a:rPr>
              <a:t>　→ </a:t>
            </a:r>
            <a:r>
              <a:rPr sz="1900" b="0">
                <a:solidFill>
                  <a:srgbClr val="404040"/>
                </a:solidFill>
              </a:rPr>
              <a:t>ros2 run はここから実行ファイルを探す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手順3　Subscriber のコードを用意する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04 Pub / Sub（Python）   14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Writing a simple publisher and subscriber (Python)</a:t>
            </a:r>
          </a:p>
        </p:txBody>
      </p:sp>
      <p:sp>
        <p:nvSpPr>
          <p:cNvPr id="5" name="Console"/>
          <p:cNvSpPr/>
          <p:nvPr/>
        </p:nvSpPr>
        <p:spPr>
          <a:xfrm>
            <a:off x="548640" y="1325880"/>
            <a:ext cx="10058400" cy="173736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sole text"/>
          <p:cNvSpPr txBox="1"/>
          <p:nvPr/>
        </p:nvSpPr>
        <p:spPr>
          <a:xfrm>
            <a:off x="822959" y="1508760"/>
            <a:ext cx="9509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8FD17F"/>
                </a:solidFill>
                <a:latin typeface="Consolas"/>
              </a:rPr>
              <a:t>$ </a:t>
            </a:r>
            <a:r>
              <a:rPr sz="1600" b="0">
                <a:solidFill>
                  <a:srgbClr val="FFFFFF"/>
                </a:solidFill>
                <a:latin typeface="Consolas"/>
              </a:rPr>
              <a:t>cd ~/ros2_ws/src/py_pubsub/py_pubsub</a:t>
            </a:r>
          </a:p>
          <a:p>
            <a:pPr algn="l"/>
            <a:r>
              <a:rPr sz="1600" b="0">
                <a:solidFill>
                  <a:srgbClr val="8FD17F"/>
                </a:solidFill>
                <a:latin typeface="Consolas"/>
              </a:rPr>
              <a:t>$ </a:t>
            </a:r>
            <a:r>
              <a:rPr sz="1600" b="0">
                <a:solidFill>
                  <a:srgbClr val="FFFFFF"/>
                </a:solidFill>
                <a:latin typeface="Consolas"/>
              </a:rPr>
              <a:t>wget https://raw.githubusercontent.com/ros2/\</a:t>
            </a:r>
          </a:p>
          <a:p>
            <a:pPr algn="l"/>
            <a:r>
              <a:rPr sz="1600" b="0">
                <a:solidFill>
                  <a:srgbClr val="B5B5B5"/>
                </a:solidFill>
                <a:latin typeface="Consolas"/>
              </a:rPr>
              <a:t>examples/jazzy/rclpy/topics/minimal_subscriber/\</a:t>
            </a:r>
          </a:p>
          <a:p>
            <a:pPr algn="l"/>
            <a:r>
              <a:rPr sz="1600" b="0">
                <a:solidFill>
                  <a:srgbClr val="B5B5B5"/>
                </a:solidFill>
                <a:latin typeface="Consolas"/>
              </a:rPr>
              <a:t>examples_rclpy_minimal_subscriber/subscriber_member_function.py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</a:rPr>
              <a:t>URL は1行で入力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11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</a:rPr>
              <a:t>フォルダの中身</a:t>
            </a:r>
          </a:p>
        </p:txBody>
      </p:sp>
      <p:sp>
        <p:nvSpPr>
          <p:cNvPr id="9" name="Console"/>
          <p:cNvSpPr/>
          <p:nvPr/>
        </p:nvSpPr>
        <p:spPr>
          <a:xfrm>
            <a:off x="548640" y="4023360"/>
            <a:ext cx="10058400" cy="68580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sole text"/>
          <p:cNvSpPr txBox="1"/>
          <p:nvPr/>
        </p:nvSpPr>
        <p:spPr>
          <a:xfrm>
            <a:off x="822959" y="4206240"/>
            <a:ext cx="9509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5B5B5"/>
                </a:solidFill>
                <a:latin typeface="Consolas"/>
              </a:rPr>
              <a:t>__init__.py  publisher_member_function.py  subscriber_member_function.py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subscriber_member_function.py（1/2）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04 Pub / Sub（Python）   15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Writing a simple publisher and subscriber (Python)</a:t>
            </a:r>
          </a:p>
        </p:txBody>
      </p:sp>
      <p:sp>
        <p:nvSpPr>
          <p:cNvPr id="5" name="Code"/>
          <p:cNvSpPr/>
          <p:nvPr/>
        </p:nvSpPr>
        <p:spPr>
          <a:xfrm>
            <a:off x="548640" y="1234440"/>
            <a:ext cx="10058400" cy="457200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de text"/>
          <p:cNvSpPr txBox="1"/>
          <p:nvPr/>
        </p:nvSpPr>
        <p:spPr>
          <a:xfrm>
            <a:off x="822959" y="1417320"/>
            <a:ext cx="950976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import rclpy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from rclpy.node import Node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from std_msgs.msg import String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class MinimalSubscriber(Node):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  def __init__(self):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      super().__init__('minimal_subscriber')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      self.subscription = self.create_subscription(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          String,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          'topic',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          self.listener_callback,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          10)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      self.subscription  # prevent unused variable warning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  def listener_callback(self, msg):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        self.get_logger().info('I heard: "%s"' % msg.data)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subscriber_member_function.py（2/2）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04 Pub / Sub（Python）   16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Writing a simple publisher and subscriber (Python)</a:t>
            </a:r>
          </a:p>
        </p:txBody>
      </p:sp>
      <p:sp>
        <p:nvSpPr>
          <p:cNvPr id="5" name="Code"/>
          <p:cNvSpPr/>
          <p:nvPr/>
        </p:nvSpPr>
        <p:spPr>
          <a:xfrm>
            <a:off x="548640" y="1234440"/>
            <a:ext cx="10058400" cy="402336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de text"/>
          <p:cNvSpPr txBox="1"/>
          <p:nvPr/>
        </p:nvSpPr>
        <p:spPr>
          <a:xfrm>
            <a:off x="822959" y="1417320"/>
            <a:ext cx="95097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def main(args=None):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    rclpy.init(args=args)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    minimal_subscriber = MinimalSubscriber()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    rclpy.spin(minimal_subscriber)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/>
            <a:r>
              <a:rPr sz="1500" b="0">
                <a:solidFill>
                  <a:srgbClr val="8FD17F"/>
                </a:solidFill>
                <a:latin typeface="Consolas"/>
              </a:rPr>
              <a:t>    # Destroy the node explicitly</a:t>
            </a:r>
          </a:p>
          <a:p>
            <a:pPr algn="l"/>
            <a:r>
              <a:rPr sz="1500" b="0">
                <a:solidFill>
                  <a:srgbClr val="8FD17F"/>
                </a:solidFill>
                <a:latin typeface="Consolas"/>
              </a:rPr>
              <a:t>    # (optional - otherwise it will be done automatically</a:t>
            </a:r>
          </a:p>
          <a:p>
            <a:pPr algn="l"/>
            <a:r>
              <a:rPr sz="1500" b="0">
                <a:solidFill>
                  <a:srgbClr val="8FD17F"/>
                </a:solidFill>
                <a:latin typeface="Consolas"/>
              </a:rPr>
              <a:t>    # when the garbage collector destroys the node object)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    minimal_subscriber.destroy_node()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    rclpy.shutdown()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if __name__ == '__main__':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    main()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コードを読む：Subscriber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04 Pub / Sub（Python）   17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Writing a simple publisher and subscriber (Python)</a:t>
            </a:r>
          </a:p>
        </p:txBody>
      </p:sp>
      <p:sp>
        <p:nvSpPr>
          <p:cNvPr id="5" name="Code"/>
          <p:cNvSpPr/>
          <p:nvPr/>
        </p:nvSpPr>
        <p:spPr>
          <a:xfrm>
            <a:off x="548640" y="1280160"/>
            <a:ext cx="5852160" cy="173736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de text"/>
          <p:cNvSpPr txBox="1"/>
          <p:nvPr/>
        </p:nvSpPr>
        <p:spPr>
          <a:xfrm>
            <a:off x="822959" y="1463039"/>
            <a:ext cx="5303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self.subscription = self.create_subscription(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    String,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    'topic',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    self.listener_callback,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    10)</a:t>
            </a:r>
          </a:p>
        </p:txBody>
      </p:sp>
      <p:sp>
        <p:nvSpPr>
          <p:cNvPr id="7" name="Code"/>
          <p:cNvSpPr/>
          <p:nvPr/>
        </p:nvSpPr>
        <p:spPr>
          <a:xfrm>
            <a:off x="548640" y="3200400"/>
            <a:ext cx="5852160" cy="86868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de text"/>
          <p:cNvSpPr txBox="1"/>
          <p:nvPr/>
        </p:nvSpPr>
        <p:spPr>
          <a:xfrm>
            <a:off x="822959" y="3383280"/>
            <a:ext cx="5303520" cy="502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def listener_callback(self, msg):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    self.get_logger().info('I heard: "%s"' % msg.data)</a:t>
            </a:r>
          </a:p>
        </p:txBody>
      </p:sp>
      <p:sp>
        <p:nvSpPr>
          <p:cNvPr id="9" name="Bullets"/>
          <p:cNvSpPr txBox="1"/>
          <p:nvPr/>
        </p:nvSpPr>
        <p:spPr>
          <a:xfrm>
            <a:off x="6675120" y="1325880"/>
            <a:ext cx="41148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>
                <a:solidFill>
                  <a:srgbClr val="1F1F1F"/>
                </a:solidFill>
              </a:rPr>
              <a:t>・</a:t>
            </a:r>
            <a:r>
              <a:rPr sz="1700" b="0">
                <a:solidFill>
                  <a:srgbClr val="1F1F1F"/>
                </a:solidFill>
              </a:rPr>
              <a:t>Publisher とほぼ同じ形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1F1F1F"/>
                </a:solidFill>
              </a:rPr>
              <a:t>・</a:t>
            </a:r>
            <a:r>
              <a:rPr sz="1700" b="0">
                <a:solidFill>
                  <a:srgbClr val="1F1F1F"/>
                </a:solidFill>
              </a:rPr>
              <a:t>create_subscription は Publisher と同じ引数</a:t>
            </a:r>
          </a:p>
          <a:p>
            <a:r>
              <a:rPr sz="1500">
                <a:solidFill>
                  <a:srgbClr val="404040"/>
                </a:solidFill>
              </a:rPr>
              <a:t>　→ </a:t>
            </a:r>
            <a:r>
              <a:rPr sz="1500" b="0">
                <a:solidFill>
                  <a:srgbClr val="404040"/>
                </a:solidFill>
              </a:rPr>
              <a:t>トピック名と型が一致しないとつながらない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1F1F1F"/>
                </a:solidFill>
              </a:rPr>
              <a:t>・</a:t>
            </a:r>
            <a:r>
              <a:rPr sz="1700" b="0">
                <a:solidFill>
                  <a:srgbClr val="1F1F1F"/>
                </a:solidFill>
              </a:rPr>
              <a:t>タイマーは使わない</a:t>
            </a:r>
          </a:p>
          <a:p>
            <a:r>
              <a:rPr sz="1500">
                <a:solidFill>
                  <a:srgbClr val="404040"/>
                </a:solidFill>
              </a:rPr>
              <a:t>　→ </a:t>
            </a:r>
            <a:r>
              <a:rPr sz="1500" b="0">
                <a:solidFill>
                  <a:srgbClr val="404040"/>
                </a:solidFill>
              </a:rPr>
              <a:t>メッセージが届くとすぐコールバックが呼ばれる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1F1F1F"/>
                </a:solidFill>
              </a:rPr>
              <a:t>・</a:t>
            </a:r>
            <a:r>
              <a:rPr sz="1700" b="0">
                <a:solidFill>
                  <a:srgbClr val="1F1F1F"/>
                </a:solidFill>
              </a:rPr>
              <a:t>依存先は同じなので、package.xml・setup.cfg はそのまま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手順3.2　エントリポイントを追加する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04 Pub / Sub（Python）   18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Writing a simple publisher and subscriber (Python)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F1F1F"/>
                </a:solidFill>
              </a:rPr>
              <a:t>setup.py の talker の下に listener を追加</a:t>
            </a:r>
          </a:p>
        </p:txBody>
      </p:sp>
      <p:sp>
        <p:nvSpPr>
          <p:cNvPr id="6" name="Code"/>
          <p:cNvSpPr/>
          <p:nvPr/>
        </p:nvSpPr>
        <p:spPr>
          <a:xfrm>
            <a:off x="548640" y="1828800"/>
            <a:ext cx="10058400" cy="192024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de text"/>
          <p:cNvSpPr txBox="1"/>
          <p:nvPr/>
        </p:nvSpPr>
        <p:spPr>
          <a:xfrm>
            <a:off x="822959" y="2011680"/>
            <a:ext cx="95097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entry_points={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        'console_scripts': [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                'talker = py_pubsub.publisher_member_function:main',</a:t>
            </a:r>
          </a:p>
          <a:p>
            <a:pPr algn="l"/>
            <a:r>
              <a:rPr sz="1600" b="0">
                <a:solidFill>
                  <a:srgbClr val="E6C07B"/>
                </a:solidFill>
                <a:latin typeface="Consolas"/>
              </a:rPr>
              <a:t>                'listener = py_pubsub.subscriber_member_function:main',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        ],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},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233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1F1F"/>
                </a:solidFill>
              </a:rPr>
              <a:t>保存すれば準備完了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手順4　ビルドする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04 Pub / Sub（Python）   19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Writing a simple publisher and subscriber (Python)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F1F1F"/>
                </a:solidFill>
              </a:rPr>
              <a:t>ワークスペースの直下（ros2_ws）で、作ったパッケージをビルド</a:t>
            </a:r>
          </a:p>
        </p:txBody>
      </p:sp>
      <p:sp>
        <p:nvSpPr>
          <p:cNvPr id="6" name="Console"/>
          <p:cNvSpPr/>
          <p:nvPr/>
        </p:nvSpPr>
        <p:spPr>
          <a:xfrm>
            <a:off x="548640" y="1828800"/>
            <a:ext cx="10058400" cy="68580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sole text"/>
          <p:cNvSpPr txBox="1"/>
          <p:nvPr/>
        </p:nvSpPr>
        <p:spPr>
          <a:xfrm>
            <a:off x="822959" y="2011680"/>
            <a:ext cx="9509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8FD17F"/>
                </a:solidFill>
                <a:latin typeface="Consolas"/>
              </a:rPr>
              <a:t>$ </a:t>
            </a:r>
            <a:r>
              <a:rPr sz="2100" b="0">
                <a:solidFill>
                  <a:srgbClr val="FFFFFF"/>
                </a:solidFill>
                <a:latin typeface="Consolas"/>
              </a:rPr>
              <a:t>cd ~/ros2_ws</a:t>
            </a:r>
          </a:p>
        </p:txBody>
      </p:sp>
      <p:sp>
        <p:nvSpPr>
          <p:cNvPr id="8" name="Console"/>
          <p:cNvSpPr/>
          <p:nvPr/>
        </p:nvSpPr>
        <p:spPr>
          <a:xfrm>
            <a:off x="548640" y="2743200"/>
            <a:ext cx="10058400" cy="68580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nsole text"/>
          <p:cNvSpPr txBox="1"/>
          <p:nvPr/>
        </p:nvSpPr>
        <p:spPr>
          <a:xfrm>
            <a:off x="822959" y="2926080"/>
            <a:ext cx="9509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8FD17F"/>
                </a:solidFill>
                <a:latin typeface="Consolas"/>
              </a:rPr>
              <a:t>$ </a:t>
            </a:r>
            <a:r>
              <a:rPr sz="2100" b="0">
                <a:solidFill>
                  <a:srgbClr val="FFFFFF"/>
                </a:solidFill>
                <a:latin typeface="Consolas"/>
              </a:rPr>
              <a:t>colcon build --packages-select py_pubsub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手順4　実行する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04 Pub / Sub（Python）   20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5943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出典：ROS 2 Documentation: Jazzy — Tutorials › Writing a simple publisher and subscriber (Python)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</a:rPr>
              <a:t>ターミナル 1：talker</a:t>
            </a:r>
          </a:p>
        </p:txBody>
      </p:sp>
      <p:sp>
        <p:nvSpPr>
          <p:cNvPr id="6" name="Console"/>
          <p:cNvSpPr/>
          <p:nvPr/>
        </p:nvSpPr>
        <p:spPr>
          <a:xfrm>
            <a:off x="548640" y="1645920"/>
            <a:ext cx="4937760" cy="301752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sole text"/>
          <p:cNvSpPr txBox="1"/>
          <p:nvPr/>
        </p:nvSpPr>
        <p:spPr>
          <a:xfrm>
            <a:off x="822959" y="1828800"/>
            <a:ext cx="438912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FD17F"/>
                </a:solidFill>
                <a:latin typeface="Consolas"/>
              </a:rPr>
              <a:t>$ </a:t>
            </a:r>
            <a:r>
              <a:rPr sz="1400" b="0">
                <a:solidFill>
                  <a:srgbClr val="FFFFFF"/>
                </a:solidFill>
                <a:latin typeface="Consolas"/>
              </a:rPr>
              <a:t>cd ~/ros2_ws</a:t>
            </a:r>
          </a:p>
          <a:p>
            <a:pPr algn="l"/>
            <a:r>
              <a:rPr sz="1400" b="0">
                <a:solidFill>
                  <a:srgbClr val="8FD17F"/>
                </a:solidFill>
                <a:latin typeface="Consolas"/>
              </a:rPr>
              <a:t>$ </a:t>
            </a:r>
            <a:r>
              <a:rPr sz="1400" b="0">
                <a:solidFill>
                  <a:srgbClr val="FFFFFF"/>
                </a:solidFill>
                <a:latin typeface="Consolas"/>
              </a:rPr>
              <a:t>source install/setup.bash</a:t>
            </a:r>
          </a:p>
          <a:p>
            <a:pPr algn="l"/>
            <a:r>
              <a:rPr sz="1400" b="0">
                <a:solidFill>
                  <a:srgbClr val="8FD17F"/>
                </a:solidFill>
                <a:latin typeface="Consolas"/>
              </a:rPr>
              <a:t>$ </a:t>
            </a:r>
            <a:r>
              <a:rPr sz="1400" b="0">
                <a:solidFill>
                  <a:srgbClr val="FFFFFF"/>
                </a:solidFill>
                <a:latin typeface="Consolas"/>
              </a:rPr>
              <a:t>ros2 run py_pubsub talker</a:t>
            </a:r>
          </a:p>
          <a:p>
            <a:pPr algn="l"/>
            <a:r>
              <a:rPr sz="1400" b="0">
                <a:solidFill>
                  <a:srgbClr val="B5B5B5"/>
                </a:solidFill>
                <a:latin typeface="Consolas"/>
              </a:rPr>
              <a:t>[INFO] [minimal_publisher]:</a:t>
            </a:r>
          </a:p>
          <a:p>
            <a:pPr algn="l"/>
            <a:r>
              <a:rPr sz="1400" b="0">
                <a:solidFill>
                  <a:srgbClr val="B5B5B5"/>
                </a:solidFill>
                <a:latin typeface="Consolas"/>
              </a:rPr>
              <a:t>  Publishing: "Hello World: 0"</a:t>
            </a:r>
          </a:p>
          <a:p>
            <a:pPr algn="l"/>
            <a:r>
              <a:rPr sz="1400" b="0">
                <a:solidFill>
                  <a:srgbClr val="B5B5B5"/>
                </a:solidFill>
                <a:latin typeface="Consolas"/>
              </a:rPr>
              <a:t>[INFO] [minimal_publisher]:</a:t>
            </a:r>
          </a:p>
          <a:p>
            <a:pPr algn="l"/>
            <a:r>
              <a:rPr sz="1400" b="0">
                <a:solidFill>
                  <a:srgbClr val="B5B5B5"/>
                </a:solidFill>
                <a:latin typeface="Consolas"/>
              </a:rPr>
              <a:t>  Publishing: "Hello World: 1"</a:t>
            </a:r>
          </a:p>
          <a:p>
            <a:pPr algn="l"/>
            <a:r>
              <a:rPr sz="1400" b="0">
                <a:solidFill>
                  <a:srgbClr val="B5B5B5"/>
                </a:solidFill>
                <a:latin typeface="Consolas"/>
              </a:rPr>
              <a:t>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234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1F1F"/>
                </a:solidFill>
              </a:rPr>
              <a:t>ターミナル 2：listener</a:t>
            </a:r>
          </a:p>
        </p:txBody>
      </p:sp>
      <p:sp>
        <p:nvSpPr>
          <p:cNvPr id="9" name="Console"/>
          <p:cNvSpPr/>
          <p:nvPr/>
        </p:nvSpPr>
        <p:spPr>
          <a:xfrm>
            <a:off x="5760720" y="1645920"/>
            <a:ext cx="4937760" cy="301752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sole text"/>
          <p:cNvSpPr txBox="1"/>
          <p:nvPr/>
        </p:nvSpPr>
        <p:spPr>
          <a:xfrm>
            <a:off x="6035040" y="1828800"/>
            <a:ext cx="438912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FD17F"/>
                </a:solidFill>
                <a:latin typeface="Consolas"/>
              </a:rPr>
              <a:t>$ </a:t>
            </a:r>
            <a:r>
              <a:rPr sz="1400" b="0">
                <a:solidFill>
                  <a:srgbClr val="FFFFFF"/>
                </a:solidFill>
                <a:latin typeface="Consolas"/>
              </a:rPr>
              <a:t>cd ~/ros2_ws</a:t>
            </a:r>
          </a:p>
          <a:p>
            <a:pPr algn="l"/>
            <a:r>
              <a:rPr sz="1400" b="0">
                <a:solidFill>
                  <a:srgbClr val="8FD17F"/>
                </a:solidFill>
                <a:latin typeface="Consolas"/>
              </a:rPr>
              <a:t>$ </a:t>
            </a:r>
            <a:r>
              <a:rPr sz="1400" b="0">
                <a:solidFill>
                  <a:srgbClr val="FFFFFF"/>
                </a:solidFill>
                <a:latin typeface="Consolas"/>
              </a:rPr>
              <a:t>source install/setup.bash</a:t>
            </a:r>
          </a:p>
          <a:p>
            <a:pPr algn="l"/>
            <a:r>
              <a:rPr sz="1400" b="0">
                <a:solidFill>
                  <a:srgbClr val="8FD17F"/>
                </a:solidFill>
                <a:latin typeface="Consolas"/>
              </a:rPr>
              <a:t>$ </a:t>
            </a:r>
            <a:r>
              <a:rPr sz="1400" b="0">
                <a:solidFill>
                  <a:srgbClr val="FFFFFF"/>
                </a:solidFill>
                <a:latin typeface="Consolas"/>
              </a:rPr>
              <a:t>ros2 run py_pubsub listener</a:t>
            </a:r>
          </a:p>
          <a:p>
            <a:pPr algn="l"/>
            <a:r>
              <a:rPr sz="1400" b="0">
                <a:solidFill>
                  <a:srgbClr val="B5B5B5"/>
                </a:solidFill>
                <a:latin typeface="Consolas"/>
              </a:rPr>
              <a:t>[INFO] [minimal_subscriber]:</a:t>
            </a:r>
          </a:p>
          <a:p>
            <a:pPr algn="l"/>
            <a:r>
              <a:rPr sz="1400" b="0">
                <a:solidFill>
                  <a:srgbClr val="B5B5B5"/>
                </a:solidFill>
                <a:latin typeface="Consolas"/>
              </a:rPr>
              <a:t>  I heard: "Hello World: 10"</a:t>
            </a:r>
          </a:p>
          <a:p>
            <a:pPr algn="l"/>
            <a:r>
              <a:rPr sz="1400" b="0">
                <a:solidFill>
                  <a:srgbClr val="B5B5B5"/>
                </a:solidFill>
                <a:latin typeface="Consolas"/>
              </a:rPr>
              <a:t>[INFO] [minimal_subscriber]:</a:t>
            </a:r>
          </a:p>
          <a:p>
            <a:pPr algn="l"/>
            <a:r>
              <a:rPr sz="1400" b="0">
                <a:solidFill>
                  <a:srgbClr val="B5B5B5"/>
                </a:solidFill>
                <a:latin typeface="Consolas"/>
              </a:rPr>
              <a:t>  I heard: "Hello World: 11"</a:t>
            </a:r>
          </a:p>
          <a:p>
            <a:pPr algn="l"/>
            <a:r>
              <a:rPr sz="1400" b="0">
                <a:solidFill>
                  <a:srgbClr val="B5B5B5"/>
                </a:solidFill>
                <a:latin typeface="Consolas"/>
              </a:rPr>
              <a:t>...</a:t>
            </a:r>
          </a:p>
        </p:txBody>
      </p:sp>
      <p:sp>
        <p:nvSpPr>
          <p:cNvPr id="11" name="Bullets"/>
          <p:cNvSpPr txBox="1"/>
          <p:nvPr/>
        </p:nvSpPr>
        <p:spPr>
          <a:xfrm>
            <a:off x="548640" y="484632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>
                <a:solidFill>
                  <a:srgbClr val="1F1F1F"/>
                </a:solidFill>
              </a:rPr>
              <a:t>・</a:t>
            </a:r>
            <a:r>
              <a:rPr sz="1700" b="0">
                <a:solidFill>
                  <a:srgbClr val="1F1F1F"/>
                </a:solidFill>
              </a:rPr>
              <a:t>talker は 0.5 秒ごとに送信。listener は起動した時点の番号から表示される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F1F1F"/>
                </a:solidFill>
              </a:rPr>
              <a:t>・</a:t>
            </a:r>
            <a:r>
              <a:rPr sz="1700" b="0">
                <a:solidFill>
                  <a:srgbClr val="1F1F1F"/>
                </a:solidFill>
              </a:rPr>
              <a:t>止めるときは、それぞれのターミナルで Ctrl + 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9509760" cy="822960"/>
          </a:xfrm>
        </p:spPr>
        <p:txBody>
          <a:bodyPr/>
          <a:lstStyle/>
          <a:p>
            <a:pPr algn="l"/>
            <a:r>
              <a:rPr sz="3000" b="0">
                <a:solidFill>
                  <a:srgbClr val="1F1F1F"/>
                </a:solidFill>
              </a:rPr>
              <a:t>参考：公式ドキュメント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1148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ROS 2 Jazzy 入門 04 Pub / Sub（Python）   21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548640" y="1325880"/>
            <a:ext cx="100584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>
                <a:solidFill>
                  <a:srgbClr val="1F1F1F"/>
                </a:solidFill>
              </a:rPr>
              <a:t>・</a:t>
            </a:r>
            <a:r>
              <a:rPr sz="2200" b="0">
                <a:solidFill>
                  <a:srgbClr val="1F1F1F"/>
                </a:solidFill>
              </a:rPr>
              <a:t>Writing a simple publisher and subscriber (Python)</a:t>
            </a:r>
          </a:p>
          <a:p>
            <a:r>
              <a:rPr sz="1800">
                <a:solidFill>
                  <a:srgbClr val="404040"/>
                </a:solidFill>
              </a:rPr>
              <a:t>　→ </a:t>
            </a:r>
            <a:r>
              <a:rPr sz="1400" b="0">
                <a:solidFill>
                  <a:srgbClr val="404040"/>
                </a:solidFill>
                <a:latin typeface="Consolas"/>
              </a:rPr>
              <a:t>docs.ros.org/en/jazzy/Tutorials/Beginner-Client-Libraries/Writing-A-Simple-Py-Publisher-And-Subscriber.html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1F1F1F"/>
                </a:solidFill>
              </a:rPr>
              <a:t>・</a:t>
            </a:r>
            <a:r>
              <a:rPr sz="2200" b="0">
                <a:solidFill>
                  <a:srgbClr val="1F1F1F"/>
                </a:solidFill>
              </a:rPr>
              <a:t>次の資料</a:t>
            </a:r>
          </a:p>
          <a:p>
            <a:r>
              <a:rPr sz="1800">
                <a:solidFill>
                  <a:srgbClr val="404040"/>
                </a:solidFill>
              </a:rPr>
              <a:t>　→ </a:t>
            </a:r>
            <a:r>
              <a:rPr sz="1800" b="0">
                <a:solidFill>
                  <a:srgbClr val="404040"/>
                </a:solidFill>
              </a:rPr>
              <a:t>05 Publisher / Subscriber（C++）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</a:rPr>
              <a:t>図・コードの出典：ROS 2 Documentation（CC BY 4.0）、ros2/examples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S PGothic"/>
        <a:ea typeface="MS PGothic"/>
        <a:cs typeface=""/>
        <a:font script="Jpan" typeface="MS PGothic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S PGothic"/>
        <a:ea typeface="MS PGothic"/>
        <a:cs typeface=""/>
        <a:font script="Jpan" typeface="MS P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プレゼンテーション1" id="{7531F1DA-E5ED-4977-9D2C-CB9870891181}" vid="{35052030-CB63-452C-8C6E-2B56BD0C9A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松枝 勇樹(rr0163fx)</dc:creator>
  <cp:lastModifiedBy>松枝 勇樹(rr0163fx)</cp:lastModifiedBy>
  <cp:revision>1</cp:revision>
  <dcterms:created xsi:type="dcterms:W3CDTF">2024-03-20T13:06:38Z</dcterms:created>
  <dcterms:modified xsi:type="dcterms:W3CDTF">2024-03-20T13:08:05Z</dcterms:modified>
</cp:coreProperties>
</file>